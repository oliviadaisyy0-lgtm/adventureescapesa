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10545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We are Rayan, Itumeleng and Asukia. Today we show the design of the Adventure Escape SA website and mobile app: why we chose the designs, the logo, the wireframes, and a demonstration.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chose Scenario 2, Adventure Escape SA, owned by Liam Daniels. The business offers guided outdoor adventures to families, teenagers, tourists, schools and companies, and it needs a website and a mobile app to advertise and take booking requests. Customers can see activities, compare prices, build a quote and get a discount when they pick more than one.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ideas guided our design. Navigation: five simple menu items so users do not have to think. Layout: the most important actions come first, like View Packages and Get Quote. Responsive design: card grids collapse to one column on phones. UI: buttons are large and consistent. Our colours are forest green for nature, burnt orange for excitement and action buttons, and sand beige for a calm outdoor feel.</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voted on three logo designs and chose the second one, Rayan's design. The first, black and white mountain logo looked good but was plain and did not show adventure. The third was too simple. The second uses forest green, burnt orange and sand beige. The orange sun and the dotted trail ring around the mountain match Explore, Discover, Thrive, and the logo is simple enough to work as a small app icon.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tools we used. Figma for the low fidelity wireframes of the website and the app. Visual Studio Code to write the code. GitHub for version control so everyone can review and track changes. Google Drive and Microsoft for shared notes and documents. HTML, CSS and JavaScript for the website, and React Native for the mobile app.</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wireframe is a simple plan of a page before we build it. We drew six website wireframes: Home, About Us, Overview, the package details page, Fees and Contact. They show where the menu, pictures, buttons and text go, and the final website follows them.</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Home page. At the top is the menu and the logo. The big banner shows the tagline and two buttons, View Packages and Get Quote, so a visitor knows what to do first. Below are the featured packages, each with a picture, the price and a View Detail button. We designed it to guide the eye to the key actions first. How it works: The visitor sees the banner and the featured packages. View Packages opens the Overview page and Get Quote opens the Fees page. View Detail on Mountain Adventure opens its details page. Any picture bounces when pressed (JavaScript).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About Us page tells customers who we are. Liam Daniels started the company because of his passion for outdoor adventure and eco-tourism. We also show our mission and photos of guests, so visitors trust us and see the experience before they book. How it works: The visitor reads the story of Liam Daniels and the mission. The menu at the top moves to any other page. Pictures bounce when pressed.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Overview page lists all packages and individual activities. The buttons at the top filter the list: All, Packages or Individual Activities. Each card shows a picture, the price, the rating and a View button. It lets customers compare everything on one page. How it works: Press Packages: only the packages show. Press Individual Activities: only the activities show. Press All: everything shows again. Press View on Mountain Adventure to open its details page.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details page for the Mountain Adventure Package. The customer sees the pictures and rating, then opens each section with the arrows. On the right is the booking box with the price per person, a date, Book Now and Add To Quote. Save takes a screenshot and Share sends the page to someone. How it works: Press an arrow: arrow down opens the section and shows the information, arrow up closes it. Choose a date and press Book Now: a booking message appears (it asks for a date first). Add To Quote saves the item for the Fees page. Save downloads a screenshot, Share sends the page link.</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Fees page the customer presses Add and the item goes straight into Your Selection. The subtotal, discount and total update every time. The discount is 5 percent for two bookings, 10 percent for three and 15 percent for more than three. The X removes an item, and Request Quote sends the quote request. How it works: Press + Add: the item goes straight into Your Selection. The subtotal, discount and total change every time. Press X to remove an item and the total updates again. Request Quote shows the quote message.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Contact page has a simple form. When the customer presses send they get a thank-you message with their name. On the right are the map and our business information: the address in Krugersdorp, the email, phone number and our hours from 07:00 to 19:00, every day. How it works: Fill in name, email, phone number, package and message. Press send: JavaScript checks the name and email. A thank-you message appears with the customer's name. Map and business information are shown on the right.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Find your next great escape screen of the mobile app. Logo, name and Cape Town, Western Cape. Photo and the tagline Find your next great escape. Explore adventures button and a Log in link. How it works: The screen appears when the app opens. Tap Explore adventures to go to Home. Tap Log in to go to the Login screen. We designed it this way because: A strong first impression with the brand colours. One clear button to start.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Outside is for everyone screen of the mobile app. Hero photo and the message Outside is for everyone. Buttons: Adventures and Get a quote. Note: fully guided, all fitness levels welcome, and popular adventure cards with prices. How it works: Tap Adventures to browse, or Get a quote to open the Quote screen. Tap a package card to see its details. The bottom menu switches between Home, Adventures, Quote and Account. We designed it this way because: Same main actions as the website Home page. Bottom menu: Home, Adventures, Quote, Account.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Sign in screen of the mobile app. Email and password fields, Forgot password link. Log in and Create an account buttons. Continue as guest, so no account is needed. How it works: Type the email and password, then tap Log in. Forgot password? and Create an account are for returning and new users. Continue as guest skips the login. We designed it this way because: Users can save quotes, but they are never forced to sign up. Short form with large fields for thumbs.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About us screen of the mobile app. Story of the company and Liam Daniels. Our Mission box, guidance (safety-certified) and who can join (all ages and fitness levels). Find your adventure button. How it works: Scroll to read the story and the mission. Tap Find your adventure to go to the adventures. We designed it this way because: Builds trust before the user books. Key facts in a small box that is easy to read.</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Payment screen of the mobile app. Sample quotation for two bookings: R3 000 less 5% (R150) = R2 850. Choose Card or Bank transfer. Fields for card details and a Pay button (sample only). How it works: Check the sample quotation and the 5% discount. Choose Card or Bank transfer. Fill in the card details and tap Pay (sample only, no real payment). We designed it this way because: Shows the discount clearly before paying. No real payment is taken in this demo.</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Reviews screen of the mobile app. Sample score of 5.0 out of 5 and demo reviews. Form to write a review: name, rating and experience. Submit review button. How it works: Read the demo reviews. Enter a name, a rating and the experience. Tap Submit review. We designed it this way because: Reviews help new customers trust the business. Marked as demo, because they are not real reviews.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Adventure overview screen of the mobile app. One adventure shown in detail: Ultimate Adventure Day, R1 500. What's included: guided hike, ziplining, kayaking and lunch. Add to quote button. How it works: Scroll to see what is included. Tap Add to quote to add the adventure to the quote. We designed it this way because: Picture first, then price and what is included. The main button stays at the bottom, easy to reach.</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Account screen of the mobile app. Guest explorer message and profile form (name, email, phone). Save profile button. Links: My bookings, Saved quotes and Settings, and Log in / Create account. How it works: A guest can log in or create an account. Fill in the profile and tap Save profile. Open My bookings, Saved quotes or Settings. We designed it this way because: All personal things in one place. Matches the Account button in the bottom menu.</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Quote screen of the mobile app. Name, email and phone number. Selected activities with prices, preferred date, group type and number of guests. Sample quotation with discount, and Request quotation button. How it works: Fill in name, email and phone number. Tick the activities, then choose the date, group type and guests. The sample quotation shows the subtotal and the discount. Tap Request quotation. We designed it this way because: Users can plan a group trip in one form. The discount updates with the number of bookings.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Map and directions screen of the mobile app. Map of the Cape Town, Western Cape area. Starting point and destination fields. Enquire about directions button. How it works: Type the starting point; the destination is Cape Town, Western Cape. Tap Enquire about directions to ask the team for help. We designed it this way because: Helps people plan how to get to the meeting point. The exact address is confirmed by the team.</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Fees screen of the mobile app. Adventure price list: packages R1 500, individual sessions R750 each. Book more, save more: 1 booking 0%, 2 bookings 5%, 3 bookings 10%, more than 3 bookings 15%. Build your quote button. How it works: Read the price list and the discount table. Tap Build your quote to go to the Quote screen. We designed it this way because: Clear pricing and the discount rules in one place. Same prices and rules as the website.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Contact us screen of the mobile app. Call, email, location and social media details. Send an enquiry form: name, email, enquiry type and message. Send enquiry button. How it works: Choose how to contact us: call, email or visit. Fill in the enquiry form and choose the enquiry type. Tap Send enquiry. We designed it this way because: Several ways to reach the business. Enquiry type helps the team reply faster.</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Adventures screen of the mobile app. List of all adventures with a picture, short description and price. Filters: All adventures, Packages and Sessions. Message: pick more than one adventure to unlock discounts. How it works: Tap All adventures, Packages or Sessions to filter. Tap a card to open its Overview screen. Picking more than one adventure unlocks a discount. We designed it this way because: Same as the website Overview page, but in one column for a phone. Tap a card to open the adventure.</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demonstration: show the Home page, then the Overview page and its filters, then the Mountain Adventure details page with the arrows, date, Book Now and Add To Quote, then the Fees page where we add items and watch the subtotal, discount and total change, and finally the Contact page.</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app in this order. Splash screen, then Home, then Adventures, then pick one adventure on the Overview screen and add it to the quote. The Quote screen shows the subtotal and the discount, for example two packages of R1 500 become R2 850 after 5 percent. Finally we show the sample Payment screen, Reviews, Map and Directions, and Account.</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member had their own tasks. Rayan researched the scenario, chose the best design and managed the project documents. Itumeleng took notes, researched navigation, layout, responsive and UI design, built the six mobile wireframes and chose the infrastructure. Asukia researched design ideas, provided the logo and colour palette, built the six website wireframes and managed the Figma link.</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watching and listening. We are happy to answer any questions about the website and mobile app designs.</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3EADB"/>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28600"/>
            <a:ext cx="6675120" cy="594360"/>
          </a:xfrm>
          <a:prstGeom prst="rect">
            <a:avLst/>
          </a:prstGeom>
          <a:noFill/>
          <a:ln/>
        </p:spPr>
        <p:txBody>
          <a:bodyPr wrap="square" rtlCol="0"/>
          <a:lstStyle>
            <a:lvl1pPr marL="0" indent="0">
              <a:buNone/>
              <a:defRPr lang="en-US" sz="2600" b="1" dirty="0">
                <a:solidFill>
                  <a:schemeClr val="tx2"/>
                </a:solidFill>
                <a:latin typeface="Georgia" pitchFamily="34" charset="0"/>
                <a:ea typeface="Georgia" pitchFamily="34" charset="-122"/>
                <a:cs typeface="Georgia" pitchFamily="34" charset="-120"/>
              </a:defRPr>
            </a:lvl1pPr>
          </a:lstStyle>
          <a:p>
            <a:pPr marL="0" indent="0">
              <a:buNone/>
            </a:pPr>
            <a:endParaRPr lang="en-US" sz="2600" dirty="0"/>
          </a:p>
        </p:txBody>
      </p:sp>
      <p:sp>
        <p:nvSpPr>
          <p:cNvPr id="25" name="Slide Number Placeholder 0"/>
          <p:cNvSpPr>
            <a:spLocks noGrp="1"/>
          </p:cNvSpPr>
          <p:nvPr>
            <p:ph type="sldNum" sz="quarter" idx="4294967295"/>
          </p:nvPr>
        </p:nvSpPr>
        <p:spPr>
          <a:xfrm>
            <a:off x="841248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tx2"/>
                </a:solidFill>
              </a:defRPr>
            </a:lvl1pPr>
          </a:lstStyle>
          <a:p>
            <a:pPr algn="l"/>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2D5A3D"/>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097280"/>
            <a:ext cx="5760720" cy="1280160"/>
          </a:xfrm>
          <a:prstGeom prst="rect">
            <a:avLst/>
          </a:prstGeom>
          <a:noFill/>
          <a:ln/>
        </p:spPr>
        <p:txBody>
          <a:bodyPr wrap="square" rtlCol="0"/>
          <a:lstStyle>
            <a:lvl1pPr marL="0" indent="0">
              <a:buNone/>
              <a:defRPr lang="en-US" sz="3600" b="1" dirty="0">
                <a:solidFill>
                  <a:schemeClr val="bg1"/>
                </a:solidFill>
                <a:latin typeface="Georgia" pitchFamily="34" charset="0"/>
                <a:ea typeface="Georgia" pitchFamily="34" charset="-122"/>
                <a:cs typeface="Georgia" pitchFamily="34" charset="-120"/>
              </a:defRPr>
            </a:lvl1pPr>
          </a:lstStyle>
          <a:p>
            <a:pPr marL="0" indent="0">
              <a:buNone/>
            </a:pPr>
            <a:endParaRPr lang="en-US" sz="3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tx2"/>
                </a:solidFill>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Adventure Escape SA logo"/>
          <p:cNvPicPr>
            <a:picLocks noChangeAspect="1"/>
          </p:cNvPicPr>
          <p:nvPr/>
        </p:nvPicPr>
        <p:blipFill>
          <a:blip r:embed="rId3"/>
          <a:stretch>
            <a:fillRect/>
          </a:stretch>
        </p:blipFill>
        <p:spPr>
          <a:xfrm>
            <a:off x="6675120" y="1097280"/>
            <a:ext cx="1920240" cy="1920240"/>
          </a:xfrm>
          <a:prstGeom prst="rect">
            <a:avLst/>
          </a:prstGeom>
        </p:spPr>
      </p:pic>
      <p:sp>
        <p:nvSpPr>
          <p:cNvPr id="3" name="Text 0"/>
          <p:cNvSpPr>
            <a:spLocks noGrp="1"/>
          </p:cNvSpPr>
          <p:nvPr>
            <p:ph type="title" idx="100" hasCustomPrompt="1"/>
          </p:nvPr>
        </p:nvSpPr>
        <p:spPr>
          <a:xfrm>
            <a:off x="548640" y="1097280"/>
            <a:ext cx="5760720" cy="1280160"/>
          </a:xfrm>
          <a:prstGeom prst="rect">
            <a:avLst/>
          </a:prstGeom>
          <a:noFill/>
          <a:ln/>
        </p:spPr>
        <p:txBody>
          <a:bodyPr wrap="square" lIns="0" tIns="0" rIns="0" bIns="0" rtlCol="0" anchor="t"/>
          <a:lstStyle/>
          <a:p>
            <a:pPr marL="0" indent="0">
              <a:buNone/>
            </a:pPr>
            <a:r>
              <a:rPr lang="en-US" sz="3600" b="1" dirty="0">
                <a:solidFill>
                  <a:schemeClr val="bg1"/>
                </a:solidFill>
                <a:latin typeface="Georgia" pitchFamily="34" charset="0"/>
                <a:ea typeface="Georgia" pitchFamily="34" charset="-122"/>
                <a:cs typeface="Georgia" pitchFamily="34" charset="-120"/>
              </a:rPr>
              <a:t>Adventure Escape SA</a:t>
            </a:r>
            <a:endParaRPr lang="en-US" sz="3600" dirty="0"/>
          </a:p>
        </p:txBody>
      </p:sp>
      <p:sp>
        <p:nvSpPr>
          <p:cNvPr id="4" name="Text 1"/>
          <p:cNvSpPr txBox="1"/>
          <p:nvPr/>
        </p:nvSpPr>
        <p:spPr>
          <a:xfrm>
            <a:off x="548640" y="2331720"/>
            <a:ext cx="5760720" cy="457200"/>
          </a:xfrm>
          <a:prstGeom prst="rect">
            <a:avLst/>
          </a:prstGeom>
          <a:noFill/>
          <a:ln/>
        </p:spPr>
        <p:txBody>
          <a:bodyPr wrap="square" lIns="0" tIns="0" rIns="0" bIns="0" rtlCol="0" anchor="ctr"/>
          <a:lstStyle/>
          <a:p>
            <a:pPr marL="0" indent="0">
              <a:buNone/>
            </a:pPr>
            <a:r>
              <a:rPr lang="en-US" sz="2200" dirty="0">
                <a:solidFill>
                  <a:schemeClr val="bg2"/>
                </a:solidFill>
              </a:rPr>
              <a:t>Website and mobile app design</a:t>
            </a:r>
            <a:endParaRPr lang="en-US" sz="2200" dirty="0"/>
          </a:p>
        </p:txBody>
      </p:sp>
      <p:sp>
        <p:nvSpPr>
          <p:cNvPr id="5" name="Text 2"/>
          <p:cNvSpPr txBox="1"/>
          <p:nvPr/>
        </p:nvSpPr>
        <p:spPr>
          <a:xfrm>
            <a:off x="548640" y="2880360"/>
            <a:ext cx="5760720" cy="365760"/>
          </a:xfrm>
          <a:prstGeom prst="rect">
            <a:avLst/>
          </a:prstGeom>
          <a:noFill/>
          <a:ln/>
        </p:spPr>
        <p:txBody>
          <a:bodyPr wrap="square" lIns="0" tIns="0" rIns="0" bIns="0" rtlCol="0" anchor="ctr"/>
          <a:lstStyle/>
          <a:p>
            <a:pPr marL="0" indent="0">
              <a:buNone/>
            </a:pPr>
            <a:r>
              <a:rPr lang="en-US" sz="1600" i="1" dirty="0">
                <a:solidFill>
                  <a:srgbClr val="FF9D1C"/>
                </a:solidFill>
              </a:rPr>
              <a:t>Explore. Discover. Thrive.</a:t>
            </a:r>
            <a:endParaRPr lang="en-US" sz="1600" dirty="0"/>
          </a:p>
        </p:txBody>
      </p:sp>
      <p:sp>
        <p:nvSpPr>
          <p:cNvPr id="6" name="Text 3"/>
          <p:cNvSpPr txBox="1"/>
          <p:nvPr/>
        </p:nvSpPr>
        <p:spPr>
          <a:xfrm>
            <a:off x="548640" y="3931920"/>
            <a:ext cx="7315200" cy="320040"/>
          </a:xfrm>
          <a:prstGeom prst="rect">
            <a:avLst/>
          </a:prstGeom>
          <a:noFill/>
          <a:ln/>
        </p:spPr>
        <p:txBody>
          <a:bodyPr wrap="square" lIns="0" tIns="0" rIns="0" bIns="0" rtlCol="0" anchor="ctr"/>
          <a:lstStyle/>
          <a:p>
            <a:pPr marL="0" indent="0">
              <a:buNone/>
            </a:pPr>
            <a:r>
              <a:rPr lang="en-US" sz="1400" dirty="0">
                <a:solidFill>
                  <a:schemeClr val="bg1"/>
                </a:solidFill>
              </a:rPr>
              <a:t>Phase 2 group presentation  by Rayan, Itumeleng and Asukia</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28600"/>
            <a:ext cx="6675120" cy="594360"/>
          </a:xfrm>
          <a:prstGeom prst="rect">
            <a:avLst/>
          </a:prstGeom>
          <a:noFill/>
          <a:ln/>
        </p:spPr>
        <p:txBody>
          <a:bodyPr wrap="square" lIns="0" tIns="0" rIns="0" bIns="0" rtlCol="0" anchor="ctr"/>
          <a:lstStyle/>
          <a:p>
            <a:pPr marL="0" indent="0">
              <a:buNone/>
            </a:pPr>
            <a:r>
              <a:rPr lang="en-US" sz="2600" b="1" dirty="0">
                <a:solidFill>
                  <a:schemeClr val="tx2"/>
                </a:solidFill>
                <a:latin typeface="Georgia" pitchFamily="34" charset="0"/>
                <a:ea typeface="Georgia" pitchFamily="34" charset="-122"/>
                <a:cs typeface="Georgia" pitchFamily="34" charset="-120"/>
              </a:rPr>
              <a:t>The scenario we chose</a:t>
            </a:r>
            <a:endParaRPr lang="en-US" sz="2600" dirty="0"/>
          </a:p>
        </p:txBody>
      </p:sp>
      <p:sp>
        <p:nvSpPr>
          <p:cNvPr id="3" name="Presenter tag"/>
          <p:cNvSpPr/>
          <p:nvPr/>
        </p:nvSpPr>
        <p:spPr>
          <a:xfrm>
            <a:off x="7269480" y="347472"/>
            <a:ext cx="1463040" cy="329184"/>
          </a:xfrm>
          <a:prstGeom prst="roundRect">
            <a:avLst>
              <a:gd name="adj" fmla="val 50000"/>
            </a:avLst>
          </a:prstGeom>
          <a:solidFill>
            <a:schemeClr val="accent2"/>
          </a:solidFill>
          <a:ln w="12700">
            <a:solidFill>
              <a:schemeClr val="accent2"/>
            </a:solidFill>
            <a:prstDash val="solid"/>
          </a:ln>
        </p:spPr>
      </p:sp>
      <p:sp>
        <p:nvSpPr>
          <p:cNvPr id="4" name="Text 2"/>
          <p:cNvSpPr txBox="1"/>
          <p:nvPr/>
        </p:nvSpPr>
        <p:spPr>
          <a:xfrm>
            <a:off x="7269480" y="347472"/>
            <a:ext cx="1463040" cy="329184"/>
          </a:xfrm>
          <a:prstGeom prst="rect">
            <a:avLst/>
          </a:prstGeom>
          <a:noFill/>
          <a:ln/>
        </p:spPr>
        <p:txBody>
          <a:bodyPr wrap="square" lIns="0" tIns="0" rIns="0" bIns="0" rtlCol="0" anchor="ctr"/>
          <a:lstStyle/>
          <a:p>
            <a:pPr marL="0" indent="0" algn="ctr">
              <a:buNone/>
            </a:pPr>
            <a:r>
              <a:rPr lang="en-US" sz="1100" b="1" dirty="0">
                <a:solidFill>
                  <a:schemeClr val="bg1"/>
                </a:solidFill>
              </a:rPr>
              <a:t>Presenter: Rayan</a:t>
            </a:r>
            <a:endParaRPr lang="en-US" sz="1100" dirty="0"/>
          </a:p>
        </p:txBody>
      </p:sp>
      <p:sp>
        <p:nvSpPr>
          <p:cNvPr id="6" name="Text 3"/>
          <p:cNvSpPr txBox="1"/>
          <p:nvPr/>
        </p:nvSpPr>
        <p:spPr>
          <a:xfrm>
            <a:off x="457200" y="1051560"/>
            <a:ext cx="4297680" cy="3108960"/>
          </a:xfrm>
          <a:prstGeom prst="rect">
            <a:avLst/>
          </a:prstGeom>
          <a:noFill/>
          <a:ln/>
        </p:spPr>
        <p:txBody>
          <a:bodyPr wrap="square" rtlCol="0" anchor="t"/>
          <a:lstStyle/>
          <a:p>
            <a:pPr marL="342900" indent="-342900">
              <a:spcAft>
                <a:spcPts val="800"/>
              </a:spcAft>
              <a:buSzPct val="100000"/>
              <a:buChar char="•"/>
            </a:pPr>
            <a:r>
              <a:rPr lang="en-US" sz="1500" dirty="0">
                <a:solidFill>
                  <a:schemeClr val="tx1"/>
                </a:solidFill>
              </a:rPr>
              <a:t>Scenario 2: Adventure Escape SA, owned by Liam Daniels</a:t>
            </a:r>
            <a:endParaRPr lang="en-US" sz="1500" dirty="0"/>
          </a:p>
          <a:p>
            <a:pPr marL="342900" indent="-342900">
              <a:spcAft>
                <a:spcPts val="800"/>
              </a:spcAft>
              <a:buSzPct val="100000"/>
              <a:buChar char="•"/>
            </a:pPr>
            <a:r>
              <a:rPr lang="en-US" sz="1500" dirty="0">
                <a:solidFill>
                  <a:schemeClr val="tx1"/>
                </a:solidFill>
              </a:rPr>
              <a:t>Guided outdoor packages and individual activities</a:t>
            </a:r>
            <a:endParaRPr lang="en-US" sz="1500" dirty="0"/>
          </a:p>
          <a:p>
            <a:pPr marL="342900" indent="-342900">
              <a:spcAft>
                <a:spcPts val="800"/>
              </a:spcAft>
              <a:buSzPct val="100000"/>
              <a:buChar char="•"/>
            </a:pPr>
            <a:r>
              <a:rPr lang="en-US" sz="1500" dirty="0">
                <a:solidFill>
                  <a:schemeClr val="tx1"/>
                </a:solidFill>
              </a:rPr>
              <a:t>For families, teenagers, tourists, schools and corporate groups</a:t>
            </a:r>
            <a:endParaRPr lang="en-US" sz="1500" dirty="0"/>
          </a:p>
          <a:p>
            <a:pPr marL="342900" indent="-342900">
              <a:spcAft>
                <a:spcPts val="800"/>
              </a:spcAft>
              <a:buSzPct val="100000"/>
              <a:buChar char="•"/>
            </a:pPr>
            <a:r>
              <a:rPr lang="en-US" sz="1500" dirty="0">
                <a:solidFill>
                  <a:schemeClr val="tx1"/>
                </a:solidFill>
              </a:rPr>
              <a:t>Needs a website and a mobile app to advertise, show prices and take booking requests</a:t>
            </a:r>
            <a:endParaRPr lang="en-US" sz="1500" dirty="0"/>
          </a:p>
        </p:txBody>
      </p:sp>
      <p:sp>
        <p:nvSpPr>
          <p:cNvPr id="7" name="Card"/>
          <p:cNvSpPr/>
          <p:nvPr/>
        </p:nvSpPr>
        <p:spPr>
          <a:xfrm>
            <a:off x="5029200" y="1051560"/>
            <a:ext cx="3657600" cy="1143000"/>
          </a:xfrm>
          <a:prstGeom prst="roundRect">
            <a:avLst>
              <a:gd name="adj" fmla="val 6400"/>
            </a:avLst>
          </a:prstGeom>
          <a:solidFill>
            <a:schemeClr val="bg1"/>
          </a:solidFill>
          <a:ln w="12700">
            <a:solidFill>
              <a:srgbClr val="D9CBB5"/>
            </a:solidFill>
            <a:prstDash val="solid"/>
          </a:ln>
        </p:spPr>
      </p:sp>
      <p:sp>
        <p:nvSpPr>
          <p:cNvPr id="8" name="Text 5"/>
          <p:cNvSpPr txBox="1"/>
          <p:nvPr/>
        </p:nvSpPr>
        <p:spPr>
          <a:xfrm>
            <a:off x="5120640" y="1143000"/>
            <a:ext cx="1280160" cy="960120"/>
          </a:xfrm>
          <a:prstGeom prst="rect">
            <a:avLst/>
          </a:prstGeom>
          <a:noFill/>
          <a:ln/>
        </p:spPr>
        <p:txBody>
          <a:bodyPr wrap="square" lIns="0" tIns="0" rIns="0" bIns="0" rtlCol="0" anchor="ctr"/>
          <a:lstStyle/>
          <a:p>
            <a:pPr marL="0" indent="0" algn="ctr">
              <a:buNone/>
            </a:pPr>
            <a:r>
              <a:rPr lang="en-US" sz="4000" b="1" dirty="0">
                <a:solidFill>
                  <a:schemeClr val="accent2"/>
                </a:solidFill>
                <a:latin typeface="Georgia" pitchFamily="34" charset="0"/>
                <a:ea typeface="Georgia" pitchFamily="34" charset="-122"/>
                <a:cs typeface="Georgia" pitchFamily="34" charset="-120"/>
              </a:rPr>
              <a:t>4</a:t>
            </a:r>
            <a:endParaRPr lang="en-US" sz="4000" dirty="0"/>
          </a:p>
        </p:txBody>
      </p:sp>
      <p:sp>
        <p:nvSpPr>
          <p:cNvPr id="9" name="Text 6"/>
          <p:cNvSpPr txBox="1"/>
          <p:nvPr/>
        </p:nvSpPr>
        <p:spPr>
          <a:xfrm>
            <a:off x="6446520" y="1143000"/>
            <a:ext cx="2148840" cy="960120"/>
          </a:xfrm>
          <a:prstGeom prst="rect">
            <a:avLst/>
          </a:prstGeom>
          <a:noFill/>
          <a:ln/>
        </p:spPr>
        <p:txBody>
          <a:bodyPr wrap="square" lIns="0" tIns="0" rIns="0" bIns="0" rtlCol="0" anchor="ctr"/>
          <a:lstStyle/>
          <a:p>
            <a:pPr marL="0" indent="0">
              <a:buNone/>
            </a:pPr>
            <a:r>
              <a:rPr lang="en-US" sz="1500" b="1" dirty="0">
                <a:solidFill>
                  <a:schemeClr val="tx2"/>
                </a:solidFill>
              </a:rPr>
              <a:t>Packages</a:t>
            </a:r>
            <a:endParaRPr lang="en-US" sz="1500" dirty="0"/>
          </a:p>
          <a:p>
            <a:pPr marL="0" indent="0">
              <a:buNone/>
            </a:pPr>
            <a:r>
              <a:rPr lang="en-US" sz="1200" dirty="0">
                <a:solidFill>
                  <a:schemeClr val="tx1"/>
                </a:solidFill>
              </a:rPr>
              <a:t>R1 500 each</a:t>
            </a:r>
            <a:endParaRPr lang="en-US" sz="1500" dirty="0"/>
          </a:p>
        </p:txBody>
      </p:sp>
      <p:sp>
        <p:nvSpPr>
          <p:cNvPr id="10" name="Card"/>
          <p:cNvSpPr/>
          <p:nvPr/>
        </p:nvSpPr>
        <p:spPr>
          <a:xfrm>
            <a:off x="5029200" y="2331720"/>
            <a:ext cx="3657600" cy="1143000"/>
          </a:xfrm>
          <a:prstGeom prst="roundRect">
            <a:avLst>
              <a:gd name="adj" fmla="val 6400"/>
            </a:avLst>
          </a:prstGeom>
          <a:solidFill>
            <a:schemeClr val="bg1"/>
          </a:solidFill>
          <a:ln w="12700">
            <a:solidFill>
              <a:srgbClr val="D9CBB5"/>
            </a:solidFill>
            <a:prstDash val="solid"/>
          </a:ln>
        </p:spPr>
      </p:sp>
      <p:sp>
        <p:nvSpPr>
          <p:cNvPr id="11" name="Text 8"/>
          <p:cNvSpPr txBox="1"/>
          <p:nvPr/>
        </p:nvSpPr>
        <p:spPr>
          <a:xfrm>
            <a:off x="5120640" y="2423160"/>
            <a:ext cx="1280160" cy="960120"/>
          </a:xfrm>
          <a:prstGeom prst="rect">
            <a:avLst/>
          </a:prstGeom>
          <a:noFill/>
          <a:ln/>
        </p:spPr>
        <p:txBody>
          <a:bodyPr wrap="square" lIns="0" tIns="0" rIns="0" bIns="0" rtlCol="0" anchor="ctr"/>
          <a:lstStyle/>
          <a:p>
            <a:pPr marL="0" indent="0" algn="ctr">
              <a:buNone/>
            </a:pPr>
            <a:r>
              <a:rPr lang="en-US" sz="4000" b="1" dirty="0">
                <a:solidFill>
                  <a:schemeClr val="accent2"/>
                </a:solidFill>
                <a:latin typeface="Georgia" pitchFamily="34" charset="0"/>
                <a:ea typeface="Georgia" pitchFamily="34" charset="-122"/>
                <a:cs typeface="Georgia" pitchFamily="34" charset="-120"/>
              </a:rPr>
              <a:t>3</a:t>
            </a:r>
            <a:endParaRPr lang="en-US" sz="4000" dirty="0"/>
          </a:p>
        </p:txBody>
      </p:sp>
      <p:sp>
        <p:nvSpPr>
          <p:cNvPr id="12" name="Text 9"/>
          <p:cNvSpPr txBox="1"/>
          <p:nvPr/>
        </p:nvSpPr>
        <p:spPr>
          <a:xfrm>
            <a:off x="6446520" y="2423160"/>
            <a:ext cx="2148840" cy="960120"/>
          </a:xfrm>
          <a:prstGeom prst="rect">
            <a:avLst/>
          </a:prstGeom>
          <a:noFill/>
          <a:ln/>
        </p:spPr>
        <p:txBody>
          <a:bodyPr wrap="square" lIns="0" tIns="0" rIns="0" bIns="0" rtlCol="0" anchor="ctr"/>
          <a:lstStyle/>
          <a:p>
            <a:pPr marL="0" indent="0">
              <a:buNone/>
            </a:pPr>
            <a:r>
              <a:rPr lang="en-US" sz="1500" b="1" dirty="0">
                <a:solidFill>
                  <a:schemeClr val="tx2"/>
                </a:solidFill>
              </a:rPr>
              <a:t>Individual activities</a:t>
            </a:r>
            <a:endParaRPr lang="en-US" sz="1500" dirty="0"/>
          </a:p>
          <a:p>
            <a:pPr marL="0" indent="0">
              <a:buNone/>
            </a:pPr>
            <a:r>
              <a:rPr lang="en-US" sz="1200" dirty="0">
                <a:solidFill>
                  <a:schemeClr val="tx1"/>
                </a:solidFill>
              </a:rPr>
              <a:t>R750 each</a:t>
            </a:r>
            <a:endParaRPr lang="en-US" sz="1500" dirty="0"/>
          </a:p>
        </p:txBody>
      </p:sp>
      <p:sp>
        <p:nvSpPr>
          <p:cNvPr id="13" name="Card"/>
          <p:cNvSpPr/>
          <p:nvPr/>
        </p:nvSpPr>
        <p:spPr>
          <a:xfrm>
            <a:off x="5029200" y="3611880"/>
            <a:ext cx="3657600" cy="1143000"/>
          </a:xfrm>
          <a:prstGeom prst="roundRect">
            <a:avLst>
              <a:gd name="adj" fmla="val 6400"/>
            </a:avLst>
          </a:prstGeom>
          <a:solidFill>
            <a:schemeClr val="bg1"/>
          </a:solidFill>
          <a:ln w="12700">
            <a:solidFill>
              <a:srgbClr val="D9CBB5"/>
            </a:solidFill>
            <a:prstDash val="solid"/>
          </a:ln>
        </p:spPr>
      </p:sp>
      <p:sp>
        <p:nvSpPr>
          <p:cNvPr id="14" name="Text 11"/>
          <p:cNvSpPr txBox="1"/>
          <p:nvPr/>
        </p:nvSpPr>
        <p:spPr>
          <a:xfrm>
            <a:off x="5120640" y="3703320"/>
            <a:ext cx="1280160" cy="960120"/>
          </a:xfrm>
          <a:prstGeom prst="rect">
            <a:avLst/>
          </a:prstGeom>
          <a:noFill/>
          <a:ln/>
        </p:spPr>
        <p:txBody>
          <a:bodyPr wrap="square" lIns="0" tIns="0" rIns="0" bIns="0" rtlCol="0" anchor="ctr"/>
          <a:lstStyle/>
          <a:p>
            <a:pPr marL="0" indent="0" algn="ctr">
              <a:buNone/>
            </a:pPr>
            <a:r>
              <a:rPr lang="en-US" sz="2800" b="1" dirty="0">
                <a:solidFill>
                  <a:schemeClr val="accent2"/>
                </a:solidFill>
                <a:latin typeface="Georgia" pitchFamily="34" charset="0"/>
                <a:ea typeface="Georgia" pitchFamily="34" charset="-122"/>
                <a:cs typeface="Georgia" pitchFamily="34" charset="-120"/>
              </a:rPr>
              <a:t>5-15%</a:t>
            </a:r>
            <a:endParaRPr lang="en-US" sz="2800" dirty="0"/>
          </a:p>
        </p:txBody>
      </p:sp>
      <p:sp>
        <p:nvSpPr>
          <p:cNvPr id="15" name="Text 12"/>
          <p:cNvSpPr txBox="1"/>
          <p:nvPr/>
        </p:nvSpPr>
        <p:spPr>
          <a:xfrm>
            <a:off x="6446520" y="3703320"/>
            <a:ext cx="2148840" cy="960120"/>
          </a:xfrm>
          <a:prstGeom prst="rect">
            <a:avLst/>
          </a:prstGeom>
          <a:noFill/>
          <a:ln/>
        </p:spPr>
        <p:txBody>
          <a:bodyPr wrap="square" lIns="0" tIns="0" rIns="0" bIns="0" rtlCol="0" anchor="ctr"/>
          <a:lstStyle/>
          <a:p>
            <a:pPr marL="0" indent="0">
              <a:buNone/>
            </a:pPr>
            <a:r>
              <a:rPr lang="en-US" sz="1500" b="1" dirty="0">
                <a:solidFill>
                  <a:schemeClr val="tx2"/>
                </a:solidFill>
              </a:rPr>
              <a:t>Discount</a:t>
            </a:r>
            <a:endParaRPr lang="en-US" sz="1500" dirty="0"/>
          </a:p>
          <a:p>
            <a:pPr marL="0" indent="0">
              <a:buNone/>
            </a:pPr>
            <a:r>
              <a:rPr lang="en-US" sz="1200" dirty="0">
                <a:solidFill>
                  <a:schemeClr val="tx1"/>
                </a:solidFill>
              </a:rPr>
              <a:t>2 bookings 5%, 3 bookings 10%, 4+ bookings 15%</a:t>
            </a:r>
            <a:endParaRPr lang="en-US" sz="1500" dirty="0"/>
          </a:p>
        </p:txBody>
      </p:sp>
      <p:sp>
        <p:nvSpPr>
          <p:cNvPr id="25" name="Slide Number Placeholder 0"/>
          <p:cNvSpPr>
            <a:spLocks noGrp="1"/>
          </p:cNvSpPr>
          <p:nvPr>
            <p:ph type="sldNum" sz="quarter" idx="4294967295"/>
          </p:nvPr>
        </p:nvSpPr>
        <p:spPr>
          <a:xfrm>
            <a:off x="841248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tx2"/>
                </a:solidFill>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28600"/>
            <a:ext cx="6675120" cy="594360"/>
          </a:xfrm>
          <a:prstGeom prst="rect">
            <a:avLst/>
          </a:prstGeom>
          <a:noFill/>
          <a:ln/>
        </p:spPr>
        <p:txBody>
          <a:bodyPr wrap="square" lIns="0" tIns="0" rIns="0" bIns="0" rtlCol="0" anchor="ctr"/>
          <a:lstStyle/>
          <a:p>
            <a:pPr marL="0" indent="0">
              <a:buNone/>
            </a:pPr>
            <a:r>
              <a:rPr lang="en-US" sz="2600" b="1" dirty="0">
                <a:solidFill>
                  <a:schemeClr val="tx2"/>
                </a:solidFill>
                <a:latin typeface="Georgia" pitchFamily="34" charset="0"/>
                <a:ea typeface="Georgia" pitchFamily="34" charset="-122"/>
                <a:cs typeface="Georgia" pitchFamily="34" charset="-120"/>
              </a:rPr>
              <a:t>Design choices and why</a:t>
            </a:r>
            <a:endParaRPr lang="en-US" sz="2600" dirty="0"/>
          </a:p>
        </p:txBody>
      </p:sp>
      <p:sp>
        <p:nvSpPr>
          <p:cNvPr id="3" name="Presenter tag"/>
          <p:cNvSpPr/>
          <p:nvPr/>
        </p:nvSpPr>
        <p:spPr>
          <a:xfrm>
            <a:off x="7269480" y="347472"/>
            <a:ext cx="1463040" cy="329184"/>
          </a:xfrm>
          <a:prstGeom prst="roundRect">
            <a:avLst>
              <a:gd name="adj" fmla="val 50000"/>
            </a:avLst>
          </a:prstGeom>
          <a:solidFill>
            <a:schemeClr val="accent2"/>
          </a:solidFill>
          <a:ln w="12700">
            <a:solidFill>
              <a:schemeClr val="accent2"/>
            </a:solidFill>
            <a:prstDash val="solid"/>
          </a:ln>
        </p:spPr>
      </p:sp>
      <p:sp>
        <p:nvSpPr>
          <p:cNvPr id="4" name="Text 2"/>
          <p:cNvSpPr txBox="1"/>
          <p:nvPr/>
        </p:nvSpPr>
        <p:spPr>
          <a:xfrm>
            <a:off x="7269480" y="347472"/>
            <a:ext cx="1463040" cy="329184"/>
          </a:xfrm>
          <a:prstGeom prst="rect">
            <a:avLst/>
          </a:prstGeom>
          <a:noFill/>
          <a:ln/>
        </p:spPr>
        <p:txBody>
          <a:bodyPr wrap="square" lIns="0" tIns="0" rIns="0" bIns="0" rtlCol="0" anchor="ctr"/>
          <a:lstStyle/>
          <a:p>
            <a:pPr marL="0" indent="0" algn="ctr">
              <a:buNone/>
            </a:pPr>
            <a:r>
              <a:rPr lang="en-US" sz="1100" b="1" dirty="0">
                <a:solidFill>
                  <a:schemeClr val="bg1"/>
                </a:solidFill>
              </a:rPr>
              <a:t>Presenter: Rayan</a:t>
            </a:r>
            <a:endParaRPr lang="en-US" sz="1100" dirty="0"/>
          </a:p>
        </p:txBody>
      </p:sp>
      <p:sp>
        <p:nvSpPr>
          <p:cNvPr id="6" name="Card"/>
          <p:cNvSpPr/>
          <p:nvPr/>
        </p:nvSpPr>
        <p:spPr>
          <a:xfrm>
            <a:off x="457200" y="1005840"/>
            <a:ext cx="1965960" cy="2377440"/>
          </a:xfrm>
          <a:prstGeom prst="roundRect">
            <a:avLst>
              <a:gd name="adj" fmla="val 3721"/>
            </a:avLst>
          </a:prstGeom>
          <a:solidFill>
            <a:schemeClr val="bg1"/>
          </a:solidFill>
          <a:ln w="12700">
            <a:solidFill>
              <a:srgbClr val="D9CBB5"/>
            </a:solidFill>
            <a:prstDash val="solid"/>
          </a:ln>
        </p:spPr>
      </p:sp>
      <p:sp>
        <p:nvSpPr>
          <p:cNvPr id="7" name="Card accent"/>
          <p:cNvSpPr/>
          <p:nvPr/>
        </p:nvSpPr>
        <p:spPr>
          <a:xfrm>
            <a:off x="457200" y="1005840"/>
            <a:ext cx="1965960" cy="64008"/>
          </a:xfrm>
          <a:prstGeom prst="rect">
            <a:avLst/>
          </a:prstGeom>
          <a:solidFill>
            <a:schemeClr val="accent2"/>
          </a:solidFill>
          <a:ln w="12700">
            <a:solidFill>
              <a:schemeClr val="accent2"/>
            </a:solidFill>
            <a:prstDash val="solid"/>
          </a:ln>
        </p:spPr>
      </p:sp>
      <p:sp>
        <p:nvSpPr>
          <p:cNvPr id="8" name="Text 5"/>
          <p:cNvSpPr txBox="1"/>
          <p:nvPr/>
        </p:nvSpPr>
        <p:spPr>
          <a:xfrm>
            <a:off x="566928" y="1143000"/>
            <a:ext cx="1737360" cy="365760"/>
          </a:xfrm>
          <a:prstGeom prst="rect">
            <a:avLst/>
          </a:prstGeom>
          <a:noFill/>
          <a:ln/>
        </p:spPr>
        <p:txBody>
          <a:bodyPr wrap="square" lIns="0" tIns="0" rIns="0" bIns="0" rtlCol="0" anchor="ctr"/>
          <a:lstStyle/>
          <a:p>
            <a:pPr marL="0" indent="0">
              <a:buNone/>
            </a:pPr>
            <a:r>
              <a:rPr lang="en-US" sz="1600" b="1" dirty="0">
                <a:solidFill>
                  <a:schemeClr val="tx2"/>
                </a:solidFill>
                <a:latin typeface="Georgia" pitchFamily="34" charset="0"/>
                <a:ea typeface="Georgia" pitchFamily="34" charset="-122"/>
                <a:cs typeface="Georgia" pitchFamily="34" charset="-120"/>
              </a:rPr>
              <a:t>Navigation</a:t>
            </a:r>
            <a:endParaRPr lang="en-US" sz="1600" dirty="0"/>
          </a:p>
        </p:txBody>
      </p:sp>
      <p:sp>
        <p:nvSpPr>
          <p:cNvPr id="9" name="Text 6"/>
          <p:cNvSpPr txBox="1"/>
          <p:nvPr/>
        </p:nvSpPr>
        <p:spPr>
          <a:xfrm>
            <a:off x="566928" y="1554480"/>
            <a:ext cx="1737360" cy="1737360"/>
          </a:xfrm>
          <a:prstGeom prst="rect">
            <a:avLst/>
          </a:prstGeom>
          <a:noFill/>
          <a:ln/>
        </p:spPr>
        <p:txBody>
          <a:bodyPr wrap="square" lIns="0" tIns="0" rIns="0" bIns="0" rtlCol="0" anchor="t"/>
          <a:lstStyle/>
          <a:p>
            <a:pPr marL="342900" indent="-342900">
              <a:spcAft>
                <a:spcPts val="800"/>
              </a:spcAft>
              <a:buSzPct val="100000"/>
              <a:buChar char="•"/>
            </a:pPr>
            <a:r>
              <a:rPr lang="en-US" sz="1350" dirty="0">
                <a:solidFill>
                  <a:schemeClr val="tx1"/>
                </a:solidFill>
              </a:rPr>
              <a:t>Simple menu: Home, About Us, Overview, Fees, Contact Us</a:t>
            </a:r>
            <a:endParaRPr lang="en-US" sz="1350" dirty="0"/>
          </a:p>
          <a:p>
            <a:pPr marL="342900" indent="-342900">
              <a:spcAft>
                <a:spcPts val="800"/>
              </a:spcAft>
              <a:buSzPct val="100000"/>
              <a:buChar char="•"/>
            </a:pPr>
            <a:r>
              <a:rPr lang="en-US" sz="1350" dirty="0">
                <a:solidFill>
                  <a:schemeClr val="tx1"/>
                </a:solidFill>
              </a:rPr>
              <a:t>Sticky header stays visible</a:t>
            </a:r>
            <a:endParaRPr lang="en-US" sz="1350" dirty="0"/>
          </a:p>
        </p:txBody>
      </p:sp>
      <p:sp>
        <p:nvSpPr>
          <p:cNvPr id="10" name="Card"/>
          <p:cNvSpPr/>
          <p:nvPr/>
        </p:nvSpPr>
        <p:spPr>
          <a:xfrm>
            <a:off x="2560320" y="1005840"/>
            <a:ext cx="1965960" cy="2377440"/>
          </a:xfrm>
          <a:prstGeom prst="roundRect">
            <a:avLst>
              <a:gd name="adj" fmla="val 3721"/>
            </a:avLst>
          </a:prstGeom>
          <a:solidFill>
            <a:schemeClr val="bg1"/>
          </a:solidFill>
          <a:ln w="12700">
            <a:solidFill>
              <a:srgbClr val="D9CBB5"/>
            </a:solidFill>
            <a:prstDash val="solid"/>
          </a:ln>
        </p:spPr>
      </p:sp>
      <p:sp>
        <p:nvSpPr>
          <p:cNvPr id="11" name="Card accent"/>
          <p:cNvSpPr/>
          <p:nvPr/>
        </p:nvSpPr>
        <p:spPr>
          <a:xfrm>
            <a:off x="2560320" y="1005840"/>
            <a:ext cx="1965960" cy="64008"/>
          </a:xfrm>
          <a:prstGeom prst="rect">
            <a:avLst/>
          </a:prstGeom>
          <a:solidFill>
            <a:schemeClr val="accent2"/>
          </a:solidFill>
          <a:ln w="12700">
            <a:solidFill>
              <a:schemeClr val="accent2"/>
            </a:solidFill>
            <a:prstDash val="solid"/>
          </a:ln>
        </p:spPr>
      </p:sp>
      <p:sp>
        <p:nvSpPr>
          <p:cNvPr id="12" name="Text 9"/>
          <p:cNvSpPr txBox="1"/>
          <p:nvPr/>
        </p:nvSpPr>
        <p:spPr>
          <a:xfrm>
            <a:off x="2670048" y="1143000"/>
            <a:ext cx="1737360" cy="365760"/>
          </a:xfrm>
          <a:prstGeom prst="rect">
            <a:avLst/>
          </a:prstGeom>
          <a:noFill/>
          <a:ln/>
        </p:spPr>
        <p:txBody>
          <a:bodyPr wrap="square" lIns="0" tIns="0" rIns="0" bIns="0" rtlCol="0" anchor="ctr"/>
          <a:lstStyle/>
          <a:p>
            <a:pPr marL="0" indent="0">
              <a:buNone/>
            </a:pPr>
            <a:r>
              <a:rPr lang="en-US" sz="1600" b="1" dirty="0">
                <a:solidFill>
                  <a:schemeClr val="tx2"/>
                </a:solidFill>
                <a:latin typeface="Georgia" pitchFamily="34" charset="0"/>
                <a:ea typeface="Georgia" pitchFamily="34" charset="-122"/>
                <a:cs typeface="Georgia" pitchFamily="34" charset="-120"/>
              </a:rPr>
              <a:t>Layout</a:t>
            </a:r>
            <a:endParaRPr lang="en-US" sz="1600" dirty="0"/>
          </a:p>
        </p:txBody>
      </p:sp>
      <p:sp>
        <p:nvSpPr>
          <p:cNvPr id="13" name="Text 10"/>
          <p:cNvSpPr txBox="1"/>
          <p:nvPr/>
        </p:nvSpPr>
        <p:spPr>
          <a:xfrm>
            <a:off x="2670048" y="1554480"/>
            <a:ext cx="1737360" cy="1737360"/>
          </a:xfrm>
          <a:prstGeom prst="rect">
            <a:avLst/>
          </a:prstGeom>
          <a:noFill/>
          <a:ln/>
        </p:spPr>
        <p:txBody>
          <a:bodyPr wrap="square" lIns="0" tIns="0" rIns="0" bIns="0" rtlCol="0" anchor="t"/>
          <a:lstStyle/>
          <a:p>
            <a:pPr marL="342900" indent="-342900">
              <a:spcAft>
                <a:spcPts val="800"/>
              </a:spcAft>
              <a:buSzPct val="100000"/>
              <a:buChar char="•"/>
            </a:pPr>
            <a:r>
              <a:rPr lang="en-US" sz="1350" dirty="0">
                <a:solidFill>
                  <a:schemeClr val="tx1"/>
                </a:solidFill>
              </a:rPr>
              <a:t>Hero banner with key buttons</a:t>
            </a:r>
            <a:endParaRPr lang="en-US" sz="1350" dirty="0"/>
          </a:p>
          <a:p>
            <a:pPr marL="342900" indent="-342900">
              <a:spcAft>
                <a:spcPts val="800"/>
              </a:spcAft>
              <a:buSzPct val="100000"/>
              <a:buChar char="•"/>
            </a:pPr>
            <a:r>
              <a:rPr lang="en-US" sz="1350" dirty="0">
                <a:solidFill>
                  <a:schemeClr val="tx1"/>
                </a:solidFill>
              </a:rPr>
              <a:t>Same layout on every package page</a:t>
            </a:r>
            <a:endParaRPr lang="en-US" sz="1350" dirty="0"/>
          </a:p>
        </p:txBody>
      </p:sp>
      <p:sp>
        <p:nvSpPr>
          <p:cNvPr id="14" name="Card"/>
          <p:cNvSpPr/>
          <p:nvPr/>
        </p:nvSpPr>
        <p:spPr>
          <a:xfrm>
            <a:off x="4663440" y="1005840"/>
            <a:ext cx="1965960" cy="2377440"/>
          </a:xfrm>
          <a:prstGeom prst="roundRect">
            <a:avLst>
              <a:gd name="adj" fmla="val 3721"/>
            </a:avLst>
          </a:prstGeom>
          <a:solidFill>
            <a:schemeClr val="bg1"/>
          </a:solidFill>
          <a:ln w="12700">
            <a:solidFill>
              <a:srgbClr val="D9CBB5"/>
            </a:solidFill>
            <a:prstDash val="solid"/>
          </a:ln>
        </p:spPr>
      </p:sp>
      <p:sp>
        <p:nvSpPr>
          <p:cNvPr id="15" name="Card accent"/>
          <p:cNvSpPr/>
          <p:nvPr/>
        </p:nvSpPr>
        <p:spPr>
          <a:xfrm>
            <a:off x="4663440" y="1005840"/>
            <a:ext cx="1965960" cy="64008"/>
          </a:xfrm>
          <a:prstGeom prst="rect">
            <a:avLst/>
          </a:prstGeom>
          <a:solidFill>
            <a:schemeClr val="accent2"/>
          </a:solidFill>
          <a:ln w="12700">
            <a:solidFill>
              <a:schemeClr val="accent2"/>
            </a:solidFill>
            <a:prstDash val="solid"/>
          </a:ln>
        </p:spPr>
      </p:sp>
      <p:sp>
        <p:nvSpPr>
          <p:cNvPr id="16" name="Text 13"/>
          <p:cNvSpPr txBox="1"/>
          <p:nvPr/>
        </p:nvSpPr>
        <p:spPr>
          <a:xfrm>
            <a:off x="4773168" y="1143000"/>
            <a:ext cx="1737360" cy="365760"/>
          </a:xfrm>
          <a:prstGeom prst="rect">
            <a:avLst/>
          </a:prstGeom>
          <a:noFill/>
          <a:ln/>
        </p:spPr>
        <p:txBody>
          <a:bodyPr wrap="square" lIns="0" tIns="0" rIns="0" bIns="0" rtlCol="0" anchor="ctr"/>
          <a:lstStyle/>
          <a:p>
            <a:pPr marL="0" indent="0">
              <a:buNone/>
            </a:pPr>
            <a:r>
              <a:rPr lang="en-US" sz="1600" b="1" dirty="0">
                <a:solidFill>
                  <a:schemeClr val="tx2"/>
                </a:solidFill>
                <a:latin typeface="Georgia" pitchFamily="34" charset="0"/>
                <a:ea typeface="Georgia" pitchFamily="34" charset="-122"/>
                <a:cs typeface="Georgia" pitchFamily="34" charset="-120"/>
              </a:rPr>
              <a:t>Responsive</a:t>
            </a:r>
            <a:endParaRPr lang="en-US" sz="1600" dirty="0"/>
          </a:p>
        </p:txBody>
      </p:sp>
      <p:sp>
        <p:nvSpPr>
          <p:cNvPr id="17" name="Text 14"/>
          <p:cNvSpPr txBox="1"/>
          <p:nvPr/>
        </p:nvSpPr>
        <p:spPr>
          <a:xfrm>
            <a:off x="4773168" y="1554480"/>
            <a:ext cx="1737360" cy="1737360"/>
          </a:xfrm>
          <a:prstGeom prst="rect">
            <a:avLst/>
          </a:prstGeom>
          <a:noFill/>
          <a:ln/>
        </p:spPr>
        <p:txBody>
          <a:bodyPr wrap="square" lIns="0" tIns="0" rIns="0" bIns="0" rtlCol="0" anchor="t"/>
          <a:lstStyle/>
          <a:p>
            <a:pPr marL="342900" indent="-342900">
              <a:spcAft>
                <a:spcPts val="800"/>
              </a:spcAft>
              <a:buSzPct val="100000"/>
              <a:buChar char="•"/>
            </a:pPr>
            <a:r>
              <a:rPr lang="en-US" sz="1350" dirty="0">
                <a:solidFill>
                  <a:schemeClr val="tx1"/>
                </a:solidFill>
              </a:rPr>
              <a:t>Flexible grids and images</a:t>
            </a:r>
            <a:endParaRPr lang="en-US" sz="1350" dirty="0"/>
          </a:p>
          <a:p>
            <a:pPr marL="342900" indent="-342900">
              <a:spcAft>
                <a:spcPts val="800"/>
              </a:spcAft>
              <a:buSzPct val="100000"/>
              <a:buChar char="•"/>
            </a:pPr>
            <a:r>
              <a:rPr lang="en-US" sz="1350" dirty="0">
                <a:solidFill>
                  <a:schemeClr val="tx1"/>
                </a:solidFill>
              </a:rPr>
              <a:t>Cards stack into one column on mobile</a:t>
            </a:r>
            <a:endParaRPr lang="en-US" sz="1350" dirty="0"/>
          </a:p>
        </p:txBody>
      </p:sp>
      <p:sp>
        <p:nvSpPr>
          <p:cNvPr id="18" name="Card"/>
          <p:cNvSpPr/>
          <p:nvPr/>
        </p:nvSpPr>
        <p:spPr>
          <a:xfrm>
            <a:off x="6766560" y="1005840"/>
            <a:ext cx="1965960" cy="2377440"/>
          </a:xfrm>
          <a:prstGeom prst="roundRect">
            <a:avLst>
              <a:gd name="adj" fmla="val 3721"/>
            </a:avLst>
          </a:prstGeom>
          <a:solidFill>
            <a:schemeClr val="bg1"/>
          </a:solidFill>
          <a:ln w="12700">
            <a:solidFill>
              <a:srgbClr val="D9CBB5"/>
            </a:solidFill>
            <a:prstDash val="solid"/>
          </a:ln>
        </p:spPr>
      </p:sp>
      <p:sp>
        <p:nvSpPr>
          <p:cNvPr id="19" name="Card accent"/>
          <p:cNvSpPr/>
          <p:nvPr/>
        </p:nvSpPr>
        <p:spPr>
          <a:xfrm>
            <a:off x="6766560" y="1005840"/>
            <a:ext cx="1965960" cy="64008"/>
          </a:xfrm>
          <a:prstGeom prst="rect">
            <a:avLst/>
          </a:prstGeom>
          <a:solidFill>
            <a:schemeClr val="accent2"/>
          </a:solidFill>
          <a:ln w="12700">
            <a:solidFill>
              <a:schemeClr val="accent2"/>
            </a:solidFill>
            <a:prstDash val="solid"/>
          </a:ln>
        </p:spPr>
      </p:sp>
      <p:sp>
        <p:nvSpPr>
          <p:cNvPr id="20" name="Text 17"/>
          <p:cNvSpPr txBox="1"/>
          <p:nvPr/>
        </p:nvSpPr>
        <p:spPr>
          <a:xfrm>
            <a:off x="6876288" y="1143000"/>
            <a:ext cx="1737360" cy="365760"/>
          </a:xfrm>
          <a:prstGeom prst="rect">
            <a:avLst/>
          </a:prstGeom>
          <a:noFill/>
          <a:ln/>
        </p:spPr>
        <p:txBody>
          <a:bodyPr wrap="square" lIns="0" tIns="0" rIns="0" bIns="0" rtlCol="0" anchor="ctr"/>
          <a:lstStyle/>
          <a:p>
            <a:pPr marL="0" indent="0">
              <a:buNone/>
            </a:pPr>
            <a:r>
              <a:rPr lang="en-US" sz="1600" b="1" dirty="0">
                <a:solidFill>
                  <a:schemeClr val="tx2"/>
                </a:solidFill>
                <a:latin typeface="Georgia" pitchFamily="34" charset="0"/>
                <a:ea typeface="Georgia" pitchFamily="34" charset="-122"/>
                <a:cs typeface="Georgia" pitchFamily="34" charset="-120"/>
              </a:rPr>
              <a:t>UI design</a:t>
            </a:r>
            <a:endParaRPr lang="en-US" sz="1600" dirty="0"/>
          </a:p>
        </p:txBody>
      </p:sp>
      <p:sp>
        <p:nvSpPr>
          <p:cNvPr id="21" name="Text 18"/>
          <p:cNvSpPr txBox="1"/>
          <p:nvPr/>
        </p:nvSpPr>
        <p:spPr>
          <a:xfrm>
            <a:off x="6876288" y="1554480"/>
            <a:ext cx="1737360" cy="1737360"/>
          </a:xfrm>
          <a:prstGeom prst="rect">
            <a:avLst/>
          </a:prstGeom>
          <a:noFill/>
          <a:ln/>
        </p:spPr>
        <p:txBody>
          <a:bodyPr wrap="square" lIns="0" tIns="0" rIns="0" bIns="0" rtlCol="0" anchor="t"/>
          <a:lstStyle/>
          <a:p>
            <a:pPr marL="342900" indent="-342900">
              <a:spcAft>
                <a:spcPts val="800"/>
              </a:spcAft>
              <a:buSzPct val="100000"/>
              <a:buChar char="•"/>
            </a:pPr>
            <a:r>
              <a:rPr lang="en-US" sz="1350" dirty="0">
                <a:solidFill>
                  <a:schemeClr val="tx1"/>
                </a:solidFill>
              </a:rPr>
              <a:t>Large, clear buttons</a:t>
            </a:r>
            <a:endParaRPr lang="en-US" sz="1350" dirty="0"/>
          </a:p>
          <a:p>
            <a:pPr marL="342900" indent="-342900">
              <a:spcAft>
                <a:spcPts val="800"/>
              </a:spcAft>
              <a:buSzPct val="100000"/>
              <a:buChar char="•"/>
            </a:pPr>
            <a:r>
              <a:rPr lang="en-US" sz="1350" dirty="0">
                <a:solidFill>
                  <a:schemeClr val="tx1"/>
                </a:solidFill>
              </a:rPr>
              <a:t>Orange and green for actions</a:t>
            </a:r>
            <a:endParaRPr lang="en-US" sz="1350" dirty="0"/>
          </a:p>
        </p:txBody>
      </p:sp>
      <p:sp>
        <p:nvSpPr>
          <p:cNvPr id="22" name="Colour swatch"/>
          <p:cNvSpPr/>
          <p:nvPr/>
        </p:nvSpPr>
        <p:spPr>
          <a:xfrm>
            <a:off x="457200" y="3611880"/>
            <a:ext cx="777240" cy="777240"/>
          </a:xfrm>
          <a:prstGeom prst="roundRect">
            <a:avLst>
              <a:gd name="adj" fmla="val 11765"/>
            </a:avLst>
          </a:prstGeom>
          <a:solidFill>
            <a:srgbClr val="2D5A3D"/>
          </a:solidFill>
          <a:ln w="12700">
            <a:solidFill>
              <a:srgbClr val="BBBBBB"/>
            </a:solidFill>
            <a:prstDash val="solid"/>
          </a:ln>
        </p:spPr>
      </p:sp>
      <p:sp>
        <p:nvSpPr>
          <p:cNvPr id="23" name="Text 20"/>
          <p:cNvSpPr txBox="1"/>
          <p:nvPr/>
        </p:nvSpPr>
        <p:spPr>
          <a:xfrm>
            <a:off x="1325880" y="3611880"/>
            <a:ext cx="1828800" cy="777240"/>
          </a:xfrm>
          <a:prstGeom prst="rect">
            <a:avLst/>
          </a:prstGeom>
          <a:noFill/>
          <a:ln/>
        </p:spPr>
        <p:txBody>
          <a:bodyPr wrap="square" lIns="0" tIns="0" rIns="0" bIns="0" rtlCol="0" anchor="ctr"/>
          <a:lstStyle/>
          <a:p>
            <a:pPr marL="0" indent="0">
              <a:buNone/>
            </a:pPr>
            <a:r>
              <a:rPr lang="en-US" sz="1400" b="1" dirty="0">
                <a:solidFill>
                  <a:schemeClr val="tx2"/>
                </a:solidFill>
              </a:rPr>
              <a:t>Forest green</a:t>
            </a:r>
            <a:endParaRPr lang="en-US" sz="1400" dirty="0"/>
          </a:p>
          <a:p>
            <a:pPr marL="0" indent="0">
              <a:buNone/>
            </a:pPr>
            <a:r>
              <a:rPr lang="en-US" sz="1150" dirty="0">
                <a:solidFill>
                  <a:schemeClr val="tx1"/>
                </a:solidFill>
              </a:rPr>
              <a:t>Nature, mountains, forests</a:t>
            </a:r>
            <a:endParaRPr lang="en-US" sz="1400" dirty="0"/>
          </a:p>
        </p:txBody>
      </p:sp>
      <p:sp>
        <p:nvSpPr>
          <p:cNvPr id="24" name="Colour swatch"/>
          <p:cNvSpPr/>
          <p:nvPr/>
        </p:nvSpPr>
        <p:spPr>
          <a:xfrm>
            <a:off x="3264408" y="3611880"/>
            <a:ext cx="777240" cy="777240"/>
          </a:xfrm>
          <a:prstGeom prst="roundRect">
            <a:avLst>
              <a:gd name="adj" fmla="val 11765"/>
            </a:avLst>
          </a:prstGeom>
          <a:solidFill>
            <a:srgbClr val="C0592B"/>
          </a:solidFill>
          <a:ln w="12700">
            <a:solidFill>
              <a:srgbClr val="BBBBBB"/>
            </a:solidFill>
            <a:prstDash val="solid"/>
          </a:ln>
        </p:spPr>
      </p:sp>
      <p:sp>
        <p:nvSpPr>
          <p:cNvPr id="25" name="Text 22"/>
          <p:cNvSpPr txBox="1"/>
          <p:nvPr/>
        </p:nvSpPr>
        <p:spPr>
          <a:xfrm>
            <a:off x="4133088" y="3611880"/>
            <a:ext cx="1828800" cy="777240"/>
          </a:xfrm>
          <a:prstGeom prst="rect">
            <a:avLst/>
          </a:prstGeom>
          <a:noFill/>
          <a:ln/>
        </p:spPr>
        <p:txBody>
          <a:bodyPr wrap="square" lIns="0" tIns="0" rIns="0" bIns="0" rtlCol="0" anchor="ctr"/>
          <a:lstStyle/>
          <a:p>
            <a:pPr marL="0" indent="0">
              <a:buNone/>
            </a:pPr>
            <a:r>
              <a:rPr lang="en-US" sz="1400" b="1" dirty="0">
                <a:solidFill>
                  <a:schemeClr val="tx2"/>
                </a:solidFill>
              </a:rPr>
              <a:t>Burnt orange</a:t>
            </a:r>
            <a:endParaRPr lang="en-US" sz="1400" dirty="0"/>
          </a:p>
          <a:p>
            <a:pPr marL="0" indent="0">
              <a:buNone/>
            </a:pPr>
            <a:r>
              <a:rPr lang="en-US" sz="1150" dirty="0">
                <a:solidFill>
                  <a:schemeClr val="tx1"/>
                </a:solidFill>
              </a:rPr>
              <a:t>Excitement and action buttons</a:t>
            </a:r>
            <a:endParaRPr lang="en-US" sz="1400" dirty="0"/>
          </a:p>
        </p:txBody>
      </p:sp>
      <p:sp>
        <p:nvSpPr>
          <p:cNvPr id="26" name="Colour swatch"/>
          <p:cNvSpPr/>
          <p:nvPr/>
        </p:nvSpPr>
        <p:spPr>
          <a:xfrm>
            <a:off x="6071616" y="3611880"/>
            <a:ext cx="777240" cy="777240"/>
          </a:xfrm>
          <a:prstGeom prst="roundRect">
            <a:avLst>
              <a:gd name="adj" fmla="val 11765"/>
            </a:avLst>
          </a:prstGeom>
          <a:solidFill>
            <a:srgbClr val="E4D1B9"/>
          </a:solidFill>
          <a:ln w="12700">
            <a:solidFill>
              <a:srgbClr val="BBBBBB"/>
            </a:solidFill>
            <a:prstDash val="solid"/>
          </a:ln>
        </p:spPr>
      </p:sp>
      <p:sp>
        <p:nvSpPr>
          <p:cNvPr id="27" name="Text 24"/>
          <p:cNvSpPr txBox="1"/>
          <p:nvPr/>
        </p:nvSpPr>
        <p:spPr>
          <a:xfrm>
            <a:off x="6940296" y="3611880"/>
            <a:ext cx="1828800" cy="777240"/>
          </a:xfrm>
          <a:prstGeom prst="rect">
            <a:avLst/>
          </a:prstGeom>
          <a:noFill/>
          <a:ln/>
        </p:spPr>
        <p:txBody>
          <a:bodyPr wrap="square" lIns="0" tIns="0" rIns="0" bIns="0" rtlCol="0" anchor="ctr"/>
          <a:lstStyle/>
          <a:p>
            <a:pPr marL="0" indent="0">
              <a:buNone/>
            </a:pPr>
            <a:r>
              <a:rPr lang="en-US" sz="1400" b="1" dirty="0">
                <a:solidFill>
                  <a:schemeClr val="tx2"/>
                </a:solidFill>
              </a:rPr>
              <a:t>Sand beige</a:t>
            </a:r>
            <a:endParaRPr lang="en-US" sz="1400" dirty="0"/>
          </a:p>
          <a:p>
            <a:pPr marL="0" indent="0">
              <a:buNone/>
            </a:pPr>
            <a:r>
              <a:rPr lang="en-US" sz="1150" dirty="0">
                <a:solidFill>
                  <a:schemeClr val="tx1"/>
                </a:solidFill>
              </a:rPr>
              <a:t>Calm, outdoor, Western Cape</a:t>
            </a:r>
            <a:endParaRPr lang="en-US" sz="1400" dirty="0"/>
          </a:p>
        </p:txBody>
      </p:sp>
      <p:sp>
        <p:nvSpPr>
          <p:cNvPr id="5" name="Slide Number Placeholder 0"/>
          <p:cNvSpPr>
            <a:spLocks noGrp="1"/>
          </p:cNvSpPr>
          <p:nvPr>
            <p:ph type="sldNum" sz="quarter" idx="4294967295"/>
          </p:nvPr>
        </p:nvSpPr>
        <p:spPr>
          <a:xfrm>
            <a:off x="841248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tx2"/>
                </a:solidFill>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28600"/>
            <a:ext cx="6675120" cy="594360"/>
          </a:xfrm>
          <a:prstGeom prst="rect">
            <a:avLst/>
          </a:prstGeom>
          <a:noFill/>
          <a:ln/>
        </p:spPr>
        <p:txBody>
          <a:bodyPr wrap="square" lIns="0" tIns="0" rIns="0" bIns="0" rtlCol="0" anchor="ctr"/>
          <a:lstStyle/>
          <a:p>
            <a:pPr marL="0" indent="0">
              <a:buNone/>
            </a:pPr>
            <a:r>
              <a:rPr lang="en-US" sz="2600" b="1" dirty="0">
                <a:solidFill>
                  <a:schemeClr val="tx2"/>
                </a:solidFill>
                <a:latin typeface="Georgia" pitchFamily="34" charset="0"/>
                <a:ea typeface="Georgia" pitchFamily="34" charset="-122"/>
                <a:cs typeface="Georgia" pitchFamily="34" charset="-120"/>
              </a:rPr>
              <a:t>Our logo</a:t>
            </a:r>
            <a:endParaRPr lang="en-US" sz="2600" dirty="0"/>
          </a:p>
        </p:txBody>
      </p:sp>
      <p:sp>
        <p:nvSpPr>
          <p:cNvPr id="3" name="Presenter tag"/>
          <p:cNvSpPr/>
          <p:nvPr/>
        </p:nvSpPr>
        <p:spPr>
          <a:xfrm>
            <a:off x="7269480" y="347472"/>
            <a:ext cx="1463040" cy="329184"/>
          </a:xfrm>
          <a:prstGeom prst="roundRect">
            <a:avLst>
              <a:gd name="adj" fmla="val 50000"/>
            </a:avLst>
          </a:prstGeom>
          <a:solidFill>
            <a:schemeClr val="accent2"/>
          </a:solidFill>
          <a:ln w="12700">
            <a:solidFill>
              <a:schemeClr val="accent2"/>
            </a:solidFill>
            <a:prstDash val="solid"/>
          </a:ln>
        </p:spPr>
      </p:sp>
      <p:sp>
        <p:nvSpPr>
          <p:cNvPr id="4" name="Text 2"/>
          <p:cNvSpPr txBox="1"/>
          <p:nvPr/>
        </p:nvSpPr>
        <p:spPr>
          <a:xfrm>
            <a:off x="7269480" y="347472"/>
            <a:ext cx="1463040" cy="329184"/>
          </a:xfrm>
          <a:prstGeom prst="rect">
            <a:avLst/>
          </a:prstGeom>
          <a:noFill/>
          <a:ln/>
        </p:spPr>
        <p:txBody>
          <a:bodyPr wrap="square" lIns="0" tIns="0" rIns="0" bIns="0" rtlCol="0" anchor="ctr"/>
          <a:lstStyle/>
          <a:p>
            <a:pPr marL="0" indent="0" algn="ctr">
              <a:buNone/>
            </a:pPr>
            <a:r>
              <a:rPr lang="en-US" sz="1100" b="1" dirty="0">
                <a:solidFill>
                  <a:schemeClr val="bg1"/>
                </a:solidFill>
              </a:rPr>
              <a:t>Presenter: Asukia</a:t>
            </a:r>
            <a:endParaRPr lang="en-US" sz="1100" dirty="0"/>
          </a:p>
        </p:txBody>
      </p:sp>
      <p:sp>
        <p:nvSpPr>
          <p:cNvPr id="6" name="Card"/>
          <p:cNvSpPr/>
          <p:nvPr/>
        </p:nvSpPr>
        <p:spPr>
          <a:xfrm>
            <a:off x="457200" y="1005840"/>
            <a:ext cx="3291840" cy="3566160"/>
          </a:xfrm>
          <a:prstGeom prst="roundRect">
            <a:avLst>
              <a:gd name="adj" fmla="val 2222"/>
            </a:avLst>
          </a:prstGeom>
          <a:solidFill>
            <a:schemeClr val="bg1"/>
          </a:solidFill>
          <a:ln w="12700">
            <a:solidFill>
              <a:srgbClr val="D9CBB5"/>
            </a:solidFill>
            <a:prstDash val="solid"/>
          </a:ln>
        </p:spPr>
      </p:sp>
      <p:pic>
        <p:nvPicPr>
          <p:cNvPr id="7" name="Image 0" descr="Adventure Escape SA logo"/>
          <p:cNvPicPr>
            <a:picLocks noChangeAspect="1"/>
          </p:cNvPicPr>
          <p:nvPr/>
        </p:nvPicPr>
        <p:blipFill>
          <a:blip r:embed="rId3"/>
          <a:stretch>
            <a:fillRect/>
          </a:stretch>
        </p:blipFill>
        <p:spPr>
          <a:xfrm>
            <a:off x="731520" y="1280160"/>
            <a:ext cx="2743200" cy="2743200"/>
          </a:xfrm>
          <a:prstGeom prst="rect">
            <a:avLst/>
          </a:prstGeom>
        </p:spPr>
      </p:pic>
      <p:sp>
        <p:nvSpPr>
          <p:cNvPr id="8" name="Text 4"/>
          <p:cNvSpPr txBox="1"/>
          <p:nvPr/>
        </p:nvSpPr>
        <p:spPr>
          <a:xfrm>
            <a:off x="457200" y="4114800"/>
            <a:ext cx="3291840" cy="365760"/>
          </a:xfrm>
          <a:prstGeom prst="rect">
            <a:avLst/>
          </a:prstGeom>
          <a:noFill/>
          <a:ln/>
        </p:spPr>
        <p:txBody>
          <a:bodyPr wrap="square" lIns="0" tIns="0" rIns="0" bIns="0" rtlCol="0" anchor="ctr"/>
          <a:lstStyle/>
          <a:p>
            <a:pPr marL="0" indent="0" algn="ctr">
              <a:buNone/>
            </a:pPr>
            <a:r>
              <a:rPr lang="en-US" sz="1300" i="1" dirty="0">
                <a:solidFill>
                  <a:schemeClr val="tx2"/>
                </a:solidFill>
              </a:rPr>
              <a:t>Explore. Discover. Thrive.</a:t>
            </a:r>
            <a:endParaRPr lang="en-US" sz="1300" dirty="0"/>
          </a:p>
        </p:txBody>
      </p:sp>
      <p:sp>
        <p:nvSpPr>
          <p:cNvPr id="9" name="Text 5"/>
          <p:cNvSpPr txBox="1"/>
          <p:nvPr/>
        </p:nvSpPr>
        <p:spPr>
          <a:xfrm>
            <a:off x="4023360" y="1005840"/>
            <a:ext cx="4663440" cy="3566160"/>
          </a:xfrm>
          <a:prstGeom prst="rect">
            <a:avLst/>
          </a:prstGeom>
          <a:noFill/>
          <a:ln/>
        </p:spPr>
        <p:txBody>
          <a:bodyPr wrap="square" rtlCol="0" anchor="t"/>
          <a:lstStyle/>
          <a:p>
            <a:pPr marL="342900" indent="-342900">
              <a:spcAft>
                <a:spcPts val="700"/>
              </a:spcAft>
              <a:buSzPct val="100000"/>
              <a:buChar char="•"/>
            </a:pPr>
            <a:r>
              <a:rPr lang="en-US" sz="1400" dirty="0">
                <a:solidFill>
                  <a:schemeClr val="tx1"/>
                </a:solidFill>
              </a:rPr>
              <a:t>Chosen by group vote: most members found it the most professional and exciting</a:t>
            </a:r>
            <a:endParaRPr lang="en-US" sz="1400" dirty="0"/>
          </a:p>
          <a:p>
            <a:pPr marL="342900" indent="-342900">
              <a:spcAft>
                <a:spcPts val="700"/>
              </a:spcAft>
              <a:buSzPct val="100000"/>
              <a:buChar char="•"/>
            </a:pPr>
            <a:r>
              <a:rPr lang="en-US" sz="1400" dirty="0">
                <a:solidFill>
                  <a:schemeClr val="tx1"/>
                </a:solidFill>
              </a:rPr>
              <a:t>Forest green stands for nature, mountains and forests</a:t>
            </a:r>
            <a:endParaRPr lang="en-US" sz="1400" dirty="0"/>
          </a:p>
          <a:p>
            <a:pPr marL="342900" indent="-342900">
              <a:spcAft>
                <a:spcPts val="700"/>
              </a:spcAft>
              <a:buSzPct val="100000"/>
              <a:buChar char="•"/>
            </a:pPr>
            <a:r>
              <a:rPr lang="en-US" sz="1400" dirty="0">
                <a:solidFill>
                  <a:schemeClr val="tx1"/>
                </a:solidFill>
              </a:rPr>
              <a:t>Burnt orange sun and dotted trail ring show a rising or setting sun</a:t>
            </a:r>
            <a:endParaRPr lang="en-US" sz="1400" dirty="0"/>
          </a:p>
          <a:p>
            <a:pPr marL="342900" indent="-342900">
              <a:spcAft>
                <a:spcPts val="700"/>
              </a:spcAft>
              <a:buSzPct val="100000"/>
              <a:buChar char="•"/>
            </a:pPr>
            <a:r>
              <a:rPr lang="en-US" sz="1400" dirty="0">
                <a:solidFill>
                  <a:schemeClr val="tx1"/>
                </a:solidFill>
              </a:rPr>
              <a:t>Sand beige badge feels outdoorsy and matches Western Cape scenery</a:t>
            </a:r>
            <a:endParaRPr lang="en-US" sz="1400" dirty="0"/>
          </a:p>
          <a:p>
            <a:pPr marL="342900" indent="-342900">
              <a:spcAft>
                <a:spcPts val="700"/>
              </a:spcAft>
              <a:buSzPct val="100000"/>
              <a:buChar char="•"/>
            </a:pPr>
            <a:r>
              <a:rPr lang="en-US" sz="1400" dirty="0">
                <a:solidFill>
                  <a:schemeClr val="tx1"/>
                </a:solidFill>
              </a:rPr>
              <a:t>Clear even as a small app icon</a:t>
            </a:r>
            <a:endParaRPr lang="en-US" sz="1400" dirty="0"/>
          </a:p>
          <a:p>
            <a:pPr marL="342900" indent="-342900">
              <a:spcAft>
                <a:spcPts val="700"/>
              </a:spcAft>
              <a:buSzPct val="100000"/>
              <a:buChar char="•"/>
            </a:pPr>
            <a:r>
              <a:rPr lang="en-US" sz="1400" dirty="0">
                <a:solidFill>
                  <a:schemeClr val="tx1"/>
                </a:solidFill>
              </a:rPr>
              <a:t>Not chosen: the black and white logo (too plain) and the third logo (too simple)</a:t>
            </a:r>
            <a:endParaRPr lang="en-US" sz="1400" dirty="0"/>
          </a:p>
        </p:txBody>
      </p:sp>
      <p:sp>
        <p:nvSpPr>
          <p:cNvPr id="25" name="Slide Number Placeholder 0"/>
          <p:cNvSpPr>
            <a:spLocks noGrp="1"/>
          </p:cNvSpPr>
          <p:nvPr>
            <p:ph type="sldNum" sz="quarter" idx="4294967295"/>
          </p:nvPr>
        </p:nvSpPr>
        <p:spPr>
          <a:xfrm>
            <a:off x="841248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tx2"/>
                </a:solidFill>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28600"/>
            <a:ext cx="6675120" cy="594360"/>
          </a:xfrm>
          <a:prstGeom prst="rect">
            <a:avLst/>
          </a:prstGeom>
          <a:noFill/>
          <a:ln/>
        </p:spPr>
        <p:txBody>
          <a:bodyPr wrap="square" lIns="0" tIns="0" rIns="0" bIns="0" rtlCol="0" anchor="ctr"/>
          <a:lstStyle/>
          <a:p>
            <a:pPr marL="0" indent="0">
              <a:buNone/>
            </a:pPr>
            <a:r>
              <a:rPr lang="en-US" sz="2600" b="1" dirty="0">
                <a:solidFill>
                  <a:schemeClr val="tx2"/>
                </a:solidFill>
                <a:latin typeface="Georgia" pitchFamily="34" charset="0"/>
                <a:ea typeface="Georgia" pitchFamily="34" charset="-122"/>
                <a:cs typeface="Georgia" pitchFamily="34" charset="-120"/>
              </a:rPr>
              <a:t>Tools we used</a:t>
            </a:r>
            <a:endParaRPr lang="en-US" sz="2600" dirty="0"/>
          </a:p>
        </p:txBody>
      </p:sp>
      <p:sp>
        <p:nvSpPr>
          <p:cNvPr id="3" name="Presenter tag"/>
          <p:cNvSpPr/>
          <p:nvPr/>
        </p:nvSpPr>
        <p:spPr>
          <a:xfrm>
            <a:off x="7269480" y="347472"/>
            <a:ext cx="1463040" cy="329184"/>
          </a:xfrm>
          <a:prstGeom prst="roundRect">
            <a:avLst>
              <a:gd name="adj" fmla="val 50000"/>
            </a:avLst>
          </a:prstGeom>
          <a:solidFill>
            <a:schemeClr val="accent2"/>
          </a:solidFill>
          <a:ln w="12700">
            <a:solidFill>
              <a:schemeClr val="accent2"/>
            </a:solidFill>
            <a:prstDash val="solid"/>
          </a:ln>
        </p:spPr>
      </p:sp>
      <p:sp>
        <p:nvSpPr>
          <p:cNvPr id="4" name="Text 2"/>
          <p:cNvSpPr txBox="1"/>
          <p:nvPr/>
        </p:nvSpPr>
        <p:spPr>
          <a:xfrm>
            <a:off x="7269480" y="347472"/>
            <a:ext cx="1463040" cy="329184"/>
          </a:xfrm>
          <a:prstGeom prst="rect">
            <a:avLst/>
          </a:prstGeom>
          <a:noFill/>
          <a:ln/>
        </p:spPr>
        <p:txBody>
          <a:bodyPr wrap="square" lIns="0" tIns="0" rIns="0" bIns="0" rtlCol="0" anchor="ctr"/>
          <a:lstStyle/>
          <a:p>
            <a:pPr marL="0" indent="0" algn="ctr">
              <a:buNone/>
            </a:pPr>
            <a:r>
              <a:rPr lang="en-US" sz="1100" b="1" dirty="0">
                <a:solidFill>
                  <a:schemeClr val="bg1"/>
                </a:solidFill>
              </a:rPr>
              <a:t>Presenter: Itumeleng</a:t>
            </a:r>
            <a:endParaRPr lang="en-US" sz="1100" dirty="0"/>
          </a:p>
        </p:txBody>
      </p:sp>
      <p:sp>
        <p:nvSpPr>
          <p:cNvPr id="6" name="Card"/>
          <p:cNvSpPr/>
          <p:nvPr/>
        </p:nvSpPr>
        <p:spPr>
          <a:xfrm>
            <a:off x="457200" y="1051560"/>
            <a:ext cx="2651760" cy="1600200"/>
          </a:xfrm>
          <a:prstGeom prst="roundRect">
            <a:avLst>
              <a:gd name="adj" fmla="val 4571"/>
            </a:avLst>
          </a:prstGeom>
          <a:solidFill>
            <a:schemeClr val="bg1"/>
          </a:solidFill>
          <a:ln w="12700">
            <a:solidFill>
              <a:srgbClr val="D9CBB5"/>
            </a:solidFill>
            <a:prstDash val="solid"/>
          </a:ln>
        </p:spPr>
      </p:sp>
      <p:sp>
        <p:nvSpPr>
          <p:cNvPr id="7" name="Number badge"/>
          <p:cNvSpPr/>
          <p:nvPr/>
        </p:nvSpPr>
        <p:spPr>
          <a:xfrm>
            <a:off x="594360" y="1188720"/>
            <a:ext cx="365760" cy="365760"/>
          </a:xfrm>
          <a:prstGeom prst="ellipse">
            <a:avLst/>
          </a:prstGeom>
          <a:solidFill>
            <a:schemeClr val="accent2"/>
          </a:solidFill>
          <a:ln w="12700">
            <a:solidFill>
              <a:schemeClr val="accent2"/>
            </a:solidFill>
            <a:prstDash val="solid"/>
          </a:ln>
        </p:spPr>
      </p:sp>
      <p:sp>
        <p:nvSpPr>
          <p:cNvPr id="8" name="Text 5"/>
          <p:cNvSpPr txBox="1"/>
          <p:nvPr/>
        </p:nvSpPr>
        <p:spPr>
          <a:xfrm>
            <a:off x="594360" y="1188720"/>
            <a:ext cx="365760" cy="365760"/>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9" name="Text 6"/>
          <p:cNvSpPr txBox="1"/>
          <p:nvPr/>
        </p:nvSpPr>
        <p:spPr>
          <a:xfrm>
            <a:off x="1051560" y="1161288"/>
            <a:ext cx="1965960" cy="457200"/>
          </a:xfrm>
          <a:prstGeom prst="rect">
            <a:avLst/>
          </a:prstGeom>
          <a:noFill/>
          <a:ln/>
        </p:spPr>
        <p:txBody>
          <a:bodyPr wrap="square" lIns="0" tIns="0" rIns="0" bIns="0" rtlCol="0" anchor="ctr"/>
          <a:lstStyle/>
          <a:p>
            <a:pPr marL="0" indent="0">
              <a:buNone/>
            </a:pPr>
            <a:r>
              <a:rPr lang="en-US" sz="1400" b="1" dirty="0">
                <a:solidFill>
                  <a:schemeClr val="tx2"/>
                </a:solidFill>
                <a:latin typeface="Georgia" pitchFamily="34" charset="0"/>
                <a:ea typeface="Georgia" pitchFamily="34" charset="-122"/>
                <a:cs typeface="Georgia" pitchFamily="34" charset="-120"/>
              </a:rPr>
              <a:t>Figma</a:t>
            </a:r>
            <a:endParaRPr lang="en-US" sz="1400" dirty="0"/>
          </a:p>
        </p:txBody>
      </p:sp>
      <p:sp>
        <p:nvSpPr>
          <p:cNvPr id="10" name="Text 7"/>
          <p:cNvSpPr txBox="1"/>
          <p:nvPr/>
        </p:nvSpPr>
        <p:spPr>
          <a:xfrm>
            <a:off x="594360" y="1691640"/>
            <a:ext cx="2377440" cy="868680"/>
          </a:xfrm>
          <a:prstGeom prst="rect">
            <a:avLst/>
          </a:prstGeom>
          <a:noFill/>
          <a:ln/>
        </p:spPr>
        <p:txBody>
          <a:bodyPr wrap="square" lIns="0" tIns="0" rIns="0" bIns="0" rtlCol="0" anchor="t"/>
          <a:lstStyle/>
          <a:p>
            <a:pPr marL="0" indent="0">
              <a:buNone/>
            </a:pPr>
            <a:r>
              <a:rPr lang="en-US" sz="1250" dirty="0">
                <a:solidFill>
                  <a:schemeClr val="tx1"/>
                </a:solidFill>
              </a:rPr>
              <a:t>Low-fidelity wireframes for the website and mobile app</a:t>
            </a:r>
            <a:endParaRPr lang="en-US" sz="1250" dirty="0"/>
          </a:p>
        </p:txBody>
      </p:sp>
      <p:sp>
        <p:nvSpPr>
          <p:cNvPr id="11" name="Card"/>
          <p:cNvSpPr/>
          <p:nvPr/>
        </p:nvSpPr>
        <p:spPr>
          <a:xfrm>
            <a:off x="3264408" y="1051560"/>
            <a:ext cx="2651760" cy="1600200"/>
          </a:xfrm>
          <a:prstGeom prst="roundRect">
            <a:avLst>
              <a:gd name="adj" fmla="val 4571"/>
            </a:avLst>
          </a:prstGeom>
          <a:solidFill>
            <a:schemeClr val="bg1"/>
          </a:solidFill>
          <a:ln w="12700">
            <a:solidFill>
              <a:srgbClr val="D9CBB5"/>
            </a:solidFill>
            <a:prstDash val="solid"/>
          </a:ln>
        </p:spPr>
      </p:sp>
      <p:sp>
        <p:nvSpPr>
          <p:cNvPr id="12" name="Number badge"/>
          <p:cNvSpPr/>
          <p:nvPr/>
        </p:nvSpPr>
        <p:spPr>
          <a:xfrm>
            <a:off x="3401568" y="1188720"/>
            <a:ext cx="365760" cy="365760"/>
          </a:xfrm>
          <a:prstGeom prst="ellipse">
            <a:avLst/>
          </a:prstGeom>
          <a:solidFill>
            <a:schemeClr val="accent2"/>
          </a:solidFill>
          <a:ln w="12700">
            <a:solidFill>
              <a:schemeClr val="accent2"/>
            </a:solidFill>
            <a:prstDash val="solid"/>
          </a:ln>
        </p:spPr>
      </p:sp>
      <p:sp>
        <p:nvSpPr>
          <p:cNvPr id="13" name="Text 10"/>
          <p:cNvSpPr txBox="1"/>
          <p:nvPr/>
        </p:nvSpPr>
        <p:spPr>
          <a:xfrm>
            <a:off x="3401568" y="1188720"/>
            <a:ext cx="365760" cy="365760"/>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4" name="Text 11"/>
          <p:cNvSpPr txBox="1"/>
          <p:nvPr/>
        </p:nvSpPr>
        <p:spPr>
          <a:xfrm>
            <a:off x="3858768" y="1161288"/>
            <a:ext cx="1965960" cy="457200"/>
          </a:xfrm>
          <a:prstGeom prst="rect">
            <a:avLst/>
          </a:prstGeom>
          <a:noFill/>
          <a:ln/>
        </p:spPr>
        <p:txBody>
          <a:bodyPr wrap="square" lIns="0" tIns="0" rIns="0" bIns="0" rtlCol="0" anchor="ctr"/>
          <a:lstStyle/>
          <a:p>
            <a:pPr marL="0" indent="0">
              <a:buNone/>
            </a:pPr>
            <a:r>
              <a:rPr lang="en-US" sz="1400" b="1" dirty="0">
                <a:solidFill>
                  <a:schemeClr val="tx2"/>
                </a:solidFill>
                <a:latin typeface="Georgia" pitchFamily="34" charset="0"/>
                <a:ea typeface="Georgia" pitchFamily="34" charset="-122"/>
                <a:cs typeface="Georgia" pitchFamily="34" charset="-120"/>
              </a:rPr>
              <a:t>Visual Studio Code</a:t>
            </a:r>
            <a:endParaRPr lang="en-US" sz="1400" dirty="0"/>
          </a:p>
        </p:txBody>
      </p:sp>
      <p:sp>
        <p:nvSpPr>
          <p:cNvPr id="15" name="Text 12"/>
          <p:cNvSpPr txBox="1"/>
          <p:nvPr/>
        </p:nvSpPr>
        <p:spPr>
          <a:xfrm>
            <a:off x="3401568" y="1691640"/>
            <a:ext cx="2377440" cy="868680"/>
          </a:xfrm>
          <a:prstGeom prst="rect">
            <a:avLst/>
          </a:prstGeom>
          <a:noFill/>
          <a:ln/>
        </p:spPr>
        <p:txBody>
          <a:bodyPr wrap="square" lIns="0" tIns="0" rIns="0" bIns="0" rtlCol="0" anchor="t"/>
          <a:lstStyle/>
          <a:p>
            <a:pPr marL="0" indent="0">
              <a:buNone/>
            </a:pPr>
            <a:r>
              <a:rPr lang="en-US" sz="1250" dirty="0">
                <a:solidFill>
                  <a:schemeClr val="tx1"/>
                </a:solidFill>
              </a:rPr>
              <a:t>Writing the code for the website and mobile app</a:t>
            </a:r>
            <a:endParaRPr lang="en-US" sz="1250" dirty="0"/>
          </a:p>
        </p:txBody>
      </p:sp>
      <p:sp>
        <p:nvSpPr>
          <p:cNvPr id="16" name="Card"/>
          <p:cNvSpPr/>
          <p:nvPr/>
        </p:nvSpPr>
        <p:spPr>
          <a:xfrm>
            <a:off x="6071616" y="1051560"/>
            <a:ext cx="2651760" cy="1600200"/>
          </a:xfrm>
          <a:prstGeom prst="roundRect">
            <a:avLst>
              <a:gd name="adj" fmla="val 4571"/>
            </a:avLst>
          </a:prstGeom>
          <a:solidFill>
            <a:schemeClr val="bg1"/>
          </a:solidFill>
          <a:ln w="12700">
            <a:solidFill>
              <a:srgbClr val="D9CBB5"/>
            </a:solidFill>
            <a:prstDash val="solid"/>
          </a:ln>
        </p:spPr>
      </p:sp>
      <p:sp>
        <p:nvSpPr>
          <p:cNvPr id="17" name="Number badge"/>
          <p:cNvSpPr/>
          <p:nvPr/>
        </p:nvSpPr>
        <p:spPr>
          <a:xfrm>
            <a:off x="6208776" y="1188720"/>
            <a:ext cx="365760" cy="365760"/>
          </a:xfrm>
          <a:prstGeom prst="ellipse">
            <a:avLst/>
          </a:prstGeom>
          <a:solidFill>
            <a:schemeClr val="accent2"/>
          </a:solidFill>
          <a:ln w="12700">
            <a:solidFill>
              <a:schemeClr val="accent2"/>
            </a:solidFill>
            <a:prstDash val="solid"/>
          </a:ln>
        </p:spPr>
      </p:sp>
      <p:sp>
        <p:nvSpPr>
          <p:cNvPr id="18" name="Text 15"/>
          <p:cNvSpPr txBox="1"/>
          <p:nvPr/>
        </p:nvSpPr>
        <p:spPr>
          <a:xfrm>
            <a:off x="6208776" y="1188720"/>
            <a:ext cx="365760" cy="365760"/>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9" name="Text 16"/>
          <p:cNvSpPr txBox="1"/>
          <p:nvPr/>
        </p:nvSpPr>
        <p:spPr>
          <a:xfrm>
            <a:off x="6665976" y="1161288"/>
            <a:ext cx="1965960" cy="457200"/>
          </a:xfrm>
          <a:prstGeom prst="rect">
            <a:avLst/>
          </a:prstGeom>
          <a:noFill/>
          <a:ln/>
        </p:spPr>
        <p:txBody>
          <a:bodyPr wrap="square" lIns="0" tIns="0" rIns="0" bIns="0" rtlCol="0" anchor="ctr"/>
          <a:lstStyle/>
          <a:p>
            <a:pPr marL="0" indent="0">
              <a:buNone/>
            </a:pPr>
            <a:r>
              <a:rPr lang="en-US" sz="1400" b="1" dirty="0">
                <a:solidFill>
                  <a:schemeClr val="tx2"/>
                </a:solidFill>
                <a:latin typeface="Georgia" pitchFamily="34" charset="0"/>
                <a:ea typeface="Georgia" pitchFamily="34" charset="-122"/>
                <a:cs typeface="Georgia" pitchFamily="34" charset="-120"/>
              </a:rPr>
              <a:t>GitHub</a:t>
            </a:r>
            <a:endParaRPr lang="en-US" sz="1400" dirty="0"/>
          </a:p>
        </p:txBody>
      </p:sp>
      <p:sp>
        <p:nvSpPr>
          <p:cNvPr id="20" name="Text 17"/>
          <p:cNvSpPr txBox="1"/>
          <p:nvPr/>
        </p:nvSpPr>
        <p:spPr>
          <a:xfrm>
            <a:off x="6208776" y="1691640"/>
            <a:ext cx="2377440" cy="868680"/>
          </a:xfrm>
          <a:prstGeom prst="rect">
            <a:avLst/>
          </a:prstGeom>
          <a:noFill/>
          <a:ln/>
        </p:spPr>
        <p:txBody>
          <a:bodyPr wrap="square" lIns="0" tIns="0" rIns="0" bIns="0" rtlCol="0" anchor="t"/>
          <a:lstStyle/>
          <a:p>
            <a:pPr marL="0" indent="0">
              <a:buNone/>
            </a:pPr>
            <a:r>
              <a:rPr lang="en-US" sz="1250" dirty="0">
                <a:solidFill>
                  <a:schemeClr val="tx1"/>
                </a:solidFill>
              </a:rPr>
              <a:t>Version control: store, share, track and review code</a:t>
            </a:r>
            <a:endParaRPr lang="en-US" sz="1250" dirty="0"/>
          </a:p>
        </p:txBody>
      </p:sp>
      <p:sp>
        <p:nvSpPr>
          <p:cNvPr id="21" name="Card"/>
          <p:cNvSpPr/>
          <p:nvPr/>
        </p:nvSpPr>
        <p:spPr>
          <a:xfrm>
            <a:off x="457200" y="2834640"/>
            <a:ext cx="2651760" cy="1600200"/>
          </a:xfrm>
          <a:prstGeom prst="roundRect">
            <a:avLst>
              <a:gd name="adj" fmla="val 4571"/>
            </a:avLst>
          </a:prstGeom>
          <a:solidFill>
            <a:schemeClr val="bg1"/>
          </a:solidFill>
          <a:ln w="12700">
            <a:solidFill>
              <a:srgbClr val="D9CBB5"/>
            </a:solidFill>
            <a:prstDash val="solid"/>
          </a:ln>
        </p:spPr>
      </p:sp>
      <p:sp>
        <p:nvSpPr>
          <p:cNvPr id="22" name="Number badge"/>
          <p:cNvSpPr/>
          <p:nvPr/>
        </p:nvSpPr>
        <p:spPr>
          <a:xfrm>
            <a:off x="594360" y="2971800"/>
            <a:ext cx="365760" cy="365760"/>
          </a:xfrm>
          <a:prstGeom prst="ellipse">
            <a:avLst/>
          </a:prstGeom>
          <a:solidFill>
            <a:schemeClr val="accent2"/>
          </a:solidFill>
          <a:ln w="12700">
            <a:solidFill>
              <a:schemeClr val="accent2"/>
            </a:solidFill>
            <a:prstDash val="solid"/>
          </a:ln>
        </p:spPr>
      </p:sp>
      <p:sp>
        <p:nvSpPr>
          <p:cNvPr id="23" name="Text 20"/>
          <p:cNvSpPr txBox="1"/>
          <p:nvPr/>
        </p:nvSpPr>
        <p:spPr>
          <a:xfrm>
            <a:off x="594360" y="2971800"/>
            <a:ext cx="365760" cy="365760"/>
          </a:xfrm>
          <a:prstGeom prst="rect">
            <a:avLst/>
          </a:prstGeom>
          <a:noFill/>
          <a:ln/>
        </p:spPr>
        <p:txBody>
          <a:bodyPr wrap="square" lIns="0" tIns="0" rIns="0" bIns="0" rtlCol="0" anchor="ctr"/>
          <a:lstStyle/>
          <a:p>
            <a:pPr marL="0" indent="0" algn="ctr">
              <a:buNone/>
            </a:pPr>
            <a:r>
              <a:rPr lang="en-US" sz="1300" b="1" dirty="0">
                <a:solidFill>
                  <a:schemeClr val="bg1"/>
                </a:solidFill>
              </a:rPr>
              <a:t>4</a:t>
            </a:r>
            <a:endParaRPr lang="en-US" sz="1300" dirty="0"/>
          </a:p>
        </p:txBody>
      </p:sp>
      <p:sp>
        <p:nvSpPr>
          <p:cNvPr id="24" name="Text 21"/>
          <p:cNvSpPr txBox="1"/>
          <p:nvPr/>
        </p:nvSpPr>
        <p:spPr>
          <a:xfrm>
            <a:off x="1051560" y="2944368"/>
            <a:ext cx="1965960" cy="457200"/>
          </a:xfrm>
          <a:prstGeom prst="rect">
            <a:avLst/>
          </a:prstGeom>
          <a:noFill/>
          <a:ln/>
        </p:spPr>
        <p:txBody>
          <a:bodyPr wrap="square" lIns="0" tIns="0" rIns="0" bIns="0" rtlCol="0" anchor="ctr"/>
          <a:lstStyle/>
          <a:p>
            <a:pPr marL="0" indent="0">
              <a:buNone/>
            </a:pPr>
            <a:r>
              <a:rPr lang="en-US" sz="1400" b="1" dirty="0">
                <a:solidFill>
                  <a:schemeClr val="tx2"/>
                </a:solidFill>
                <a:latin typeface="Georgia" pitchFamily="34" charset="0"/>
                <a:ea typeface="Georgia" pitchFamily="34" charset="-122"/>
                <a:cs typeface="Georgia" pitchFamily="34" charset="-120"/>
              </a:rPr>
              <a:t>Google Drive / Microsoft</a:t>
            </a:r>
            <a:endParaRPr lang="en-US" sz="1400" dirty="0"/>
          </a:p>
        </p:txBody>
      </p:sp>
      <p:sp>
        <p:nvSpPr>
          <p:cNvPr id="25" name="Text 22"/>
          <p:cNvSpPr txBox="1"/>
          <p:nvPr/>
        </p:nvSpPr>
        <p:spPr>
          <a:xfrm>
            <a:off x="594360" y="3474720"/>
            <a:ext cx="2377440" cy="868680"/>
          </a:xfrm>
          <a:prstGeom prst="rect">
            <a:avLst/>
          </a:prstGeom>
          <a:noFill/>
          <a:ln/>
        </p:spPr>
        <p:txBody>
          <a:bodyPr wrap="square" lIns="0" tIns="0" rIns="0" bIns="0" rtlCol="0" anchor="t"/>
          <a:lstStyle/>
          <a:p>
            <a:pPr marL="0" indent="0">
              <a:buNone/>
            </a:pPr>
            <a:r>
              <a:rPr lang="en-US" sz="1250" dirty="0">
                <a:solidFill>
                  <a:schemeClr val="tx1"/>
                </a:solidFill>
              </a:rPr>
              <a:t>Share notes, documents and research</a:t>
            </a:r>
            <a:endParaRPr lang="en-US" sz="1250" dirty="0"/>
          </a:p>
        </p:txBody>
      </p:sp>
      <p:sp>
        <p:nvSpPr>
          <p:cNvPr id="26" name="Card"/>
          <p:cNvSpPr/>
          <p:nvPr/>
        </p:nvSpPr>
        <p:spPr>
          <a:xfrm>
            <a:off x="3264408" y="2834640"/>
            <a:ext cx="2651760" cy="1600200"/>
          </a:xfrm>
          <a:prstGeom prst="roundRect">
            <a:avLst>
              <a:gd name="adj" fmla="val 4571"/>
            </a:avLst>
          </a:prstGeom>
          <a:solidFill>
            <a:schemeClr val="bg1"/>
          </a:solidFill>
          <a:ln w="12700">
            <a:solidFill>
              <a:srgbClr val="D9CBB5"/>
            </a:solidFill>
            <a:prstDash val="solid"/>
          </a:ln>
        </p:spPr>
      </p:sp>
      <p:sp>
        <p:nvSpPr>
          <p:cNvPr id="27" name="Number badge"/>
          <p:cNvSpPr/>
          <p:nvPr/>
        </p:nvSpPr>
        <p:spPr>
          <a:xfrm>
            <a:off x="3401568" y="2971800"/>
            <a:ext cx="365760" cy="365760"/>
          </a:xfrm>
          <a:prstGeom prst="ellipse">
            <a:avLst/>
          </a:prstGeom>
          <a:solidFill>
            <a:schemeClr val="accent2"/>
          </a:solidFill>
          <a:ln w="12700">
            <a:solidFill>
              <a:schemeClr val="accent2"/>
            </a:solidFill>
            <a:prstDash val="solid"/>
          </a:ln>
        </p:spPr>
      </p:sp>
      <p:sp>
        <p:nvSpPr>
          <p:cNvPr id="28" name="Text 25"/>
          <p:cNvSpPr txBox="1"/>
          <p:nvPr/>
        </p:nvSpPr>
        <p:spPr>
          <a:xfrm>
            <a:off x="3401568" y="2971800"/>
            <a:ext cx="365760" cy="365760"/>
          </a:xfrm>
          <a:prstGeom prst="rect">
            <a:avLst/>
          </a:prstGeom>
          <a:noFill/>
          <a:ln/>
        </p:spPr>
        <p:txBody>
          <a:bodyPr wrap="square" lIns="0" tIns="0" rIns="0" bIns="0" rtlCol="0" anchor="ctr"/>
          <a:lstStyle/>
          <a:p>
            <a:pPr marL="0" indent="0" algn="ctr">
              <a:buNone/>
            </a:pPr>
            <a:r>
              <a:rPr lang="en-US" sz="1300" b="1" dirty="0">
                <a:solidFill>
                  <a:schemeClr val="bg1"/>
                </a:solidFill>
              </a:rPr>
              <a:t>5</a:t>
            </a:r>
            <a:endParaRPr lang="en-US" sz="1300" dirty="0"/>
          </a:p>
        </p:txBody>
      </p:sp>
      <p:sp>
        <p:nvSpPr>
          <p:cNvPr id="29" name="Text 26"/>
          <p:cNvSpPr txBox="1"/>
          <p:nvPr/>
        </p:nvSpPr>
        <p:spPr>
          <a:xfrm>
            <a:off x="3858768" y="2944368"/>
            <a:ext cx="1965960" cy="457200"/>
          </a:xfrm>
          <a:prstGeom prst="rect">
            <a:avLst/>
          </a:prstGeom>
          <a:noFill/>
          <a:ln/>
        </p:spPr>
        <p:txBody>
          <a:bodyPr wrap="square" lIns="0" tIns="0" rIns="0" bIns="0" rtlCol="0" anchor="ctr"/>
          <a:lstStyle/>
          <a:p>
            <a:pPr marL="0" indent="0">
              <a:buNone/>
            </a:pPr>
            <a:r>
              <a:rPr lang="en-US" sz="1400" b="1" dirty="0">
                <a:solidFill>
                  <a:schemeClr val="tx2"/>
                </a:solidFill>
                <a:latin typeface="Georgia" pitchFamily="34" charset="0"/>
                <a:ea typeface="Georgia" pitchFamily="34" charset="-122"/>
                <a:cs typeface="Georgia" pitchFamily="34" charset="-120"/>
              </a:rPr>
              <a:t>HTML, CSS, JS, React Native</a:t>
            </a:r>
            <a:endParaRPr lang="en-US" sz="1400" dirty="0"/>
          </a:p>
        </p:txBody>
      </p:sp>
      <p:sp>
        <p:nvSpPr>
          <p:cNvPr id="30" name="Text 27"/>
          <p:cNvSpPr txBox="1"/>
          <p:nvPr/>
        </p:nvSpPr>
        <p:spPr>
          <a:xfrm>
            <a:off x="3401568" y="3474720"/>
            <a:ext cx="2377440" cy="868680"/>
          </a:xfrm>
          <a:prstGeom prst="rect">
            <a:avLst/>
          </a:prstGeom>
          <a:noFill/>
          <a:ln/>
        </p:spPr>
        <p:txBody>
          <a:bodyPr wrap="square" lIns="0" tIns="0" rIns="0" bIns="0" rtlCol="0" anchor="t"/>
          <a:lstStyle/>
          <a:p>
            <a:pPr marL="0" indent="0">
              <a:buNone/>
            </a:pPr>
            <a:r>
              <a:rPr lang="en-US" sz="1250" dirty="0">
                <a:solidFill>
                  <a:schemeClr val="tx1"/>
                </a:solidFill>
              </a:rPr>
              <a:t>Build, style and add interaction to the website and the mobile app</a:t>
            </a:r>
            <a:endParaRPr lang="en-US" sz="1250" dirty="0"/>
          </a:p>
        </p:txBody>
      </p:sp>
      <p:sp>
        <p:nvSpPr>
          <p:cNvPr id="5" name="Slide Number Placeholder 0"/>
          <p:cNvSpPr>
            <a:spLocks noGrp="1"/>
          </p:cNvSpPr>
          <p:nvPr>
            <p:ph type="sldNum" sz="quarter" idx="4294967295"/>
          </p:nvPr>
        </p:nvSpPr>
        <p:spPr>
          <a:xfrm>
            <a:off x="841248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tx2"/>
                </a:solidFill>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28600"/>
            <a:ext cx="6675120" cy="594360"/>
          </a:xfrm>
          <a:prstGeom prst="rect">
            <a:avLst/>
          </a:prstGeom>
          <a:noFill/>
          <a:ln/>
        </p:spPr>
        <p:txBody>
          <a:bodyPr wrap="square" lIns="0" tIns="0" rIns="0" bIns="0" rtlCol="0" anchor="ctr"/>
          <a:lstStyle/>
          <a:p>
            <a:pPr marL="0" indent="0">
              <a:buNone/>
            </a:pPr>
            <a:r>
              <a:rPr lang="en-US" sz="2600" b="1" dirty="0">
                <a:solidFill>
                  <a:schemeClr val="tx2"/>
                </a:solidFill>
                <a:latin typeface="Georgia" pitchFamily="34" charset="0"/>
                <a:ea typeface="Georgia" pitchFamily="34" charset="-122"/>
                <a:cs typeface="Georgia" pitchFamily="34" charset="-120"/>
              </a:rPr>
              <a:t>Website wireframes</a:t>
            </a:r>
            <a:endParaRPr lang="en-US" sz="2600" dirty="0"/>
          </a:p>
        </p:txBody>
      </p:sp>
      <p:sp>
        <p:nvSpPr>
          <p:cNvPr id="3" name="Presenter tag"/>
          <p:cNvSpPr/>
          <p:nvPr/>
        </p:nvSpPr>
        <p:spPr>
          <a:xfrm>
            <a:off x="7269480" y="347472"/>
            <a:ext cx="1463040" cy="329184"/>
          </a:xfrm>
          <a:prstGeom prst="roundRect">
            <a:avLst>
              <a:gd name="adj" fmla="val 50000"/>
            </a:avLst>
          </a:prstGeom>
          <a:solidFill>
            <a:schemeClr val="accent2"/>
          </a:solidFill>
          <a:ln w="12700">
            <a:solidFill>
              <a:schemeClr val="accent2"/>
            </a:solidFill>
            <a:prstDash val="solid"/>
          </a:ln>
        </p:spPr>
      </p:sp>
      <p:sp>
        <p:nvSpPr>
          <p:cNvPr id="4" name="Text 2"/>
          <p:cNvSpPr txBox="1"/>
          <p:nvPr/>
        </p:nvSpPr>
        <p:spPr>
          <a:xfrm>
            <a:off x="7269480" y="347472"/>
            <a:ext cx="1463040" cy="329184"/>
          </a:xfrm>
          <a:prstGeom prst="rect">
            <a:avLst/>
          </a:prstGeom>
          <a:noFill/>
          <a:ln/>
        </p:spPr>
        <p:txBody>
          <a:bodyPr wrap="square" lIns="0" tIns="0" rIns="0" bIns="0" rtlCol="0" anchor="ctr"/>
          <a:lstStyle/>
          <a:p>
            <a:pPr marL="0" indent="0" algn="ctr">
              <a:buNone/>
            </a:pPr>
            <a:r>
              <a:rPr lang="en-US" sz="1100" b="1" dirty="0">
                <a:solidFill>
                  <a:schemeClr val="bg1"/>
                </a:solidFill>
              </a:rPr>
              <a:t>Presenter: Asukia</a:t>
            </a:r>
            <a:endParaRPr lang="en-US" sz="1100" dirty="0"/>
          </a:p>
        </p:txBody>
      </p:sp>
      <p:sp>
        <p:nvSpPr>
          <p:cNvPr id="6" name="Card"/>
          <p:cNvSpPr/>
          <p:nvPr/>
        </p:nvSpPr>
        <p:spPr>
          <a:xfrm>
            <a:off x="457200" y="914400"/>
            <a:ext cx="2651760" cy="1645920"/>
          </a:xfrm>
          <a:prstGeom prst="roundRect">
            <a:avLst>
              <a:gd name="adj" fmla="val 4444"/>
            </a:avLst>
          </a:prstGeom>
          <a:solidFill>
            <a:schemeClr val="bg1"/>
          </a:solidFill>
          <a:ln w="12700">
            <a:solidFill>
              <a:srgbClr val="D9CBB5"/>
            </a:solidFill>
            <a:prstDash val="solid"/>
          </a:ln>
        </p:spPr>
      </p:sp>
      <p:pic>
        <p:nvPicPr>
          <p:cNvPr id="7" name="Image 0" descr="Home wireframe"/>
          <p:cNvPicPr>
            <a:picLocks noChangeAspect="1"/>
          </p:cNvPicPr>
          <p:nvPr/>
        </p:nvPicPr>
        <p:blipFill>
          <a:blip r:embed="rId3"/>
          <a:srcRect/>
          <a:stretch/>
        </p:blipFill>
        <p:spPr>
          <a:xfrm>
            <a:off x="512064" y="969264"/>
            <a:ext cx="2542032" cy="1536192"/>
          </a:xfrm>
          <a:prstGeom prst="rect">
            <a:avLst/>
          </a:prstGeom>
        </p:spPr>
      </p:pic>
      <p:sp>
        <p:nvSpPr>
          <p:cNvPr id="8" name="Text 4"/>
          <p:cNvSpPr txBox="1"/>
          <p:nvPr/>
        </p:nvSpPr>
        <p:spPr>
          <a:xfrm>
            <a:off x="457200" y="2578608"/>
            <a:ext cx="2651760" cy="228600"/>
          </a:xfrm>
          <a:prstGeom prst="rect">
            <a:avLst/>
          </a:prstGeom>
          <a:noFill/>
          <a:ln/>
        </p:spPr>
        <p:txBody>
          <a:bodyPr wrap="square" lIns="0" tIns="0" rIns="0" bIns="0" rtlCol="0" anchor="ctr"/>
          <a:lstStyle/>
          <a:p>
            <a:pPr marL="0" indent="0" algn="ctr">
              <a:buNone/>
            </a:pPr>
            <a:r>
              <a:rPr lang="en-US" sz="1200" b="1" dirty="0">
                <a:solidFill>
                  <a:schemeClr val="tx2"/>
                </a:solidFill>
              </a:rPr>
              <a:t>Home</a:t>
            </a:r>
            <a:endParaRPr lang="en-US" sz="1200" dirty="0"/>
          </a:p>
        </p:txBody>
      </p:sp>
      <p:sp>
        <p:nvSpPr>
          <p:cNvPr id="9" name="Card"/>
          <p:cNvSpPr/>
          <p:nvPr/>
        </p:nvSpPr>
        <p:spPr>
          <a:xfrm>
            <a:off x="3264408" y="914400"/>
            <a:ext cx="2651760" cy="1645920"/>
          </a:xfrm>
          <a:prstGeom prst="roundRect">
            <a:avLst>
              <a:gd name="adj" fmla="val 4444"/>
            </a:avLst>
          </a:prstGeom>
          <a:solidFill>
            <a:schemeClr val="bg1"/>
          </a:solidFill>
          <a:ln w="12700">
            <a:solidFill>
              <a:srgbClr val="D9CBB5"/>
            </a:solidFill>
            <a:prstDash val="solid"/>
          </a:ln>
        </p:spPr>
      </p:sp>
      <p:pic>
        <p:nvPicPr>
          <p:cNvPr id="10" name="Image 1" descr="About Us wireframe"/>
          <p:cNvPicPr>
            <a:picLocks noChangeAspect="1"/>
          </p:cNvPicPr>
          <p:nvPr/>
        </p:nvPicPr>
        <p:blipFill>
          <a:blip r:embed="rId4"/>
          <a:srcRect/>
          <a:stretch/>
        </p:blipFill>
        <p:spPr>
          <a:xfrm>
            <a:off x="3319272" y="969264"/>
            <a:ext cx="2542032" cy="1536192"/>
          </a:xfrm>
          <a:prstGeom prst="rect">
            <a:avLst/>
          </a:prstGeom>
        </p:spPr>
      </p:pic>
      <p:sp>
        <p:nvSpPr>
          <p:cNvPr id="11" name="Text 6"/>
          <p:cNvSpPr txBox="1"/>
          <p:nvPr/>
        </p:nvSpPr>
        <p:spPr>
          <a:xfrm>
            <a:off x="3264408" y="2578608"/>
            <a:ext cx="2651760" cy="228600"/>
          </a:xfrm>
          <a:prstGeom prst="rect">
            <a:avLst/>
          </a:prstGeom>
          <a:noFill/>
          <a:ln/>
        </p:spPr>
        <p:txBody>
          <a:bodyPr wrap="square" lIns="0" tIns="0" rIns="0" bIns="0" rtlCol="0" anchor="ctr"/>
          <a:lstStyle/>
          <a:p>
            <a:pPr marL="0" indent="0" algn="ctr">
              <a:buNone/>
            </a:pPr>
            <a:r>
              <a:rPr lang="en-US" sz="1200" b="1" dirty="0">
                <a:solidFill>
                  <a:schemeClr val="tx2"/>
                </a:solidFill>
              </a:rPr>
              <a:t>About Us</a:t>
            </a:r>
            <a:endParaRPr lang="en-US" sz="1200" dirty="0"/>
          </a:p>
        </p:txBody>
      </p:sp>
      <p:sp>
        <p:nvSpPr>
          <p:cNvPr id="12" name="Card"/>
          <p:cNvSpPr/>
          <p:nvPr/>
        </p:nvSpPr>
        <p:spPr>
          <a:xfrm>
            <a:off x="6071616" y="914400"/>
            <a:ext cx="2651760" cy="1645920"/>
          </a:xfrm>
          <a:prstGeom prst="roundRect">
            <a:avLst>
              <a:gd name="adj" fmla="val 4444"/>
            </a:avLst>
          </a:prstGeom>
          <a:solidFill>
            <a:schemeClr val="bg1"/>
          </a:solidFill>
          <a:ln w="12700">
            <a:solidFill>
              <a:srgbClr val="D9CBB5"/>
            </a:solidFill>
            <a:prstDash val="solid"/>
          </a:ln>
        </p:spPr>
      </p:sp>
      <p:pic>
        <p:nvPicPr>
          <p:cNvPr id="13" name="Image 2" descr="Overview wireframe"/>
          <p:cNvPicPr>
            <a:picLocks noChangeAspect="1"/>
          </p:cNvPicPr>
          <p:nvPr/>
        </p:nvPicPr>
        <p:blipFill>
          <a:blip r:embed="rId5"/>
          <a:srcRect/>
          <a:stretch/>
        </p:blipFill>
        <p:spPr>
          <a:xfrm>
            <a:off x="6126480" y="969264"/>
            <a:ext cx="2542032" cy="1536192"/>
          </a:xfrm>
          <a:prstGeom prst="rect">
            <a:avLst/>
          </a:prstGeom>
        </p:spPr>
      </p:pic>
      <p:sp>
        <p:nvSpPr>
          <p:cNvPr id="14" name="Text 8"/>
          <p:cNvSpPr txBox="1"/>
          <p:nvPr/>
        </p:nvSpPr>
        <p:spPr>
          <a:xfrm>
            <a:off x="6071616" y="2578608"/>
            <a:ext cx="2651760" cy="228600"/>
          </a:xfrm>
          <a:prstGeom prst="rect">
            <a:avLst/>
          </a:prstGeom>
          <a:noFill/>
          <a:ln/>
        </p:spPr>
        <p:txBody>
          <a:bodyPr wrap="square" lIns="0" tIns="0" rIns="0" bIns="0" rtlCol="0" anchor="ctr"/>
          <a:lstStyle/>
          <a:p>
            <a:pPr marL="0" indent="0" algn="ctr">
              <a:buNone/>
            </a:pPr>
            <a:r>
              <a:rPr lang="en-US" sz="1200" b="1" dirty="0">
                <a:solidFill>
                  <a:schemeClr val="tx2"/>
                </a:solidFill>
              </a:rPr>
              <a:t>Overview</a:t>
            </a:r>
            <a:endParaRPr lang="en-US" sz="1200" dirty="0"/>
          </a:p>
        </p:txBody>
      </p:sp>
      <p:sp>
        <p:nvSpPr>
          <p:cNvPr id="15" name="Card"/>
          <p:cNvSpPr/>
          <p:nvPr/>
        </p:nvSpPr>
        <p:spPr>
          <a:xfrm>
            <a:off x="457200" y="2834640"/>
            <a:ext cx="2651760" cy="1645920"/>
          </a:xfrm>
          <a:prstGeom prst="roundRect">
            <a:avLst>
              <a:gd name="adj" fmla="val 4444"/>
            </a:avLst>
          </a:prstGeom>
          <a:solidFill>
            <a:schemeClr val="bg1"/>
          </a:solidFill>
          <a:ln w="12700">
            <a:solidFill>
              <a:srgbClr val="D9CBB5"/>
            </a:solidFill>
            <a:prstDash val="solid"/>
          </a:ln>
        </p:spPr>
      </p:sp>
      <p:pic>
        <p:nvPicPr>
          <p:cNvPr id="16" name="Image 3" descr="Package details wireframe"/>
          <p:cNvPicPr>
            <a:picLocks noChangeAspect="1"/>
          </p:cNvPicPr>
          <p:nvPr/>
        </p:nvPicPr>
        <p:blipFill>
          <a:blip r:embed="rId6"/>
          <a:srcRect/>
          <a:stretch/>
        </p:blipFill>
        <p:spPr>
          <a:xfrm>
            <a:off x="512064" y="2889504"/>
            <a:ext cx="2542032" cy="1536192"/>
          </a:xfrm>
          <a:prstGeom prst="rect">
            <a:avLst/>
          </a:prstGeom>
        </p:spPr>
      </p:pic>
      <p:sp>
        <p:nvSpPr>
          <p:cNvPr id="17" name="Text 10"/>
          <p:cNvSpPr txBox="1"/>
          <p:nvPr/>
        </p:nvSpPr>
        <p:spPr>
          <a:xfrm>
            <a:off x="457200" y="4498848"/>
            <a:ext cx="2651760" cy="228600"/>
          </a:xfrm>
          <a:prstGeom prst="rect">
            <a:avLst/>
          </a:prstGeom>
          <a:noFill/>
          <a:ln/>
        </p:spPr>
        <p:txBody>
          <a:bodyPr wrap="square" lIns="0" tIns="0" rIns="0" bIns="0" rtlCol="0" anchor="ctr"/>
          <a:lstStyle/>
          <a:p>
            <a:pPr marL="0" indent="0" algn="ctr">
              <a:buNone/>
            </a:pPr>
            <a:r>
              <a:rPr lang="en-US" sz="1200" b="1" dirty="0">
                <a:solidFill>
                  <a:schemeClr val="tx2"/>
                </a:solidFill>
              </a:rPr>
              <a:t>Package details</a:t>
            </a:r>
            <a:endParaRPr lang="en-US" sz="1200" dirty="0"/>
          </a:p>
        </p:txBody>
      </p:sp>
      <p:sp>
        <p:nvSpPr>
          <p:cNvPr id="18" name="Card"/>
          <p:cNvSpPr/>
          <p:nvPr/>
        </p:nvSpPr>
        <p:spPr>
          <a:xfrm>
            <a:off x="3264408" y="2834640"/>
            <a:ext cx="2651760" cy="1645920"/>
          </a:xfrm>
          <a:prstGeom prst="roundRect">
            <a:avLst>
              <a:gd name="adj" fmla="val 4444"/>
            </a:avLst>
          </a:prstGeom>
          <a:solidFill>
            <a:schemeClr val="bg1"/>
          </a:solidFill>
          <a:ln w="12700">
            <a:solidFill>
              <a:srgbClr val="D9CBB5"/>
            </a:solidFill>
            <a:prstDash val="solid"/>
          </a:ln>
        </p:spPr>
      </p:sp>
      <p:pic>
        <p:nvPicPr>
          <p:cNvPr id="19" name="Image 4" descr="Fees wireframe"/>
          <p:cNvPicPr>
            <a:picLocks noChangeAspect="1"/>
          </p:cNvPicPr>
          <p:nvPr/>
        </p:nvPicPr>
        <p:blipFill>
          <a:blip r:embed="rId7"/>
          <a:srcRect/>
          <a:stretch/>
        </p:blipFill>
        <p:spPr>
          <a:xfrm>
            <a:off x="3319272" y="2889504"/>
            <a:ext cx="2542032" cy="1536192"/>
          </a:xfrm>
          <a:prstGeom prst="rect">
            <a:avLst/>
          </a:prstGeom>
        </p:spPr>
      </p:pic>
      <p:sp>
        <p:nvSpPr>
          <p:cNvPr id="20" name="Text 12"/>
          <p:cNvSpPr txBox="1"/>
          <p:nvPr/>
        </p:nvSpPr>
        <p:spPr>
          <a:xfrm>
            <a:off x="3264408" y="4498848"/>
            <a:ext cx="2651760" cy="228600"/>
          </a:xfrm>
          <a:prstGeom prst="rect">
            <a:avLst/>
          </a:prstGeom>
          <a:noFill/>
          <a:ln/>
        </p:spPr>
        <p:txBody>
          <a:bodyPr wrap="square" lIns="0" tIns="0" rIns="0" bIns="0" rtlCol="0" anchor="ctr"/>
          <a:lstStyle/>
          <a:p>
            <a:pPr marL="0" indent="0" algn="ctr">
              <a:buNone/>
            </a:pPr>
            <a:r>
              <a:rPr lang="en-US" sz="1200" b="1" dirty="0">
                <a:solidFill>
                  <a:schemeClr val="tx2"/>
                </a:solidFill>
              </a:rPr>
              <a:t>Fees</a:t>
            </a:r>
            <a:endParaRPr lang="en-US" sz="1200" dirty="0"/>
          </a:p>
        </p:txBody>
      </p:sp>
      <p:sp>
        <p:nvSpPr>
          <p:cNvPr id="21" name="Card"/>
          <p:cNvSpPr/>
          <p:nvPr/>
        </p:nvSpPr>
        <p:spPr>
          <a:xfrm>
            <a:off x="6071616" y="2834640"/>
            <a:ext cx="2651760" cy="1645920"/>
          </a:xfrm>
          <a:prstGeom prst="roundRect">
            <a:avLst>
              <a:gd name="adj" fmla="val 4444"/>
            </a:avLst>
          </a:prstGeom>
          <a:solidFill>
            <a:schemeClr val="bg1"/>
          </a:solidFill>
          <a:ln w="12700">
            <a:solidFill>
              <a:srgbClr val="D9CBB5"/>
            </a:solidFill>
            <a:prstDash val="solid"/>
          </a:ln>
        </p:spPr>
      </p:sp>
      <p:pic>
        <p:nvPicPr>
          <p:cNvPr id="22" name="Image 5" descr="Contact wireframe"/>
          <p:cNvPicPr>
            <a:picLocks noChangeAspect="1"/>
          </p:cNvPicPr>
          <p:nvPr/>
        </p:nvPicPr>
        <p:blipFill>
          <a:blip r:embed="rId8"/>
          <a:srcRect/>
          <a:stretch/>
        </p:blipFill>
        <p:spPr>
          <a:xfrm>
            <a:off x="6126480" y="2889504"/>
            <a:ext cx="2542032" cy="1536192"/>
          </a:xfrm>
          <a:prstGeom prst="rect">
            <a:avLst/>
          </a:prstGeom>
        </p:spPr>
      </p:pic>
      <p:sp>
        <p:nvSpPr>
          <p:cNvPr id="23" name="Text 14"/>
          <p:cNvSpPr txBox="1"/>
          <p:nvPr/>
        </p:nvSpPr>
        <p:spPr>
          <a:xfrm>
            <a:off x="6071616" y="4498848"/>
            <a:ext cx="2651760" cy="228600"/>
          </a:xfrm>
          <a:prstGeom prst="rect">
            <a:avLst/>
          </a:prstGeom>
          <a:noFill/>
          <a:ln/>
        </p:spPr>
        <p:txBody>
          <a:bodyPr wrap="square" lIns="0" tIns="0" rIns="0" bIns="0" rtlCol="0" anchor="ctr"/>
          <a:lstStyle/>
          <a:p>
            <a:pPr marL="0" indent="0" algn="ctr">
              <a:buNone/>
            </a:pPr>
            <a:r>
              <a:rPr lang="en-US" sz="1200" b="1" dirty="0">
                <a:solidFill>
                  <a:schemeClr val="tx2"/>
                </a:solidFill>
              </a:rPr>
              <a:t>Contact</a:t>
            </a:r>
            <a:endParaRPr lang="en-US" sz="1200" dirty="0"/>
          </a:p>
        </p:txBody>
      </p:sp>
      <p:sp>
        <p:nvSpPr>
          <p:cNvPr id="25" name="Slide Number Placeholder 0"/>
          <p:cNvSpPr>
            <a:spLocks noGrp="1"/>
          </p:cNvSpPr>
          <p:nvPr>
            <p:ph type="sldNum" sz="quarter" idx="4294967295"/>
          </p:nvPr>
        </p:nvSpPr>
        <p:spPr>
          <a:xfrm>
            <a:off x="841248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tx2"/>
                </a:solidFill>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28600"/>
            <a:ext cx="6675120" cy="594360"/>
          </a:xfrm>
          <a:prstGeom prst="rect">
            <a:avLst/>
          </a:prstGeom>
          <a:noFill/>
          <a:ln/>
        </p:spPr>
        <p:txBody>
          <a:bodyPr wrap="square" lIns="0" tIns="0" rIns="0" bIns="0" rtlCol="0" anchor="ctr"/>
          <a:lstStyle/>
          <a:p>
            <a:pPr marL="0" indent="0">
              <a:buNone/>
            </a:pPr>
            <a:r>
              <a:rPr lang="en-US" sz="2600" b="1" dirty="0">
                <a:solidFill>
                  <a:schemeClr val="tx2"/>
                </a:solidFill>
                <a:latin typeface="Georgia" pitchFamily="34" charset="0"/>
                <a:ea typeface="Georgia" pitchFamily="34" charset="-122"/>
                <a:cs typeface="Georgia" pitchFamily="34" charset="-120"/>
              </a:rPr>
              <a:t>Website: Home page</a:t>
            </a:r>
            <a:endParaRPr lang="en-US" sz="2600" dirty="0"/>
          </a:p>
        </p:txBody>
      </p:sp>
      <p:sp>
        <p:nvSpPr>
          <p:cNvPr id="3" name="Presenter tag"/>
          <p:cNvSpPr/>
          <p:nvPr/>
        </p:nvSpPr>
        <p:spPr>
          <a:xfrm>
            <a:off x="7269480" y="347472"/>
            <a:ext cx="1463040" cy="329184"/>
          </a:xfrm>
          <a:prstGeom prst="roundRect">
            <a:avLst>
              <a:gd name="adj" fmla="val 50000"/>
            </a:avLst>
          </a:prstGeom>
          <a:solidFill>
            <a:schemeClr val="accent2"/>
          </a:solidFill>
          <a:ln w="12700">
            <a:solidFill>
              <a:schemeClr val="accent2"/>
            </a:solidFill>
            <a:prstDash val="solid"/>
          </a:ln>
        </p:spPr>
      </p:sp>
      <p:sp>
        <p:nvSpPr>
          <p:cNvPr id="4" name="Text 2"/>
          <p:cNvSpPr txBox="1"/>
          <p:nvPr/>
        </p:nvSpPr>
        <p:spPr>
          <a:xfrm>
            <a:off x="7269480" y="347472"/>
            <a:ext cx="1463040" cy="329184"/>
          </a:xfrm>
          <a:prstGeom prst="rect">
            <a:avLst/>
          </a:prstGeom>
          <a:noFill/>
          <a:ln/>
        </p:spPr>
        <p:txBody>
          <a:bodyPr wrap="square" lIns="0" tIns="0" rIns="0" bIns="0" rtlCol="0" anchor="ctr"/>
          <a:lstStyle/>
          <a:p>
            <a:pPr marL="0" indent="0" algn="ctr">
              <a:buNone/>
            </a:pPr>
            <a:r>
              <a:rPr lang="en-US" sz="1100" b="1" dirty="0">
                <a:solidFill>
                  <a:schemeClr val="bg1"/>
                </a:solidFill>
              </a:rPr>
              <a:t>Presenter: Asukia</a:t>
            </a:r>
            <a:endParaRPr lang="en-US" sz="1100" dirty="0"/>
          </a:p>
        </p:txBody>
      </p:sp>
      <p:sp>
        <p:nvSpPr>
          <p:cNvPr id="6" name="Card"/>
          <p:cNvSpPr/>
          <p:nvPr/>
        </p:nvSpPr>
        <p:spPr>
          <a:xfrm>
            <a:off x="457200" y="960120"/>
            <a:ext cx="3749040" cy="3108960"/>
          </a:xfrm>
          <a:prstGeom prst="roundRect">
            <a:avLst>
              <a:gd name="adj" fmla="val 2353"/>
            </a:avLst>
          </a:prstGeom>
          <a:solidFill>
            <a:schemeClr val="bg1"/>
          </a:solidFill>
          <a:ln w="12700">
            <a:solidFill>
              <a:srgbClr val="D9CBB5"/>
            </a:solidFill>
            <a:prstDash val="solid"/>
          </a:ln>
        </p:spPr>
      </p:sp>
      <p:pic>
        <p:nvPicPr>
          <p:cNvPr id="7" name="Image 0" descr="Website: Home page"/>
          <p:cNvPicPr>
            <a:picLocks noChangeAspect="1"/>
          </p:cNvPicPr>
          <p:nvPr/>
        </p:nvPicPr>
        <p:blipFill>
          <a:blip r:embed="rId3"/>
          <a:srcRect/>
          <a:stretch/>
        </p:blipFill>
        <p:spPr>
          <a:xfrm>
            <a:off x="548640" y="1051560"/>
            <a:ext cx="3566160" cy="2435611"/>
          </a:xfrm>
          <a:prstGeom prst="rect">
            <a:avLst/>
          </a:prstGeom>
        </p:spPr>
      </p:pic>
      <p:sp>
        <p:nvSpPr>
          <p:cNvPr id="8" name="Text 4"/>
          <p:cNvSpPr txBox="1"/>
          <p:nvPr/>
        </p:nvSpPr>
        <p:spPr>
          <a:xfrm>
            <a:off x="4480560" y="960120"/>
            <a:ext cx="4206240" cy="256032"/>
          </a:xfrm>
          <a:prstGeom prst="rect">
            <a:avLst/>
          </a:prstGeom>
          <a:noFill/>
          <a:ln/>
        </p:spPr>
        <p:txBody>
          <a:bodyPr wrap="square" lIns="0" tIns="0" rIns="0" bIns="0" rtlCol="0" anchor="ctr"/>
          <a:lstStyle/>
          <a:p>
            <a:pPr marL="0" indent="0">
              <a:buNone/>
            </a:pPr>
            <a:r>
              <a:rPr lang="en-US" sz="1300" b="1" dirty="0">
                <a:solidFill>
                  <a:schemeClr val="accent2"/>
                </a:solidFill>
                <a:latin typeface="Georgia" pitchFamily="34" charset="0"/>
                <a:ea typeface="Georgia" pitchFamily="34" charset="-122"/>
                <a:cs typeface="Georgia" pitchFamily="34" charset="-120"/>
              </a:rPr>
              <a:t>What this page does</a:t>
            </a:r>
            <a:endParaRPr lang="en-US" sz="1300" dirty="0"/>
          </a:p>
        </p:txBody>
      </p:sp>
      <p:sp>
        <p:nvSpPr>
          <p:cNvPr id="9" name="Text 5"/>
          <p:cNvSpPr txBox="1"/>
          <p:nvPr/>
        </p:nvSpPr>
        <p:spPr>
          <a:xfrm>
            <a:off x="4480560" y="1234440"/>
            <a:ext cx="4206240" cy="731520"/>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chemeClr val="tx1"/>
                </a:solidFill>
              </a:rPr>
              <a:t>Banner with the tagline Explore. Discover. Thrive.</a:t>
            </a:r>
            <a:endParaRPr lang="en-US" sz="1150" dirty="0"/>
          </a:p>
          <a:p>
            <a:pPr marL="342900" indent="-342900">
              <a:spcAft>
                <a:spcPts val="300"/>
              </a:spcAft>
              <a:buSzPct val="100000"/>
              <a:buChar char="•"/>
            </a:pPr>
            <a:r>
              <a:rPr lang="en-US" sz="1150" dirty="0">
                <a:solidFill>
                  <a:schemeClr val="tx1"/>
                </a:solidFill>
              </a:rPr>
              <a:t>Two big buttons: View Packages and Get Quote</a:t>
            </a:r>
            <a:endParaRPr lang="en-US" sz="1150" dirty="0"/>
          </a:p>
        </p:txBody>
      </p:sp>
      <p:sp>
        <p:nvSpPr>
          <p:cNvPr id="10" name="Text 6"/>
          <p:cNvSpPr txBox="1"/>
          <p:nvPr/>
        </p:nvSpPr>
        <p:spPr>
          <a:xfrm>
            <a:off x="4480560" y="2011680"/>
            <a:ext cx="4206240" cy="256032"/>
          </a:xfrm>
          <a:prstGeom prst="rect">
            <a:avLst/>
          </a:prstGeom>
          <a:noFill/>
          <a:ln/>
        </p:spPr>
        <p:txBody>
          <a:bodyPr wrap="square" lIns="0" tIns="0" rIns="0" bIns="0" rtlCol="0" anchor="ctr"/>
          <a:lstStyle/>
          <a:p>
            <a:pPr marL="0" indent="0">
              <a:buNone/>
            </a:pPr>
            <a:r>
              <a:rPr lang="en-US" sz="1300" b="1" dirty="0">
                <a:solidFill>
                  <a:schemeClr val="accent2"/>
                </a:solidFill>
                <a:latin typeface="Georgia" pitchFamily="34" charset="0"/>
                <a:ea typeface="Georgia" pitchFamily="34" charset="-122"/>
                <a:cs typeface="Georgia" pitchFamily="34" charset="-120"/>
              </a:rPr>
              <a:t>How it works</a:t>
            </a:r>
            <a:endParaRPr lang="en-US" sz="1300" dirty="0"/>
          </a:p>
        </p:txBody>
      </p:sp>
      <p:sp>
        <p:nvSpPr>
          <p:cNvPr id="11" name="Text 7"/>
          <p:cNvSpPr txBox="1"/>
          <p:nvPr/>
        </p:nvSpPr>
        <p:spPr>
          <a:xfrm>
            <a:off x="4480560" y="2286000"/>
            <a:ext cx="4206240" cy="1417320"/>
          </a:xfrm>
          <a:prstGeom prst="rect">
            <a:avLst/>
          </a:prstGeom>
          <a:noFill/>
          <a:ln/>
        </p:spPr>
        <p:txBody>
          <a:bodyPr wrap="square" lIns="0" tIns="0" rIns="0" bIns="0" rtlCol="0" anchor="t"/>
          <a:lstStyle/>
          <a:p>
            <a:pPr marL="342900" indent="-342900">
              <a:spcAft>
                <a:spcPts val="300"/>
              </a:spcAft>
              <a:buSzPct val="100000"/>
              <a:buFont typeface="+mj-lt"/>
              <a:buAutoNum type="arabicPeriod"/>
            </a:pPr>
            <a:r>
              <a:rPr lang="en-US" sz="1150" dirty="0">
                <a:solidFill>
                  <a:schemeClr val="tx1"/>
                </a:solidFill>
              </a:rPr>
              <a:t>The visitor sees the banner and the featured packages</a:t>
            </a:r>
            <a:endParaRPr lang="en-US" sz="1150" dirty="0"/>
          </a:p>
          <a:p>
            <a:pPr marL="342900" indent="-342900">
              <a:spcAft>
                <a:spcPts val="300"/>
              </a:spcAft>
              <a:buSzPct val="100000"/>
              <a:buFont typeface="+mj-lt"/>
              <a:buAutoNum type="arabicPeriod"/>
            </a:pPr>
            <a:r>
              <a:rPr lang="en-US" sz="1150" dirty="0">
                <a:solidFill>
                  <a:schemeClr val="tx1"/>
                </a:solidFill>
              </a:rPr>
              <a:t>View Packages opens the Overview page and Get Quote opens the Fees page</a:t>
            </a:r>
            <a:endParaRPr lang="en-US" sz="1150" dirty="0"/>
          </a:p>
          <a:p>
            <a:pPr marL="342900" indent="-342900">
              <a:spcAft>
                <a:spcPts val="300"/>
              </a:spcAft>
              <a:buSzPct val="100000"/>
              <a:buFont typeface="+mj-lt"/>
              <a:buAutoNum type="arabicPeriod"/>
            </a:pPr>
            <a:r>
              <a:rPr lang="en-US" sz="1150" dirty="0">
                <a:solidFill>
                  <a:schemeClr val="tx1"/>
                </a:solidFill>
              </a:rPr>
              <a:t>View Detail on Mountain Adventure opens its details page</a:t>
            </a:r>
            <a:endParaRPr lang="en-US" sz="1150" dirty="0"/>
          </a:p>
          <a:p>
            <a:pPr marL="342900" indent="-342900">
              <a:spcAft>
                <a:spcPts val="300"/>
              </a:spcAft>
              <a:buSzPct val="100000"/>
              <a:buFont typeface="+mj-lt"/>
              <a:buAutoNum type="arabicPeriod"/>
            </a:pPr>
            <a:r>
              <a:rPr lang="en-US" sz="1150" dirty="0">
                <a:solidFill>
                  <a:schemeClr val="tx1"/>
                </a:solidFill>
              </a:rPr>
              <a:t>Any picture bounces when pressed (JavaScript)</a:t>
            </a:r>
            <a:endParaRPr lang="en-US" sz="1150" dirty="0"/>
          </a:p>
        </p:txBody>
      </p:sp>
      <p:sp>
        <p:nvSpPr>
          <p:cNvPr id="12" name="Text 8"/>
          <p:cNvSpPr txBox="1"/>
          <p:nvPr/>
        </p:nvSpPr>
        <p:spPr>
          <a:xfrm>
            <a:off x="4480560" y="3749040"/>
            <a:ext cx="4206240" cy="256032"/>
          </a:xfrm>
          <a:prstGeom prst="rect">
            <a:avLst/>
          </a:prstGeom>
          <a:noFill/>
          <a:ln/>
        </p:spPr>
        <p:txBody>
          <a:bodyPr wrap="square" lIns="0" tIns="0" rIns="0" bIns="0" rtlCol="0" anchor="ctr"/>
          <a:lstStyle/>
          <a:p>
            <a:pPr marL="0" indent="0">
              <a:buNone/>
            </a:pPr>
            <a:r>
              <a:rPr lang="en-US" sz="1300" b="1" dirty="0">
                <a:solidFill>
                  <a:schemeClr val="accent2"/>
                </a:solidFill>
                <a:latin typeface="Georgia" pitchFamily="34" charset="0"/>
                <a:ea typeface="Georgia" pitchFamily="34" charset="-122"/>
                <a:cs typeface="Georgia" pitchFamily="34" charset="-120"/>
              </a:rPr>
              <a:t>Why we designed it this way</a:t>
            </a:r>
            <a:endParaRPr lang="en-US" sz="1300" dirty="0"/>
          </a:p>
        </p:txBody>
      </p:sp>
      <p:sp>
        <p:nvSpPr>
          <p:cNvPr id="13" name="Text 9"/>
          <p:cNvSpPr txBox="1"/>
          <p:nvPr/>
        </p:nvSpPr>
        <p:spPr>
          <a:xfrm>
            <a:off x="4480560" y="4023360"/>
            <a:ext cx="4206240" cy="640080"/>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chemeClr val="tx1"/>
                </a:solidFill>
              </a:rPr>
              <a:t>The most important actions come first</a:t>
            </a:r>
            <a:endParaRPr lang="en-US" sz="1150" dirty="0"/>
          </a:p>
        </p:txBody>
      </p:sp>
      <p:sp>
        <p:nvSpPr>
          <p:cNvPr id="25" name="Slide Number Placeholder 0"/>
          <p:cNvSpPr>
            <a:spLocks noGrp="1"/>
          </p:cNvSpPr>
          <p:nvPr>
            <p:ph type="sldNum" sz="quarter" idx="4294967295"/>
          </p:nvPr>
        </p:nvSpPr>
        <p:spPr>
          <a:xfrm>
            <a:off x="841248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tx2"/>
                </a:solidFill>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28600"/>
            <a:ext cx="6675120" cy="594360"/>
          </a:xfrm>
          <a:prstGeom prst="rect">
            <a:avLst/>
          </a:prstGeom>
          <a:noFill/>
          <a:ln/>
        </p:spPr>
        <p:txBody>
          <a:bodyPr wrap="square" lIns="0" tIns="0" rIns="0" bIns="0" rtlCol="0" anchor="ctr"/>
          <a:lstStyle/>
          <a:p>
            <a:pPr marL="0" indent="0">
              <a:buNone/>
            </a:pPr>
            <a:r>
              <a:rPr lang="en-US" sz="2600" b="1" dirty="0">
                <a:solidFill>
                  <a:schemeClr val="tx2"/>
                </a:solidFill>
                <a:latin typeface="Georgia" pitchFamily="34" charset="0"/>
                <a:ea typeface="Georgia" pitchFamily="34" charset="-122"/>
                <a:cs typeface="Georgia" pitchFamily="34" charset="-120"/>
              </a:rPr>
              <a:t>Website: About Us page</a:t>
            </a:r>
            <a:endParaRPr lang="en-US" sz="2600" dirty="0"/>
          </a:p>
        </p:txBody>
      </p:sp>
      <p:sp>
        <p:nvSpPr>
          <p:cNvPr id="3" name="Presenter tag"/>
          <p:cNvSpPr/>
          <p:nvPr/>
        </p:nvSpPr>
        <p:spPr>
          <a:xfrm>
            <a:off x="7269480" y="347472"/>
            <a:ext cx="1463040" cy="329184"/>
          </a:xfrm>
          <a:prstGeom prst="roundRect">
            <a:avLst>
              <a:gd name="adj" fmla="val 50000"/>
            </a:avLst>
          </a:prstGeom>
          <a:solidFill>
            <a:schemeClr val="accent2"/>
          </a:solidFill>
          <a:ln w="12700">
            <a:solidFill>
              <a:schemeClr val="accent2"/>
            </a:solidFill>
            <a:prstDash val="solid"/>
          </a:ln>
        </p:spPr>
      </p:sp>
      <p:sp>
        <p:nvSpPr>
          <p:cNvPr id="4" name="Text 2"/>
          <p:cNvSpPr txBox="1"/>
          <p:nvPr/>
        </p:nvSpPr>
        <p:spPr>
          <a:xfrm>
            <a:off x="7269480" y="347472"/>
            <a:ext cx="1463040" cy="329184"/>
          </a:xfrm>
          <a:prstGeom prst="rect">
            <a:avLst/>
          </a:prstGeom>
          <a:noFill/>
          <a:ln/>
        </p:spPr>
        <p:txBody>
          <a:bodyPr wrap="square" lIns="0" tIns="0" rIns="0" bIns="0" rtlCol="0" anchor="ctr"/>
          <a:lstStyle/>
          <a:p>
            <a:pPr marL="0" indent="0" algn="ctr">
              <a:buNone/>
            </a:pPr>
            <a:r>
              <a:rPr lang="en-US" sz="1100" b="1" dirty="0">
                <a:solidFill>
                  <a:schemeClr val="bg1"/>
                </a:solidFill>
              </a:rPr>
              <a:t>Presenter: Asukia</a:t>
            </a:r>
            <a:endParaRPr lang="en-US" sz="1100" dirty="0"/>
          </a:p>
        </p:txBody>
      </p:sp>
      <p:sp>
        <p:nvSpPr>
          <p:cNvPr id="6" name="Card"/>
          <p:cNvSpPr/>
          <p:nvPr/>
        </p:nvSpPr>
        <p:spPr>
          <a:xfrm>
            <a:off x="457200" y="960120"/>
            <a:ext cx="3749040" cy="3108960"/>
          </a:xfrm>
          <a:prstGeom prst="roundRect">
            <a:avLst>
              <a:gd name="adj" fmla="val 2353"/>
            </a:avLst>
          </a:prstGeom>
          <a:solidFill>
            <a:schemeClr val="bg1"/>
          </a:solidFill>
          <a:ln w="12700">
            <a:solidFill>
              <a:srgbClr val="D9CBB5"/>
            </a:solidFill>
            <a:prstDash val="solid"/>
          </a:ln>
        </p:spPr>
      </p:sp>
      <p:pic>
        <p:nvPicPr>
          <p:cNvPr id="7" name="Image 0" descr="Website: About Us page"/>
          <p:cNvPicPr>
            <a:picLocks noChangeAspect="1"/>
          </p:cNvPicPr>
          <p:nvPr/>
        </p:nvPicPr>
        <p:blipFill>
          <a:blip r:embed="rId3"/>
          <a:srcRect/>
          <a:stretch/>
        </p:blipFill>
        <p:spPr>
          <a:xfrm>
            <a:off x="548640" y="1051560"/>
            <a:ext cx="3566160" cy="2477343"/>
          </a:xfrm>
          <a:prstGeom prst="rect">
            <a:avLst/>
          </a:prstGeom>
        </p:spPr>
      </p:pic>
      <p:sp>
        <p:nvSpPr>
          <p:cNvPr id="8" name="Text 4"/>
          <p:cNvSpPr txBox="1"/>
          <p:nvPr/>
        </p:nvSpPr>
        <p:spPr>
          <a:xfrm>
            <a:off x="4480560" y="960120"/>
            <a:ext cx="4206240" cy="256032"/>
          </a:xfrm>
          <a:prstGeom prst="rect">
            <a:avLst/>
          </a:prstGeom>
          <a:noFill/>
          <a:ln/>
        </p:spPr>
        <p:txBody>
          <a:bodyPr wrap="square" lIns="0" tIns="0" rIns="0" bIns="0" rtlCol="0" anchor="ctr"/>
          <a:lstStyle/>
          <a:p>
            <a:pPr marL="0" indent="0">
              <a:buNone/>
            </a:pPr>
            <a:r>
              <a:rPr lang="en-US" sz="1300" b="1" dirty="0">
                <a:solidFill>
                  <a:schemeClr val="accent2"/>
                </a:solidFill>
                <a:latin typeface="Georgia" pitchFamily="34" charset="0"/>
                <a:ea typeface="Georgia" pitchFamily="34" charset="-122"/>
                <a:cs typeface="Georgia" pitchFamily="34" charset="-120"/>
              </a:rPr>
              <a:t>What this page does</a:t>
            </a:r>
            <a:endParaRPr lang="en-US" sz="1300" dirty="0"/>
          </a:p>
        </p:txBody>
      </p:sp>
      <p:sp>
        <p:nvSpPr>
          <p:cNvPr id="9" name="Text 5"/>
          <p:cNvSpPr txBox="1"/>
          <p:nvPr/>
        </p:nvSpPr>
        <p:spPr>
          <a:xfrm>
            <a:off x="4480560" y="1234440"/>
            <a:ext cx="4206240" cy="731520"/>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chemeClr val="tx1"/>
                </a:solidFill>
              </a:rPr>
              <a:t>Tells the story of Liam Daniels, who started the company</a:t>
            </a:r>
            <a:endParaRPr lang="en-US" sz="1150" dirty="0"/>
          </a:p>
          <a:p>
            <a:pPr marL="342900" indent="-342900">
              <a:spcAft>
                <a:spcPts val="300"/>
              </a:spcAft>
              <a:buSzPct val="100000"/>
              <a:buChar char="•"/>
            </a:pPr>
            <a:r>
              <a:rPr lang="en-US" sz="1150" dirty="0">
                <a:solidFill>
                  <a:schemeClr val="tx1"/>
                </a:solidFill>
              </a:rPr>
              <a:t>Explains the company: guided outdoor experiences for teamwork, fitness and love of nature</a:t>
            </a:r>
            <a:endParaRPr lang="en-US" sz="1150" dirty="0"/>
          </a:p>
        </p:txBody>
      </p:sp>
      <p:sp>
        <p:nvSpPr>
          <p:cNvPr id="10" name="Text 6"/>
          <p:cNvSpPr txBox="1"/>
          <p:nvPr/>
        </p:nvSpPr>
        <p:spPr>
          <a:xfrm>
            <a:off x="4480560" y="2011680"/>
            <a:ext cx="4206240" cy="256032"/>
          </a:xfrm>
          <a:prstGeom prst="rect">
            <a:avLst/>
          </a:prstGeom>
          <a:noFill/>
          <a:ln/>
        </p:spPr>
        <p:txBody>
          <a:bodyPr wrap="square" lIns="0" tIns="0" rIns="0" bIns="0" rtlCol="0" anchor="ctr"/>
          <a:lstStyle/>
          <a:p>
            <a:pPr marL="0" indent="0">
              <a:buNone/>
            </a:pPr>
            <a:r>
              <a:rPr lang="en-US" sz="1300" b="1" dirty="0">
                <a:solidFill>
                  <a:schemeClr val="accent2"/>
                </a:solidFill>
                <a:latin typeface="Georgia" pitchFamily="34" charset="0"/>
                <a:ea typeface="Georgia" pitchFamily="34" charset="-122"/>
                <a:cs typeface="Georgia" pitchFamily="34" charset="-120"/>
              </a:rPr>
              <a:t>How it works</a:t>
            </a:r>
            <a:endParaRPr lang="en-US" sz="1300" dirty="0"/>
          </a:p>
        </p:txBody>
      </p:sp>
      <p:sp>
        <p:nvSpPr>
          <p:cNvPr id="11" name="Text 7"/>
          <p:cNvSpPr txBox="1"/>
          <p:nvPr/>
        </p:nvSpPr>
        <p:spPr>
          <a:xfrm>
            <a:off x="4480560" y="2286000"/>
            <a:ext cx="4206240" cy="1417320"/>
          </a:xfrm>
          <a:prstGeom prst="rect">
            <a:avLst/>
          </a:prstGeom>
          <a:noFill/>
          <a:ln/>
        </p:spPr>
        <p:txBody>
          <a:bodyPr wrap="square" lIns="0" tIns="0" rIns="0" bIns="0" rtlCol="0" anchor="t"/>
          <a:lstStyle/>
          <a:p>
            <a:pPr marL="342900" indent="-342900">
              <a:spcAft>
                <a:spcPts val="300"/>
              </a:spcAft>
              <a:buSzPct val="100000"/>
              <a:buFont typeface="+mj-lt"/>
              <a:buAutoNum type="arabicPeriod"/>
            </a:pPr>
            <a:r>
              <a:rPr lang="en-US" sz="1150" dirty="0">
                <a:solidFill>
                  <a:schemeClr val="tx1"/>
                </a:solidFill>
              </a:rPr>
              <a:t>The visitor reads the story of Liam Daniels and the mission</a:t>
            </a:r>
            <a:endParaRPr lang="en-US" sz="1150" dirty="0"/>
          </a:p>
          <a:p>
            <a:pPr marL="342900" indent="-342900">
              <a:spcAft>
                <a:spcPts val="300"/>
              </a:spcAft>
              <a:buSzPct val="100000"/>
              <a:buFont typeface="+mj-lt"/>
              <a:buAutoNum type="arabicPeriod"/>
            </a:pPr>
            <a:r>
              <a:rPr lang="en-US" sz="1150" dirty="0">
                <a:solidFill>
                  <a:schemeClr val="tx1"/>
                </a:solidFill>
              </a:rPr>
              <a:t>The menu at the top moves to any other page</a:t>
            </a:r>
            <a:endParaRPr lang="en-US" sz="1150" dirty="0"/>
          </a:p>
          <a:p>
            <a:pPr marL="342900" indent="-342900">
              <a:spcAft>
                <a:spcPts val="300"/>
              </a:spcAft>
              <a:buSzPct val="100000"/>
              <a:buFont typeface="+mj-lt"/>
              <a:buAutoNum type="arabicPeriod"/>
            </a:pPr>
            <a:r>
              <a:rPr lang="en-US" sz="1150" dirty="0">
                <a:solidFill>
                  <a:schemeClr val="tx1"/>
                </a:solidFill>
              </a:rPr>
              <a:t>Pictures bounce when pressed</a:t>
            </a:r>
            <a:endParaRPr lang="en-US" sz="1150" dirty="0"/>
          </a:p>
        </p:txBody>
      </p:sp>
      <p:sp>
        <p:nvSpPr>
          <p:cNvPr id="12" name="Text 8"/>
          <p:cNvSpPr txBox="1"/>
          <p:nvPr/>
        </p:nvSpPr>
        <p:spPr>
          <a:xfrm>
            <a:off x="4480560" y="3749040"/>
            <a:ext cx="4206240" cy="256032"/>
          </a:xfrm>
          <a:prstGeom prst="rect">
            <a:avLst/>
          </a:prstGeom>
          <a:noFill/>
          <a:ln/>
        </p:spPr>
        <p:txBody>
          <a:bodyPr wrap="square" lIns="0" tIns="0" rIns="0" bIns="0" rtlCol="0" anchor="ctr"/>
          <a:lstStyle/>
          <a:p>
            <a:pPr marL="0" indent="0">
              <a:buNone/>
            </a:pPr>
            <a:r>
              <a:rPr lang="en-US" sz="1300" b="1" dirty="0">
                <a:solidFill>
                  <a:schemeClr val="accent2"/>
                </a:solidFill>
                <a:latin typeface="Georgia" pitchFamily="34" charset="0"/>
                <a:ea typeface="Georgia" pitchFamily="34" charset="-122"/>
                <a:cs typeface="Georgia" pitchFamily="34" charset="-120"/>
              </a:rPr>
              <a:t>Why we designed it this way</a:t>
            </a:r>
            <a:endParaRPr lang="en-US" sz="1300" dirty="0"/>
          </a:p>
        </p:txBody>
      </p:sp>
      <p:sp>
        <p:nvSpPr>
          <p:cNvPr id="13" name="Text 9"/>
          <p:cNvSpPr txBox="1"/>
          <p:nvPr/>
        </p:nvSpPr>
        <p:spPr>
          <a:xfrm>
            <a:off x="4480560" y="4023360"/>
            <a:ext cx="4206240" cy="640080"/>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chemeClr val="tx1"/>
                </a:solidFill>
              </a:rPr>
              <a:t>Builds trust with a real story and real people</a:t>
            </a:r>
            <a:endParaRPr lang="en-US" sz="1150" dirty="0"/>
          </a:p>
        </p:txBody>
      </p:sp>
      <p:sp>
        <p:nvSpPr>
          <p:cNvPr id="25" name="Slide Number Placeholder 0"/>
          <p:cNvSpPr>
            <a:spLocks noGrp="1"/>
          </p:cNvSpPr>
          <p:nvPr>
            <p:ph type="sldNum" sz="quarter" idx="4294967295"/>
          </p:nvPr>
        </p:nvSpPr>
        <p:spPr>
          <a:xfrm>
            <a:off x="841248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tx2"/>
                </a:solidFill>
              </a:defRPr>
            </a:lvl1pPr>
          </a:lstStyle>
          <a:p>
            <a:pPr algn="l"/>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28600"/>
            <a:ext cx="6675120" cy="594360"/>
          </a:xfrm>
          <a:prstGeom prst="rect">
            <a:avLst/>
          </a:prstGeom>
          <a:noFill/>
          <a:ln/>
        </p:spPr>
        <p:txBody>
          <a:bodyPr wrap="square" lIns="0" tIns="0" rIns="0" bIns="0" rtlCol="0" anchor="ctr"/>
          <a:lstStyle/>
          <a:p>
            <a:pPr marL="0" indent="0">
              <a:buNone/>
            </a:pPr>
            <a:r>
              <a:rPr lang="en-US" sz="2600" b="1" dirty="0">
                <a:solidFill>
                  <a:schemeClr val="tx2"/>
                </a:solidFill>
                <a:latin typeface="Georgia" pitchFamily="34" charset="0"/>
                <a:ea typeface="Georgia" pitchFamily="34" charset="-122"/>
                <a:cs typeface="Georgia" pitchFamily="34" charset="-120"/>
              </a:rPr>
              <a:t>Website: Overview page</a:t>
            </a:r>
            <a:endParaRPr lang="en-US" sz="2600" dirty="0"/>
          </a:p>
        </p:txBody>
      </p:sp>
      <p:sp>
        <p:nvSpPr>
          <p:cNvPr id="3" name="Presenter tag"/>
          <p:cNvSpPr/>
          <p:nvPr/>
        </p:nvSpPr>
        <p:spPr>
          <a:xfrm>
            <a:off x="7269480" y="347472"/>
            <a:ext cx="1463040" cy="329184"/>
          </a:xfrm>
          <a:prstGeom prst="roundRect">
            <a:avLst>
              <a:gd name="adj" fmla="val 50000"/>
            </a:avLst>
          </a:prstGeom>
          <a:solidFill>
            <a:schemeClr val="accent2"/>
          </a:solidFill>
          <a:ln w="12700">
            <a:solidFill>
              <a:schemeClr val="accent2"/>
            </a:solidFill>
            <a:prstDash val="solid"/>
          </a:ln>
        </p:spPr>
      </p:sp>
      <p:sp>
        <p:nvSpPr>
          <p:cNvPr id="4" name="Text 2"/>
          <p:cNvSpPr txBox="1"/>
          <p:nvPr/>
        </p:nvSpPr>
        <p:spPr>
          <a:xfrm>
            <a:off x="7269480" y="347472"/>
            <a:ext cx="1463040" cy="329184"/>
          </a:xfrm>
          <a:prstGeom prst="rect">
            <a:avLst/>
          </a:prstGeom>
          <a:noFill/>
          <a:ln/>
        </p:spPr>
        <p:txBody>
          <a:bodyPr wrap="square" lIns="0" tIns="0" rIns="0" bIns="0" rtlCol="0" anchor="ctr"/>
          <a:lstStyle/>
          <a:p>
            <a:pPr marL="0" indent="0" algn="ctr">
              <a:buNone/>
            </a:pPr>
            <a:r>
              <a:rPr lang="en-US" sz="1100" b="1" dirty="0">
                <a:solidFill>
                  <a:schemeClr val="bg1"/>
                </a:solidFill>
              </a:rPr>
              <a:t>Presenter: Asukia</a:t>
            </a:r>
            <a:endParaRPr lang="en-US" sz="1100" dirty="0"/>
          </a:p>
        </p:txBody>
      </p:sp>
      <p:sp>
        <p:nvSpPr>
          <p:cNvPr id="6" name="Card"/>
          <p:cNvSpPr/>
          <p:nvPr/>
        </p:nvSpPr>
        <p:spPr>
          <a:xfrm>
            <a:off x="457200" y="960120"/>
            <a:ext cx="3749040" cy="3108960"/>
          </a:xfrm>
          <a:prstGeom prst="roundRect">
            <a:avLst>
              <a:gd name="adj" fmla="val 2353"/>
            </a:avLst>
          </a:prstGeom>
          <a:solidFill>
            <a:schemeClr val="bg1"/>
          </a:solidFill>
          <a:ln w="12700">
            <a:solidFill>
              <a:srgbClr val="D9CBB5"/>
            </a:solidFill>
            <a:prstDash val="solid"/>
          </a:ln>
        </p:spPr>
      </p:sp>
      <p:pic>
        <p:nvPicPr>
          <p:cNvPr id="7" name="Image 0" descr="Website: Overview page"/>
          <p:cNvPicPr>
            <a:picLocks noChangeAspect="1"/>
          </p:cNvPicPr>
          <p:nvPr/>
        </p:nvPicPr>
        <p:blipFill>
          <a:blip r:embed="rId3"/>
          <a:srcRect/>
          <a:stretch/>
        </p:blipFill>
        <p:spPr>
          <a:xfrm>
            <a:off x="548640" y="1051560"/>
            <a:ext cx="3566160" cy="2811196"/>
          </a:xfrm>
          <a:prstGeom prst="rect">
            <a:avLst/>
          </a:prstGeom>
        </p:spPr>
      </p:pic>
      <p:sp>
        <p:nvSpPr>
          <p:cNvPr id="8" name="Text 4"/>
          <p:cNvSpPr txBox="1"/>
          <p:nvPr/>
        </p:nvSpPr>
        <p:spPr>
          <a:xfrm>
            <a:off x="4480560" y="960120"/>
            <a:ext cx="4206240" cy="256032"/>
          </a:xfrm>
          <a:prstGeom prst="rect">
            <a:avLst/>
          </a:prstGeom>
          <a:noFill/>
          <a:ln/>
        </p:spPr>
        <p:txBody>
          <a:bodyPr wrap="square" lIns="0" tIns="0" rIns="0" bIns="0" rtlCol="0" anchor="ctr"/>
          <a:lstStyle/>
          <a:p>
            <a:pPr marL="0" indent="0">
              <a:buNone/>
            </a:pPr>
            <a:r>
              <a:rPr lang="en-US" sz="1300" b="1" dirty="0">
                <a:solidFill>
                  <a:schemeClr val="accent2"/>
                </a:solidFill>
                <a:latin typeface="Georgia" pitchFamily="34" charset="0"/>
                <a:ea typeface="Georgia" pitchFamily="34" charset="-122"/>
                <a:cs typeface="Georgia" pitchFamily="34" charset="-120"/>
              </a:rPr>
              <a:t>What this page does</a:t>
            </a:r>
            <a:endParaRPr lang="en-US" sz="1300" dirty="0"/>
          </a:p>
        </p:txBody>
      </p:sp>
      <p:sp>
        <p:nvSpPr>
          <p:cNvPr id="9" name="Text 5"/>
          <p:cNvSpPr txBox="1"/>
          <p:nvPr/>
        </p:nvSpPr>
        <p:spPr>
          <a:xfrm>
            <a:off x="4480560" y="1234440"/>
            <a:ext cx="4206240" cy="731520"/>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chemeClr val="tx1"/>
                </a:solidFill>
              </a:rPr>
              <a:t>Shows everything we offer in one place</a:t>
            </a:r>
            <a:endParaRPr lang="en-US" sz="1150" dirty="0"/>
          </a:p>
          <a:p>
            <a:pPr marL="342900" indent="-342900">
              <a:spcAft>
                <a:spcPts val="300"/>
              </a:spcAft>
              <a:buSzPct val="100000"/>
              <a:buChar char="•"/>
            </a:pPr>
            <a:r>
              <a:rPr lang="en-US" sz="1150" dirty="0">
                <a:solidFill>
                  <a:schemeClr val="tx1"/>
                </a:solidFill>
              </a:rPr>
              <a:t>Filter buttons: All, Packages and Individual Activities</a:t>
            </a:r>
            <a:endParaRPr lang="en-US" sz="1150" dirty="0"/>
          </a:p>
        </p:txBody>
      </p:sp>
      <p:sp>
        <p:nvSpPr>
          <p:cNvPr id="10" name="Text 6"/>
          <p:cNvSpPr txBox="1"/>
          <p:nvPr/>
        </p:nvSpPr>
        <p:spPr>
          <a:xfrm>
            <a:off x="4480560" y="2011680"/>
            <a:ext cx="4206240" cy="256032"/>
          </a:xfrm>
          <a:prstGeom prst="rect">
            <a:avLst/>
          </a:prstGeom>
          <a:noFill/>
          <a:ln/>
        </p:spPr>
        <p:txBody>
          <a:bodyPr wrap="square" lIns="0" tIns="0" rIns="0" bIns="0" rtlCol="0" anchor="ctr"/>
          <a:lstStyle/>
          <a:p>
            <a:pPr marL="0" indent="0">
              <a:buNone/>
            </a:pPr>
            <a:r>
              <a:rPr lang="en-US" sz="1300" b="1" dirty="0">
                <a:solidFill>
                  <a:schemeClr val="accent2"/>
                </a:solidFill>
                <a:latin typeface="Georgia" pitchFamily="34" charset="0"/>
                <a:ea typeface="Georgia" pitchFamily="34" charset="-122"/>
                <a:cs typeface="Georgia" pitchFamily="34" charset="-120"/>
              </a:rPr>
              <a:t>How it works</a:t>
            </a:r>
            <a:endParaRPr lang="en-US" sz="1300" dirty="0"/>
          </a:p>
        </p:txBody>
      </p:sp>
      <p:sp>
        <p:nvSpPr>
          <p:cNvPr id="11" name="Text 7"/>
          <p:cNvSpPr txBox="1"/>
          <p:nvPr/>
        </p:nvSpPr>
        <p:spPr>
          <a:xfrm>
            <a:off x="4480560" y="2286000"/>
            <a:ext cx="4206240" cy="1417320"/>
          </a:xfrm>
          <a:prstGeom prst="rect">
            <a:avLst/>
          </a:prstGeom>
          <a:noFill/>
          <a:ln/>
        </p:spPr>
        <p:txBody>
          <a:bodyPr wrap="square" lIns="0" tIns="0" rIns="0" bIns="0" rtlCol="0" anchor="t"/>
          <a:lstStyle/>
          <a:p>
            <a:pPr marL="342900" indent="-342900">
              <a:spcAft>
                <a:spcPts val="300"/>
              </a:spcAft>
              <a:buSzPct val="100000"/>
              <a:buFont typeface="+mj-lt"/>
              <a:buAutoNum type="arabicPeriod"/>
            </a:pPr>
            <a:r>
              <a:rPr lang="en-US" sz="1150" dirty="0">
                <a:solidFill>
                  <a:schemeClr val="tx1"/>
                </a:solidFill>
              </a:rPr>
              <a:t>Press Packages: only the packages show</a:t>
            </a:r>
            <a:endParaRPr lang="en-US" sz="1150" dirty="0"/>
          </a:p>
          <a:p>
            <a:pPr marL="342900" indent="-342900">
              <a:spcAft>
                <a:spcPts val="300"/>
              </a:spcAft>
              <a:buSzPct val="100000"/>
              <a:buFont typeface="+mj-lt"/>
              <a:buAutoNum type="arabicPeriod"/>
            </a:pPr>
            <a:r>
              <a:rPr lang="en-US" sz="1150" dirty="0">
                <a:solidFill>
                  <a:schemeClr val="tx1"/>
                </a:solidFill>
              </a:rPr>
              <a:t>Press Individual Activities: only the activities show</a:t>
            </a:r>
            <a:endParaRPr lang="en-US" sz="1150" dirty="0"/>
          </a:p>
          <a:p>
            <a:pPr marL="342900" indent="-342900">
              <a:spcAft>
                <a:spcPts val="300"/>
              </a:spcAft>
              <a:buSzPct val="100000"/>
              <a:buFont typeface="+mj-lt"/>
              <a:buAutoNum type="arabicPeriod"/>
            </a:pPr>
            <a:r>
              <a:rPr lang="en-US" sz="1150" dirty="0">
                <a:solidFill>
                  <a:schemeClr val="tx1"/>
                </a:solidFill>
              </a:rPr>
              <a:t>Press All: everything shows again</a:t>
            </a:r>
            <a:endParaRPr lang="en-US" sz="1150" dirty="0"/>
          </a:p>
          <a:p>
            <a:pPr marL="342900" indent="-342900">
              <a:spcAft>
                <a:spcPts val="300"/>
              </a:spcAft>
              <a:buSzPct val="100000"/>
              <a:buFont typeface="+mj-lt"/>
              <a:buAutoNum type="arabicPeriod"/>
            </a:pPr>
            <a:r>
              <a:rPr lang="en-US" sz="1150" dirty="0">
                <a:solidFill>
                  <a:schemeClr val="tx1"/>
                </a:solidFill>
              </a:rPr>
              <a:t>Press View on Mountain Adventure to open its details page</a:t>
            </a:r>
            <a:endParaRPr lang="en-US" sz="1150" dirty="0"/>
          </a:p>
        </p:txBody>
      </p:sp>
      <p:sp>
        <p:nvSpPr>
          <p:cNvPr id="12" name="Text 8"/>
          <p:cNvSpPr txBox="1"/>
          <p:nvPr/>
        </p:nvSpPr>
        <p:spPr>
          <a:xfrm>
            <a:off x="4480560" y="3749040"/>
            <a:ext cx="4206240" cy="256032"/>
          </a:xfrm>
          <a:prstGeom prst="rect">
            <a:avLst/>
          </a:prstGeom>
          <a:noFill/>
          <a:ln/>
        </p:spPr>
        <p:txBody>
          <a:bodyPr wrap="square" lIns="0" tIns="0" rIns="0" bIns="0" rtlCol="0" anchor="ctr"/>
          <a:lstStyle/>
          <a:p>
            <a:pPr marL="0" indent="0">
              <a:buNone/>
            </a:pPr>
            <a:r>
              <a:rPr lang="en-US" sz="1300" b="1" dirty="0">
                <a:solidFill>
                  <a:schemeClr val="accent2"/>
                </a:solidFill>
                <a:latin typeface="Georgia" pitchFamily="34" charset="0"/>
                <a:ea typeface="Georgia" pitchFamily="34" charset="-122"/>
                <a:cs typeface="Georgia" pitchFamily="34" charset="-120"/>
              </a:rPr>
              <a:t>Why we designed it this way</a:t>
            </a:r>
            <a:endParaRPr lang="en-US" sz="1300" dirty="0"/>
          </a:p>
        </p:txBody>
      </p:sp>
      <p:sp>
        <p:nvSpPr>
          <p:cNvPr id="13" name="Text 9"/>
          <p:cNvSpPr txBox="1"/>
          <p:nvPr/>
        </p:nvSpPr>
        <p:spPr>
          <a:xfrm>
            <a:off x="4480560" y="4023360"/>
            <a:ext cx="4206240" cy="640080"/>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chemeClr val="tx1"/>
                </a:solidFill>
              </a:rPr>
              <a:t>Customers can compare options quickly</a:t>
            </a:r>
            <a:endParaRPr lang="en-US" sz="1150" dirty="0"/>
          </a:p>
        </p:txBody>
      </p:sp>
      <p:sp>
        <p:nvSpPr>
          <p:cNvPr id="25" name="Slide Number Placeholder 0"/>
          <p:cNvSpPr>
            <a:spLocks noGrp="1"/>
          </p:cNvSpPr>
          <p:nvPr>
            <p:ph type="sldNum" sz="quarter" idx="4294967295"/>
          </p:nvPr>
        </p:nvSpPr>
        <p:spPr>
          <a:xfrm>
            <a:off x="841248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tx2"/>
                </a:solidFill>
              </a:defRPr>
            </a:lvl1pPr>
          </a:lstStyle>
          <a:p>
            <a:pPr algn="l"/>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28600"/>
            <a:ext cx="6675120" cy="594360"/>
          </a:xfrm>
          <a:prstGeom prst="rect">
            <a:avLst/>
          </a:prstGeom>
          <a:noFill/>
          <a:ln/>
        </p:spPr>
        <p:txBody>
          <a:bodyPr wrap="square" lIns="0" tIns="0" rIns="0" bIns="0" rtlCol="0" anchor="ctr"/>
          <a:lstStyle/>
          <a:p>
            <a:pPr marL="0" indent="0">
              <a:buNone/>
            </a:pPr>
            <a:r>
              <a:rPr lang="en-US" sz="2600" b="1" dirty="0">
                <a:solidFill>
                  <a:schemeClr val="tx2"/>
                </a:solidFill>
                <a:latin typeface="Georgia" pitchFamily="34" charset="0"/>
                <a:ea typeface="Georgia" pitchFamily="34" charset="-122"/>
                <a:cs typeface="Georgia" pitchFamily="34" charset="-120"/>
              </a:rPr>
              <a:t>Website: Package details page</a:t>
            </a:r>
            <a:endParaRPr lang="en-US" sz="2600" dirty="0"/>
          </a:p>
        </p:txBody>
      </p:sp>
      <p:sp>
        <p:nvSpPr>
          <p:cNvPr id="3" name="Presenter tag"/>
          <p:cNvSpPr/>
          <p:nvPr/>
        </p:nvSpPr>
        <p:spPr>
          <a:xfrm>
            <a:off x="7269480" y="347472"/>
            <a:ext cx="1463040" cy="329184"/>
          </a:xfrm>
          <a:prstGeom prst="roundRect">
            <a:avLst>
              <a:gd name="adj" fmla="val 50000"/>
            </a:avLst>
          </a:prstGeom>
          <a:solidFill>
            <a:schemeClr val="accent2"/>
          </a:solidFill>
          <a:ln w="12700">
            <a:solidFill>
              <a:schemeClr val="accent2"/>
            </a:solidFill>
            <a:prstDash val="solid"/>
          </a:ln>
        </p:spPr>
      </p:sp>
      <p:sp>
        <p:nvSpPr>
          <p:cNvPr id="4" name="Text 2"/>
          <p:cNvSpPr txBox="1"/>
          <p:nvPr/>
        </p:nvSpPr>
        <p:spPr>
          <a:xfrm>
            <a:off x="7269480" y="347472"/>
            <a:ext cx="1463040" cy="329184"/>
          </a:xfrm>
          <a:prstGeom prst="rect">
            <a:avLst/>
          </a:prstGeom>
          <a:noFill/>
          <a:ln/>
        </p:spPr>
        <p:txBody>
          <a:bodyPr wrap="square" lIns="0" tIns="0" rIns="0" bIns="0" rtlCol="0" anchor="ctr"/>
          <a:lstStyle/>
          <a:p>
            <a:pPr marL="0" indent="0" algn="ctr">
              <a:buNone/>
            </a:pPr>
            <a:r>
              <a:rPr lang="en-US" sz="1100" b="1" dirty="0">
                <a:solidFill>
                  <a:schemeClr val="bg1"/>
                </a:solidFill>
              </a:rPr>
              <a:t>Presenter: Asukia</a:t>
            </a:r>
            <a:endParaRPr lang="en-US" sz="1100" dirty="0"/>
          </a:p>
        </p:txBody>
      </p:sp>
      <p:sp>
        <p:nvSpPr>
          <p:cNvPr id="6" name="Card"/>
          <p:cNvSpPr/>
          <p:nvPr/>
        </p:nvSpPr>
        <p:spPr>
          <a:xfrm>
            <a:off x="457200" y="960120"/>
            <a:ext cx="3749040" cy="3108960"/>
          </a:xfrm>
          <a:prstGeom prst="roundRect">
            <a:avLst>
              <a:gd name="adj" fmla="val 2353"/>
            </a:avLst>
          </a:prstGeom>
          <a:solidFill>
            <a:schemeClr val="bg1"/>
          </a:solidFill>
          <a:ln w="12700">
            <a:solidFill>
              <a:srgbClr val="D9CBB5"/>
            </a:solidFill>
            <a:prstDash val="solid"/>
          </a:ln>
        </p:spPr>
      </p:sp>
      <p:pic>
        <p:nvPicPr>
          <p:cNvPr id="7" name="Image 0" descr="Website: Package details page"/>
          <p:cNvPicPr>
            <a:picLocks noChangeAspect="1"/>
          </p:cNvPicPr>
          <p:nvPr/>
        </p:nvPicPr>
        <p:blipFill>
          <a:blip r:embed="rId3"/>
          <a:srcRect/>
          <a:stretch/>
        </p:blipFill>
        <p:spPr>
          <a:xfrm>
            <a:off x="548640" y="1051560"/>
            <a:ext cx="3566160" cy="2318004"/>
          </a:xfrm>
          <a:prstGeom prst="rect">
            <a:avLst/>
          </a:prstGeom>
        </p:spPr>
      </p:pic>
      <p:sp>
        <p:nvSpPr>
          <p:cNvPr id="8" name="Text 4"/>
          <p:cNvSpPr txBox="1"/>
          <p:nvPr/>
        </p:nvSpPr>
        <p:spPr>
          <a:xfrm>
            <a:off x="4480560" y="960120"/>
            <a:ext cx="4206240" cy="256032"/>
          </a:xfrm>
          <a:prstGeom prst="rect">
            <a:avLst/>
          </a:prstGeom>
          <a:noFill/>
          <a:ln/>
        </p:spPr>
        <p:txBody>
          <a:bodyPr wrap="square" lIns="0" tIns="0" rIns="0" bIns="0" rtlCol="0" anchor="ctr"/>
          <a:lstStyle/>
          <a:p>
            <a:pPr marL="0" indent="0">
              <a:buNone/>
            </a:pPr>
            <a:r>
              <a:rPr lang="en-US" sz="1300" b="1" dirty="0">
                <a:solidFill>
                  <a:schemeClr val="accent2"/>
                </a:solidFill>
                <a:latin typeface="Georgia" pitchFamily="34" charset="0"/>
                <a:ea typeface="Georgia" pitchFamily="34" charset="-122"/>
                <a:cs typeface="Georgia" pitchFamily="34" charset="-120"/>
              </a:rPr>
              <a:t>What this page does</a:t>
            </a:r>
            <a:endParaRPr lang="en-US" sz="1300" dirty="0"/>
          </a:p>
        </p:txBody>
      </p:sp>
      <p:sp>
        <p:nvSpPr>
          <p:cNvPr id="9" name="Text 5"/>
          <p:cNvSpPr txBox="1"/>
          <p:nvPr/>
        </p:nvSpPr>
        <p:spPr>
          <a:xfrm>
            <a:off x="4480560" y="1234440"/>
            <a:ext cx="4206240" cy="731520"/>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chemeClr val="tx1"/>
                </a:solidFill>
              </a:rPr>
              <a:t>Large picture with four more pictures, title and rating</a:t>
            </a:r>
            <a:endParaRPr lang="en-US" sz="1150" dirty="0"/>
          </a:p>
          <a:p>
            <a:pPr marL="342900" indent="-342900">
              <a:spcAft>
                <a:spcPts val="300"/>
              </a:spcAft>
              <a:buSzPct val="100000"/>
              <a:buChar char="•"/>
            </a:pPr>
            <a:r>
              <a:rPr lang="en-US" sz="1150" dirty="0">
                <a:solidFill>
                  <a:schemeClr val="tx1"/>
                </a:solidFill>
              </a:rPr>
              <a:t>Arrows open and close Description, What's Included, Meeting Point and Cancellation Policy</a:t>
            </a:r>
            <a:endParaRPr lang="en-US" sz="1150" dirty="0"/>
          </a:p>
        </p:txBody>
      </p:sp>
      <p:sp>
        <p:nvSpPr>
          <p:cNvPr id="10" name="Text 6"/>
          <p:cNvSpPr txBox="1"/>
          <p:nvPr/>
        </p:nvSpPr>
        <p:spPr>
          <a:xfrm>
            <a:off x="4480560" y="2011680"/>
            <a:ext cx="4206240" cy="256032"/>
          </a:xfrm>
          <a:prstGeom prst="rect">
            <a:avLst/>
          </a:prstGeom>
          <a:noFill/>
          <a:ln/>
        </p:spPr>
        <p:txBody>
          <a:bodyPr wrap="square" lIns="0" tIns="0" rIns="0" bIns="0" rtlCol="0" anchor="ctr"/>
          <a:lstStyle/>
          <a:p>
            <a:pPr marL="0" indent="0">
              <a:buNone/>
            </a:pPr>
            <a:r>
              <a:rPr lang="en-US" sz="1300" b="1" dirty="0">
                <a:solidFill>
                  <a:schemeClr val="accent2"/>
                </a:solidFill>
                <a:latin typeface="Georgia" pitchFamily="34" charset="0"/>
                <a:ea typeface="Georgia" pitchFamily="34" charset="-122"/>
                <a:cs typeface="Georgia" pitchFamily="34" charset="-120"/>
              </a:rPr>
              <a:t>How it works</a:t>
            </a:r>
            <a:endParaRPr lang="en-US" sz="1300" dirty="0"/>
          </a:p>
        </p:txBody>
      </p:sp>
      <p:sp>
        <p:nvSpPr>
          <p:cNvPr id="11" name="Text 7"/>
          <p:cNvSpPr txBox="1"/>
          <p:nvPr/>
        </p:nvSpPr>
        <p:spPr>
          <a:xfrm>
            <a:off x="4480560" y="2286000"/>
            <a:ext cx="4206240" cy="1417320"/>
          </a:xfrm>
          <a:prstGeom prst="rect">
            <a:avLst/>
          </a:prstGeom>
          <a:noFill/>
          <a:ln/>
        </p:spPr>
        <p:txBody>
          <a:bodyPr wrap="square" lIns="0" tIns="0" rIns="0" bIns="0" rtlCol="0" anchor="t"/>
          <a:lstStyle/>
          <a:p>
            <a:pPr marL="342900" indent="-342900">
              <a:spcAft>
                <a:spcPts val="300"/>
              </a:spcAft>
              <a:buSzPct val="100000"/>
              <a:buFont typeface="+mj-lt"/>
              <a:buAutoNum type="arabicPeriod"/>
            </a:pPr>
            <a:r>
              <a:rPr lang="en-US" sz="1150" dirty="0">
                <a:solidFill>
                  <a:schemeClr val="tx1"/>
                </a:solidFill>
              </a:rPr>
              <a:t>Press an arrow: arrow down opens the section and shows the information, arrow up closes it</a:t>
            </a:r>
            <a:endParaRPr lang="en-US" sz="1150" dirty="0"/>
          </a:p>
          <a:p>
            <a:pPr marL="342900" indent="-342900">
              <a:spcAft>
                <a:spcPts val="300"/>
              </a:spcAft>
              <a:buSzPct val="100000"/>
              <a:buFont typeface="+mj-lt"/>
              <a:buAutoNum type="arabicPeriod"/>
            </a:pPr>
            <a:r>
              <a:rPr lang="en-US" sz="1150" dirty="0">
                <a:solidFill>
                  <a:schemeClr val="tx1"/>
                </a:solidFill>
              </a:rPr>
              <a:t>Choose a date and press Book Now: a booking message appears (it asks for a date first)</a:t>
            </a:r>
            <a:endParaRPr lang="en-US" sz="1150" dirty="0"/>
          </a:p>
          <a:p>
            <a:pPr marL="342900" indent="-342900">
              <a:spcAft>
                <a:spcPts val="300"/>
              </a:spcAft>
              <a:buSzPct val="100000"/>
              <a:buFont typeface="+mj-lt"/>
              <a:buAutoNum type="arabicPeriod"/>
            </a:pPr>
            <a:r>
              <a:rPr lang="en-US" sz="1150" dirty="0">
                <a:solidFill>
                  <a:schemeClr val="tx1"/>
                </a:solidFill>
              </a:rPr>
              <a:t>Add To Quote saves the item for the Fees page</a:t>
            </a:r>
            <a:endParaRPr lang="en-US" sz="1150" dirty="0"/>
          </a:p>
          <a:p>
            <a:pPr marL="342900" indent="-342900">
              <a:spcAft>
                <a:spcPts val="300"/>
              </a:spcAft>
              <a:buSzPct val="100000"/>
              <a:buFont typeface="+mj-lt"/>
              <a:buAutoNum type="arabicPeriod"/>
            </a:pPr>
            <a:r>
              <a:rPr lang="en-US" sz="1150" dirty="0">
                <a:solidFill>
                  <a:schemeClr val="tx1"/>
                </a:solidFill>
              </a:rPr>
              <a:t>Save downloads a screenshot, Share sends the page link</a:t>
            </a:r>
            <a:endParaRPr lang="en-US" sz="1150" dirty="0"/>
          </a:p>
        </p:txBody>
      </p:sp>
      <p:sp>
        <p:nvSpPr>
          <p:cNvPr id="12" name="Text 8"/>
          <p:cNvSpPr txBox="1"/>
          <p:nvPr/>
        </p:nvSpPr>
        <p:spPr>
          <a:xfrm>
            <a:off x="4480560" y="3749040"/>
            <a:ext cx="4206240" cy="256032"/>
          </a:xfrm>
          <a:prstGeom prst="rect">
            <a:avLst/>
          </a:prstGeom>
          <a:noFill/>
          <a:ln/>
        </p:spPr>
        <p:txBody>
          <a:bodyPr wrap="square" lIns="0" tIns="0" rIns="0" bIns="0" rtlCol="0" anchor="ctr"/>
          <a:lstStyle/>
          <a:p>
            <a:pPr marL="0" indent="0">
              <a:buNone/>
            </a:pPr>
            <a:r>
              <a:rPr lang="en-US" sz="1300" b="1" dirty="0">
                <a:solidFill>
                  <a:schemeClr val="accent2"/>
                </a:solidFill>
                <a:latin typeface="Georgia" pitchFamily="34" charset="0"/>
                <a:ea typeface="Georgia" pitchFamily="34" charset="-122"/>
                <a:cs typeface="Georgia" pitchFamily="34" charset="-120"/>
              </a:rPr>
              <a:t>Why we designed it this way</a:t>
            </a:r>
            <a:endParaRPr lang="en-US" sz="1300" dirty="0"/>
          </a:p>
        </p:txBody>
      </p:sp>
      <p:sp>
        <p:nvSpPr>
          <p:cNvPr id="13" name="Text 9"/>
          <p:cNvSpPr txBox="1"/>
          <p:nvPr/>
        </p:nvSpPr>
        <p:spPr>
          <a:xfrm>
            <a:off x="4480560" y="4023360"/>
            <a:ext cx="4206240" cy="640080"/>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chemeClr val="tx1"/>
                </a:solidFill>
              </a:rPr>
              <a:t>Same layout for every package, so users know where to look</a:t>
            </a:r>
            <a:endParaRPr lang="en-US" sz="1150" dirty="0"/>
          </a:p>
        </p:txBody>
      </p:sp>
      <p:sp>
        <p:nvSpPr>
          <p:cNvPr id="25" name="Slide Number Placeholder 0"/>
          <p:cNvSpPr>
            <a:spLocks noGrp="1"/>
          </p:cNvSpPr>
          <p:nvPr>
            <p:ph type="sldNum" sz="quarter" idx="4294967295"/>
          </p:nvPr>
        </p:nvSpPr>
        <p:spPr>
          <a:xfrm>
            <a:off x="841248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tx2"/>
                </a:solidFill>
              </a:defRPr>
            </a:lvl1pPr>
          </a:lstStyle>
          <a:p>
            <a:pPr algn="l"/>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28600"/>
            <a:ext cx="6675120" cy="594360"/>
          </a:xfrm>
          <a:prstGeom prst="rect">
            <a:avLst/>
          </a:prstGeom>
          <a:noFill/>
          <a:ln/>
        </p:spPr>
        <p:txBody>
          <a:bodyPr wrap="square" lIns="0" tIns="0" rIns="0" bIns="0" rtlCol="0" anchor="ctr"/>
          <a:lstStyle/>
          <a:p>
            <a:pPr marL="0" indent="0">
              <a:buNone/>
            </a:pPr>
            <a:r>
              <a:rPr lang="en-US" sz="2600" b="1" dirty="0">
                <a:solidFill>
                  <a:schemeClr val="tx2"/>
                </a:solidFill>
                <a:latin typeface="Georgia" pitchFamily="34" charset="0"/>
                <a:ea typeface="Georgia" pitchFamily="34" charset="-122"/>
                <a:cs typeface="Georgia" pitchFamily="34" charset="-120"/>
              </a:rPr>
              <a:t>Website: Fees page</a:t>
            </a:r>
            <a:endParaRPr lang="en-US" sz="2600" dirty="0"/>
          </a:p>
        </p:txBody>
      </p:sp>
      <p:sp>
        <p:nvSpPr>
          <p:cNvPr id="3" name="Presenter tag"/>
          <p:cNvSpPr/>
          <p:nvPr/>
        </p:nvSpPr>
        <p:spPr>
          <a:xfrm>
            <a:off x="7269480" y="347472"/>
            <a:ext cx="1463040" cy="329184"/>
          </a:xfrm>
          <a:prstGeom prst="roundRect">
            <a:avLst>
              <a:gd name="adj" fmla="val 50000"/>
            </a:avLst>
          </a:prstGeom>
          <a:solidFill>
            <a:schemeClr val="accent2"/>
          </a:solidFill>
          <a:ln w="12700">
            <a:solidFill>
              <a:schemeClr val="accent2"/>
            </a:solidFill>
            <a:prstDash val="solid"/>
          </a:ln>
        </p:spPr>
      </p:sp>
      <p:sp>
        <p:nvSpPr>
          <p:cNvPr id="4" name="Text 2"/>
          <p:cNvSpPr txBox="1"/>
          <p:nvPr/>
        </p:nvSpPr>
        <p:spPr>
          <a:xfrm>
            <a:off x="7269480" y="347472"/>
            <a:ext cx="1463040" cy="329184"/>
          </a:xfrm>
          <a:prstGeom prst="rect">
            <a:avLst/>
          </a:prstGeom>
          <a:noFill/>
          <a:ln/>
        </p:spPr>
        <p:txBody>
          <a:bodyPr wrap="square" lIns="0" tIns="0" rIns="0" bIns="0" rtlCol="0" anchor="ctr"/>
          <a:lstStyle/>
          <a:p>
            <a:pPr marL="0" indent="0" algn="ctr">
              <a:buNone/>
            </a:pPr>
            <a:r>
              <a:rPr lang="en-US" sz="1100" b="1" dirty="0">
                <a:solidFill>
                  <a:schemeClr val="bg1"/>
                </a:solidFill>
              </a:rPr>
              <a:t>Presenter: Asukia</a:t>
            </a:r>
            <a:endParaRPr lang="en-US" sz="1100" dirty="0"/>
          </a:p>
        </p:txBody>
      </p:sp>
      <p:sp>
        <p:nvSpPr>
          <p:cNvPr id="6" name="Card"/>
          <p:cNvSpPr/>
          <p:nvPr/>
        </p:nvSpPr>
        <p:spPr>
          <a:xfrm>
            <a:off x="457200" y="960120"/>
            <a:ext cx="3749040" cy="3108960"/>
          </a:xfrm>
          <a:prstGeom prst="roundRect">
            <a:avLst>
              <a:gd name="adj" fmla="val 2353"/>
            </a:avLst>
          </a:prstGeom>
          <a:solidFill>
            <a:schemeClr val="bg1"/>
          </a:solidFill>
          <a:ln w="12700">
            <a:solidFill>
              <a:srgbClr val="D9CBB5"/>
            </a:solidFill>
            <a:prstDash val="solid"/>
          </a:ln>
        </p:spPr>
      </p:sp>
      <p:pic>
        <p:nvPicPr>
          <p:cNvPr id="7" name="Image 0" descr="Website: Fees page"/>
          <p:cNvPicPr>
            <a:picLocks noChangeAspect="1"/>
          </p:cNvPicPr>
          <p:nvPr/>
        </p:nvPicPr>
        <p:blipFill>
          <a:blip r:embed="rId3"/>
          <a:srcRect/>
          <a:stretch/>
        </p:blipFill>
        <p:spPr>
          <a:xfrm>
            <a:off x="548640" y="1051560"/>
            <a:ext cx="3566160" cy="2526662"/>
          </a:xfrm>
          <a:prstGeom prst="rect">
            <a:avLst/>
          </a:prstGeom>
        </p:spPr>
      </p:pic>
      <p:sp>
        <p:nvSpPr>
          <p:cNvPr id="8" name="Text 4"/>
          <p:cNvSpPr txBox="1"/>
          <p:nvPr/>
        </p:nvSpPr>
        <p:spPr>
          <a:xfrm>
            <a:off x="4480560" y="960120"/>
            <a:ext cx="4206240" cy="256032"/>
          </a:xfrm>
          <a:prstGeom prst="rect">
            <a:avLst/>
          </a:prstGeom>
          <a:noFill/>
          <a:ln/>
        </p:spPr>
        <p:txBody>
          <a:bodyPr wrap="square" lIns="0" tIns="0" rIns="0" bIns="0" rtlCol="0" anchor="ctr"/>
          <a:lstStyle/>
          <a:p>
            <a:pPr marL="0" indent="0">
              <a:buNone/>
            </a:pPr>
            <a:r>
              <a:rPr lang="en-US" sz="1300" b="1" dirty="0">
                <a:solidFill>
                  <a:schemeClr val="accent2"/>
                </a:solidFill>
                <a:latin typeface="Georgia" pitchFamily="34" charset="0"/>
                <a:ea typeface="Georgia" pitchFamily="34" charset="-122"/>
                <a:cs typeface="Georgia" pitchFamily="34" charset="-120"/>
              </a:rPr>
              <a:t>What this page does</a:t>
            </a:r>
            <a:endParaRPr lang="en-US" sz="1300" dirty="0"/>
          </a:p>
        </p:txBody>
      </p:sp>
      <p:sp>
        <p:nvSpPr>
          <p:cNvPr id="9" name="Text 5"/>
          <p:cNvSpPr txBox="1"/>
          <p:nvPr/>
        </p:nvSpPr>
        <p:spPr>
          <a:xfrm>
            <a:off x="4480560" y="1234440"/>
            <a:ext cx="4206240" cy="731520"/>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chemeClr val="tx1"/>
                </a:solidFill>
              </a:rPr>
              <a:t>All packages and activities with an Add button</a:t>
            </a:r>
            <a:endParaRPr lang="en-US" sz="1150" dirty="0"/>
          </a:p>
          <a:p>
            <a:pPr marL="342900" indent="-342900">
              <a:spcAft>
                <a:spcPts val="300"/>
              </a:spcAft>
              <a:buSzPct val="100000"/>
              <a:buChar char="•"/>
            </a:pPr>
            <a:r>
              <a:rPr lang="en-US" sz="1150" dirty="0">
                <a:solidFill>
                  <a:schemeClr val="tx1"/>
                </a:solidFill>
              </a:rPr>
              <a:t>Your Selection box updates every time something is added or removed</a:t>
            </a:r>
            <a:endParaRPr lang="en-US" sz="1150" dirty="0"/>
          </a:p>
        </p:txBody>
      </p:sp>
      <p:sp>
        <p:nvSpPr>
          <p:cNvPr id="10" name="Text 6"/>
          <p:cNvSpPr txBox="1"/>
          <p:nvPr/>
        </p:nvSpPr>
        <p:spPr>
          <a:xfrm>
            <a:off x="4480560" y="2011680"/>
            <a:ext cx="4206240" cy="256032"/>
          </a:xfrm>
          <a:prstGeom prst="rect">
            <a:avLst/>
          </a:prstGeom>
          <a:noFill/>
          <a:ln/>
        </p:spPr>
        <p:txBody>
          <a:bodyPr wrap="square" lIns="0" tIns="0" rIns="0" bIns="0" rtlCol="0" anchor="ctr"/>
          <a:lstStyle/>
          <a:p>
            <a:pPr marL="0" indent="0">
              <a:buNone/>
            </a:pPr>
            <a:r>
              <a:rPr lang="en-US" sz="1300" b="1" dirty="0">
                <a:solidFill>
                  <a:schemeClr val="accent2"/>
                </a:solidFill>
                <a:latin typeface="Georgia" pitchFamily="34" charset="0"/>
                <a:ea typeface="Georgia" pitchFamily="34" charset="-122"/>
                <a:cs typeface="Georgia" pitchFamily="34" charset="-120"/>
              </a:rPr>
              <a:t>How it works</a:t>
            </a:r>
            <a:endParaRPr lang="en-US" sz="1300" dirty="0"/>
          </a:p>
        </p:txBody>
      </p:sp>
      <p:sp>
        <p:nvSpPr>
          <p:cNvPr id="11" name="Text 7"/>
          <p:cNvSpPr txBox="1"/>
          <p:nvPr/>
        </p:nvSpPr>
        <p:spPr>
          <a:xfrm>
            <a:off x="4480560" y="2286000"/>
            <a:ext cx="4206240" cy="1417320"/>
          </a:xfrm>
          <a:prstGeom prst="rect">
            <a:avLst/>
          </a:prstGeom>
          <a:noFill/>
          <a:ln/>
        </p:spPr>
        <p:txBody>
          <a:bodyPr wrap="square" lIns="0" tIns="0" rIns="0" bIns="0" rtlCol="0" anchor="t"/>
          <a:lstStyle/>
          <a:p>
            <a:pPr marL="342900" indent="-342900">
              <a:spcAft>
                <a:spcPts val="300"/>
              </a:spcAft>
              <a:buSzPct val="100000"/>
              <a:buFont typeface="+mj-lt"/>
              <a:buAutoNum type="arabicPeriod"/>
            </a:pPr>
            <a:r>
              <a:rPr lang="en-US" sz="1150" dirty="0">
                <a:solidFill>
                  <a:schemeClr val="tx1"/>
                </a:solidFill>
              </a:rPr>
              <a:t>Press + Add: the item goes straight into Your Selection</a:t>
            </a:r>
            <a:endParaRPr lang="en-US" sz="1150" dirty="0"/>
          </a:p>
          <a:p>
            <a:pPr marL="342900" indent="-342900">
              <a:spcAft>
                <a:spcPts val="300"/>
              </a:spcAft>
              <a:buSzPct val="100000"/>
              <a:buFont typeface="+mj-lt"/>
              <a:buAutoNum type="arabicPeriod"/>
            </a:pPr>
            <a:r>
              <a:rPr lang="en-US" sz="1150" dirty="0">
                <a:solidFill>
                  <a:schemeClr val="tx1"/>
                </a:solidFill>
              </a:rPr>
              <a:t>The subtotal, discount and total change every time</a:t>
            </a:r>
            <a:endParaRPr lang="en-US" sz="1150" dirty="0"/>
          </a:p>
          <a:p>
            <a:pPr marL="342900" indent="-342900">
              <a:spcAft>
                <a:spcPts val="300"/>
              </a:spcAft>
              <a:buSzPct val="100000"/>
              <a:buFont typeface="+mj-lt"/>
              <a:buAutoNum type="arabicPeriod"/>
            </a:pPr>
            <a:r>
              <a:rPr lang="en-US" sz="1150" dirty="0">
                <a:solidFill>
                  <a:schemeClr val="tx1"/>
                </a:solidFill>
              </a:rPr>
              <a:t>Press X to remove an item and the total updates again</a:t>
            </a:r>
            <a:endParaRPr lang="en-US" sz="1150" dirty="0"/>
          </a:p>
          <a:p>
            <a:pPr marL="342900" indent="-342900">
              <a:spcAft>
                <a:spcPts val="300"/>
              </a:spcAft>
              <a:buSzPct val="100000"/>
              <a:buFont typeface="+mj-lt"/>
              <a:buAutoNum type="arabicPeriod"/>
            </a:pPr>
            <a:r>
              <a:rPr lang="en-US" sz="1150" dirty="0">
                <a:solidFill>
                  <a:schemeClr val="tx1"/>
                </a:solidFill>
              </a:rPr>
              <a:t>Request Quote shows the quote message</a:t>
            </a:r>
            <a:endParaRPr lang="en-US" sz="1150" dirty="0"/>
          </a:p>
        </p:txBody>
      </p:sp>
      <p:sp>
        <p:nvSpPr>
          <p:cNvPr id="12" name="Text 8"/>
          <p:cNvSpPr txBox="1"/>
          <p:nvPr/>
        </p:nvSpPr>
        <p:spPr>
          <a:xfrm>
            <a:off x="4480560" y="3749040"/>
            <a:ext cx="4206240" cy="256032"/>
          </a:xfrm>
          <a:prstGeom prst="rect">
            <a:avLst/>
          </a:prstGeom>
          <a:noFill/>
          <a:ln/>
        </p:spPr>
        <p:txBody>
          <a:bodyPr wrap="square" lIns="0" tIns="0" rIns="0" bIns="0" rtlCol="0" anchor="ctr"/>
          <a:lstStyle/>
          <a:p>
            <a:pPr marL="0" indent="0">
              <a:buNone/>
            </a:pPr>
            <a:r>
              <a:rPr lang="en-US" sz="1300" b="1" dirty="0">
                <a:solidFill>
                  <a:schemeClr val="accent2"/>
                </a:solidFill>
                <a:latin typeface="Georgia" pitchFamily="34" charset="0"/>
                <a:ea typeface="Georgia" pitchFamily="34" charset="-122"/>
                <a:cs typeface="Georgia" pitchFamily="34" charset="-120"/>
              </a:rPr>
              <a:t>Why we designed it this way</a:t>
            </a:r>
            <a:endParaRPr lang="en-US" sz="1300" dirty="0"/>
          </a:p>
        </p:txBody>
      </p:sp>
      <p:sp>
        <p:nvSpPr>
          <p:cNvPr id="13" name="Text 9"/>
          <p:cNvSpPr txBox="1"/>
          <p:nvPr/>
        </p:nvSpPr>
        <p:spPr>
          <a:xfrm>
            <a:off x="4480560" y="4023360"/>
            <a:ext cx="4206240" cy="640080"/>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chemeClr val="tx1"/>
                </a:solidFill>
              </a:rPr>
              <a:t>Customers see the price before they contact us</a:t>
            </a:r>
            <a:endParaRPr lang="en-US" sz="1150" dirty="0"/>
          </a:p>
        </p:txBody>
      </p:sp>
      <p:sp>
        <p:nvSpPr>
          <p:cNvPr id="25" name="Slide Number Placeholder 0"/>
          <p:cNvSpPr>
            <a:spLocks noGrp="1"/>
          </p:cNvSpPr>
          <p:nvPr>
            <p:ph type="sldNum" sz="quarter" idx="4294967295"/>
          </p:nvPr>
        </p:nvSpPr>
        <p:spPr>
          <a:xfrm>
            <a:off x="841248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tx2"/>
                </a:solidFill>
              </a:defRPr>
            </a:lvl1pPr>
          </a:lstStyle>
          <a:p>
            <a:pPr algn="l"/>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28600"/>
            <a:ext cx="6675120" cy="594360"/>
          </a:xfrm>
          <a:prstGeom prst="rect">
            <a:avLst/>
          </a:prstGeom>
          <a:noFill/>
          <a:ln/>
        </p:spPr>
        <p:txBody>
          <a:bodyPr wrap="square" lIns="0" tIns="0" rIns="0" bIns="0" rtlCol="0" anchor="ctr"/>
          <a:lstStyle/>
          <a:p>
            <a:pPr marL="0" indent="0">
              <a:buNone/>
            </a:pPr>
            <a:r>
              <a:rPr lang="en-US" sz="2600" b="1" dirty="0">
                <a:solidFill>
                  <a:schemeClr val="tx2"/>
                </a:solidFill>
                <a:latin typeface="Georgia" pitchFamily="34" charset="0"/>
                <a:ea typeface="Georgia" pitchFamily="34" charset="-122"/>
                <a:cs typeface="Georgia" pitchFamily="34" charset="-120"/>
              </a:rPr>
              <a:t>Website: Contact page</a:t>
            </a:r>
            <a:endParaRPr lang="en-US" sz="2600" dirty="0"/>
          </a:p>
        </p:txBody>
      </p:sp>
      <p:sp>
        <p:nvSpPr>
          <p:cNvPr id="3" name="Presenter tag"/>
          <p:cNvSpPr/>
          <p:nvPr/>
        </p:nvSpPr>
        <p:spPr>
          <a:xfrm>
            <a:off x="7269480" y="347472"/>
            <a:ext cx="1463040" cy="329184"/>
          </a:xfrm>
          <a:prstGeom prst="roundRect">
            <a:avLst>
              <a:gd name="adj" fmla="val 50000"/>
            </a:avLst>
          </a:prstGeom>
          <a:solidFill>
            <a:schemeClr val="accent2"/>
          </a:solidFill>
          <a:ln w="12700">
            <a:solidFill>
              <a:schemeClr val="accent2"/>
            </a:solidFill>
            <a:prstDash val="solid"/>
          </a:ln>
        </p:spPr>
      </p:sp>
      <p:sp>
        <p:nvSpPr>
          <p:cNvPr id="4" name="Text 2"/>
          <p:cNvSpPr txBox="1"/>
          <p:nvPr/>
        </p:nvSpPr>
        <p:spPr>
          <a:xfrm>
            <a:off x="7269480" y="347472"/>
            <a:ext cx="1463040" cy="329184"/>
          </a:xfrm>
          <a:prstGeom prst="rect">
            <a:avLst/>
          </a:prstGeom>
          <a:noFill/>
          <a:ln/>
        </p:spPr>
        <p:txBody>
          <a:bodyPr wrap="square" lIns="0" tIns="0" rIns="0" bIns="0" rtlCol="0" anchor="ctr"/>
          <a:lstStyle/>
          <a:p>
            <a:pPr marL="0" indent="0" algn="ctr">
              <a:buNone/>
            </a:pPr>
            <a:r>
              <a:rPr lang="en-US" sz="1100" b="1" dirty="0">
                <a:solidFill>
                  <a:schemeClr val="bg1"/>
                </a:solidFill>
              </a:rPr>
              <a:t>Presenter: Asukia</a:t>
            </a:r>
            <a:endParaRPr lang="en-US" sz="1100" dirty="0"/>
          </a:p>
        </p:txBody>
      </p:sp>
      <p:sp>
        <p:nvSpPr>
          <p:cNvPr id="6" name="Card"/>
          <p:cNvSpPr/>
          <p:nvPr/>
        </p:nvSpPr>
        <p:spPr>
          <a:xfrm>
            <a:off x="457200" y="960120"/>
            <a:ext cx="3749040" cy="3108960"/>
          </a:xfrm>
          <a:prstGeom prst="roundRect">
            <a:avLst>
              <a:gd name="adj" fmla="val 2353"/>
            </a:avLst>
          </a:prstGeom>
          <a:solidFill>
            <a:schemeClr val="bg1"/>
          </a:solidFill>
          <a:ln w="12700">
            <a:solidFill>
              <a:srgbClr val="D9CBB5"/>
            </a:solidFill>
            <a:prstDash val="solid"/>
          </a:ln>
        </p:spPr>
      </p:sp>
      <p:pic>
        <p:nvPicPr>
          <p:cNvPr id="7" name="Image 0" descr="Website: Contact page"/>
          <p:cNvPicPr>
            <a:picLocks noChangeAspect="1"/>
          </p:cNvPicPr>
          <p:nvPr/>
        </p:nvPicPr>
        <p:blipFill>
          <a:blip r:embed="rId3"/>
          <a:srcRect/>
          <a:stretch/>
        </p:blipFill>
        <p:spPr>
          <a:xfrm>
            <a:off x="548640" y="1051560"/>
            <a:ext cx="3566160" cy="2541837"/>
          </a:xfrm>
          <a:prstGeom prst="rect">
            <a:avLst/>
          </a:prstGeom>
        </p:spPr>
      </p:pic>
      <p:sp>
        <p:nvSpPr>
          <p:cNvPr id="8" name="Text 4"/>
          <p:cNvSpPr txBox="1"/>
          <p:nvPr/>
        </p:nvSpPr>
        <p:spPr>
          <a:xfrm>
            <a:off x="4480560" y="960120"/>
            <a:ext cx="4206240" cy="256032"/>
          </a:xfrm>
          <a:prstGeom prst="rect">
            <a:avLst/>
          </a:prstGeom>
          <a:noFill/>
          <a:ln/>
        </p:spPr>
        <p:txBody>
          <a:bodyPr wrap="square" lIns="0" tIns="0" rIns="0" bIns="0" rtlCol="0" anchor="ctr"/>
          <a:lstStyle/>
          <a:p>
            <a:pPr marL="0" indent="0">
              <a:buNone/>
            </a:pPr>
            <a:r>
              <a:rPr lang="en-US" sz="1300" b="1" dirty="0">
                <a:solidFill>
                  <a:schemeClr val="accent2"/>
                </a:solidFill>
                <a:latin typeface="Georgia" pitchFamily="34" charset="0"/>
                <a:ea typeface="Georgia" pitchFamily="34" charset="-122"/>
                <a:cs typeface="Georgia" pitchFamily="34" charset="-120"/>
              </a:rPr>
              <a:t>What this page does</a:t>
            </a:r>
            <a:endParaRPr lang="en-US" sz="1300" dirty="0"/>
          </a:p>
        </p:txBody>
      </p:sp>
      <p:sp>
        <p:nvSpPr>
          <p:cNvPr id="9" name="Text 5"/>
          <p:cNvSpPr txBox="1"/>
          <p:nvPr/>
        </p:nvSpPr>
        <p:spPr>
          <a:xfrm>
            <a:off x="4480560" y="1234440"/>
            <a:ext cx="4206240" cy="731520"/>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chemeClr val="tx1"/>
                </a:solidFill>
              </a:rPr>
              <a:t>Form: name, email, phone number, package and message</a:t>
            </a:r>
            <a:endParaRPr lang="en-US" sz="1150" dirty="0"/>
          </a:p>
          <a:p>
            <a:pPr marL="342900" indent="-342900">
              <a:spcAft>
                <a:spcPts val="300"/>
              </a:spcAft>
              <a:buSzPct val="100000"/>
              <a:buChar char="•"/>
            </a:pPr>
            <a:r>
              <a:rPr lang="en-US" sz="1150" dirty="0">
                <a:solidFill>
                  <a:schemeClr val="tx1"/>
                </a:solidFill>
              </a:rPr>
              <a:t>Send button shows a thank-you message with the customer's name</a:t>
            </a:r>
            <a:endParaRPr lang="en-US" sz="1150" dirty="0"/>
          </a:p>
        </p:txBody>
      </p:sp>
      <p:sp>
        <p:nvSpPr>
          <p:cNvPr id="10" name="Text 6"/>
          <p:cNvSpPr txBox="1"/>
          <p:nvPr/>
        </p:nvSpPr>
        <p:spPr>
          <a:xfrm>
            <a:off x="4480560" y="2011680"/>
            <a:ext cx="4206240" cy="256032"/>
          </a:xfrm>
          <a:prstGeom prst="rect">
            <a:avLst/>
          </a:prstGeom>
          <a:noFill/>
          <a:ln/>
        </p:spPr>
        <p:txBody>
          <a:bodyPr wrap="square" lIns="0" tIns="0" rIns="0" bIns="0" rtlCol="0" anchor="ctr"/>
          <a:lstStyle/>
          <a:p>
            <a:pPr marL="0" indent="0">
              <a:buNone/>
            </a:pPr>
            <a:r>
              <a:rPr lang="en-US" sz="1300" b="1" dirty="0">
                <a:solidFill>
                  <a:schemeClr val="accent2"/>
                </a:solidFill>
                <a:latin typeface="Georgia" pitchFamily="34" charset="0"/>
                <a:ea typeface="Georgia" pitchFamily="34" charset="-122"/>
                <a:cs typeface="Georgia" pitchFamily="34" charset="-120"/>
              </a:rPr>
              <a:t>How it works</a:t>
            </a:r>
            <a:endParaRPr lang="en-US" sz="1300" dirty="0"/>
          </a:p>
        </p:txBody>
      </p:sp>
      <p:sp>
        <p:nvSpPr>
          <p:cNvPr id="11" name="Text 7"/>
          <p:cNvSpPr txBox="1"/>
          <p:nvPr/>
        </p:nvSpPr>
        <p:spPr>
          <a:xfrm>
            <a:off x="4480560" y="2286000"/>
            <a:ext cx="4206240" cy="1417320"/>
          </a:xfrm>
          <a:prstGeom prst="rect">
            <a:avLst/>
          </a:prstGeom>
          <a:noFill/>
          <a:ln/>
        </p:spPr>
        <p:txBody>
          <a:bodyPr wrap="square" lIns="0" tIns="0" rIns="0" bIns="0" rtlCol="0" anchor="t"/>
          <a:lstStyle/>
          <a:p>
            <a:pPr marL="342900" indent="-342900">
              <a:spcAft>
                <a:spcPts val="300"/>
              </a:spcAft>
              <a:buSzPct val="100000"/>
              <a:buFont typeface="+mj-lt"/>
              <a:buAutoNum type="arabicPeriod"/>
            </a:pPr>
            <a:r>
              <a:rPr lang="en-US" sz="1150" dirty="0">
                <a:solidFill>
                  <a:schemeClr val="tx1"/>
                </a:solidFill>
              </a:rPr>
              <a:t>Fill in name, email, phone number, package and message</a:t>
            </a:r>
            <a:endParaRPr lang="en-US" sz="1150" dirty="0"/>
          </a:p>
          <a:p>
            <a:pPr marL="342900" indent="-342900">
              <a:spcAft>
                <a:spcPts val="300"/>
              </a:spcAft>
              <a:buSzPct val="100000"/>
              <a:buFont typeface="+mj-lt"/>
              <a:buAutoNum type="arabicPeriod"/>
            </a:pPr>
            <a:r>
              <a:rPr lang="en-US" sz="1150" dirty="0">
                <a:solidFill>
                  <a:schemeClr val="tx1"/>
                </a:solidFill>
              </a:rPr>
              <a:t>Press send: JavaScript checks the name and email</a:t>
            </a:r>
            <a:endParaRPr lang="en-US" sz="1150" dirty="0"/>
          </a:p>
          <a:p>
            <a:pPr marL="342900" indent="-342900">
              <a:spcAft>
                <a:spcPts val="300"/>
              </a:spcAft>
              <a:buSzPct val="100000"/>
              <a:buFont typeface="+mj-lt"/>
              <a:buAutoNum type="arabicPeriod"/>
            </a:pPr>
            <a:r>
              <a:rPr lang="en-US" sz="1150" dirty="0">
                <a:solidFill>
                  <a:schemeClr val="tx1"/>
                </a:solidFill>
              </a:rPr>
              <a:t>A thank-you message appears with the customer's name</a:t>
            </a:r>
            <a:endParaRPr lang="en-US" sz="1150" dirty="0"/>
          </a:p>
          <a:p>
            <a:pPr marL="342900" indent="-342900">
              <a:spcAft>
                <a:spcPts val="300"/>
              </a:spcAft>
              <a:buSzPct val="100000"/>
              <a:buFont typeface="+mj-lt"/>
              <a:buAutoNum type="arabicPeriod"/>
            </a:pPr>
            <a:r>
              <a:rPr lang="en-US" sz="1150" dirty="0">
                <a:solidFill>
                  <a:schemeClr val="tx1"/>
                </a:solidFill>
              </a:rPr>
              <a:t>Map and business information are shown on the right</a:t>
            </a:r>
            <a:endParaRPr lang="en-US" sz="1150" dirty="0"/>
          </a:p>
        </p:txBody>
      </p:sp>
      <p:sp>
        <p:nvSpPr>
          <p:cNvPr id="12" name="Text 8"/>
          <p:cNvSpPr txBox="1"/>
          <p:nvPr/>
        </p:nvSpPr>
        <p:spPr>
          <a:xfrm>
            <a:off x="4480560" y="3749040"/>
            <a:ext cx="4206240" cy="256032"/>
          </a:xfrm>
          <a:prstGeom prst="rect">
            <a:avLst/>
          </a:prstGeom>
          <a:noFill/>
          <a:ln/>
        </p:spPr>
        <p:txBody>
          <a:bodyPr wrap="square" lIns="0" tIns="0" rIns="0" bIns="0" rtlCol="0" anchor="ctr"/>
          <a:lstStyle/>
          <a:p>
            <a:pPr marL="0" indent="0">
              <a:buNone/>
            </a:pPr>
            <a:r>
              <a:rPr lang="en-US" sz="1300" b="1" dirty="0">
                <a:solidFill>
                  <a:schemeClr val="accent2"/>
                </a:solidFill>
                <a:latin typeface="Georgia" pitchFamily="34" charset="0"/>
                <a:ea typeface="Georgia" pitchFamily="34" charset="-122"/>
                <a:cs typeface="Georgia" pitchFamily="34" charset="-120"/>
              </a:rPr>
              <a:t>Why we designed it this way</a:t>
            </a:r>
            <a:endParaRPr lang="en-US" sz="1300" dirty="0"/>
          </a:p>
        </p:txBody>
      </p:sp>
      <p:sp>
        <p:nvSpPr>
          <p:cNvPr id="13" name="Text 9"/>
          <p:cNvSpPr txBox="1"/>
          <p:nvPr/>
        </p:nvSpPr>
        <p:spPr>
          <a:xfrm>
            <a:off x="4480560" y="4023360"/>
            <a:ext cx="4206240" cy="640080"/>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chemeClr val="tx1"/>
                </a:solidFill>
              </a:rPr>
              <a:t>Easy to reach us and to ask about a package</a:t>
            </a:r>
            <a:endParaRPr lang="en-US" sz="1150" dirty="0"/>
          </a:p>
        </p:txBody>
      </p:sp>
      <p:sp>
        <p:nvSpPr>
          <p:cNvPr id="25" name="Slide Number Placeholder 0"/>
          <p:cNvSpPr>
            <a:spLocks noGrp="1"/>
          </p:cNvSpPr>
          <p:nvPr>
            <p:ph type="sldNum" sz="quarter" idx="4294967295"/>
          </p:nvPr>
        </p:nvSpPr>
        <p:spPr>
          <a:xfrm>
            <a:off x="841248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tx2"/>
                </a:solidFill>
              </a:defRPr>
            </a:lvl1pPr>
          </a:lstStyle>
          <a:p>
            <a:pPr algn="l"/>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28600"/>
            <a:ext cx="6675120" cy="594360"/>
          </a:xfrm>
          <a:prstGeom prst="rect">
            <a:avLst/>
          </a:prstGeom>
          <a:noFill/>
          <a:ln/>
        </p:spPr>
        <p:txBody>
          <a:bodyPr wrap="square" lIns="0" tIns="0" rIns="0" bIns="0" rtlCol="0" anchor="ctr"/>
          <a:lstStyle/>
          <a:p>
            <a:pPr marL="0" indent="0">
              <a:buNone/>
            </a:pPr>
            <a:r>
              <a:rPr lang="en-US" sz="2600" b="1" dirty="0">
                <a:solidFill>
                  <a:schemeClr val="tx2"/>
                </a:solidFill>
                <a:latin typeface="Georgia" pitchFamily="34" charset="0"/>
                <a:ea typeface="Georgia" pitchFamily="34" charset="-122"/>
                <a:cs typeface="Georgia" pitchFamily="34" charset="-120"/>
              </a:rPr>
              <a:t>Mobile: 01 Splash</a:t>
            </a:r>
            <a:endParaRPr lang="en-US" sz="2600" dirty="0"/>
          </a:p>
        </p:txBody>
      </p:sp>
      <p:sp>
        <p:nvSpPr>
          <p:cNvPr id="3" name="Presenter tag"/>
          <p:cNvSpPr/>
          <p:nvPr/>
        </p:nvSpPr>
        <p:spPr>
          <a:xfrm>
            <a:off x="7269480" y="347472"/>
            <a:ext cx="1463040" cy="329184"/>
          </a:xfrm>
          <a:prstGeom prst="roundRect">
            <a:avLst>
              <a:gd name="adj" fmla="val 50000"/>
            </a:avLst>
          </a:prstGeom>
          <a:solidFill>
            <a:schemeClr val="accent2"/>
          </a:solidFill>
          <a:ln w="12700">
            <a:solidFill>
              <a:schemeClr val="accent2"/>
            </a:solidFill>
            <a:prstDash val="solid"/>
          </a:ln>
        </p:spPr>
      </p:sp>
      <p:sp>
        <p:nvSpPr>
          <p:cNvPr id="4" name="Text 2"/>
          <p:cNvSpPr txBox="1"/>
          <p:nvPr/>
        </p:nvSpPr>
        <p:spPr>
          <a:xfrm>
            <a:off x="7269480" y="347472"/>
            <a:ext cx="1463040" cy="329184"/>
          </a:xfrm>
          <a:prstGeom prst="rect">
            <a:avLst/>
          </a:prstGeom>
          <a:noFill/>
          <a:ln/>
        </p:spPr>
        <p:txBody>
          <a:bodyPr wrap="square" lIns="0" tIns="0" rIns="0" bIns="0" rtlCol="0" anchor="ctr"/>
          <a:lstStyle/>
          <a:p>
            <a:pPr marL="0" indent="0" algn="ctr">
              <a:buNone/>
            </a:pPr>
            <a:r>
              <a:rPr lang="en-US" sz="1100" b="1" dirty="0">
                <a:solidFill>
                  <a:schemeClr val="bg1"/>
                </a:solidFill>
              </a:rPr>
              <a:t>Presenter: Itumeleng</a:t>
            </a:r>
            <a:endParaRPr lang="en-US" sz="1100" dirty="0"/>
          </a:p>
        </p:txBody>
      </p:sp>
      <p:sp>
        <p:nvSpPr>
          <p:cNvPr id="6" name="Card"/>
          <p:cNvSpPr/>
          <p:nvPr/>
        </p:nvSpPr>
        <p:spPr>
          <a:xfrm>
            <a:off x="457200" y="960120"/>
            <a:ext cx="1789524" cy="3703320"/>
          </a:xfrm>
          <a:prstGeom prst="roundRect">
            <a:avLst>
              <a:gd name="adj" fmla="val 4088"/>
            </a:avLst>
          </a:prstGeom>
          <a:solidFill>
            <a:schemeClr val="bg1"/>
          </a:solidFill>
          <a:ln w="12700">
            <a:solidFill>
              <a:srgbClr val="D9CBB5"/>
            </a:solidFill>
            <a:prstDash val="solid"/>
          </a:ln>
        </p:spPr>
      </p:sp>
      <p:pic>
        <p:nvPicPr>
          <p:cNvPr id="7" name="Image 0" descr="Mobile: 01 Splash"/>
          <p:cNvPicPr>
            <a:picLocks noChangeAspect="1"/>
          </p:cNvPicPr>
          <p:nvPr/>
        </p:nvPicPr>
        <p:blipFill>
          <a:blip r:embed="rId3"/>
          <a:srcRect/>
          <a:stretch/>
        </p:blipFill>
        <p:spPr>
          <a:xfrm>
            <a:off x="548640" y="1051560"/>
            <a:ext cx="1606644" cy="3520440"/>
          </a:xfrm>
          <a:prstGeom prst="rect">
            <a:avLst/>
          </a:prstGeom>
        </p:spPr>
      </p:pic>
      <p:sp>
        <p:nvSpPr>
          <p:cNvPr id="8" name="Text 4"/>
          <p:cNvSpPr txBox="1"/>
          <p:nvPr/>
        </p:nvSpPr>
        <p:spPr>
          <a:xfrm>
            <a:off x="2521044" y="960120"/>
            <a:ext cx="6165756" cy="256032"/>
          </a:xfrm>
          <a:prstGeom prst="rect">
            <a:avLst/>
          </a:prstGeom>
          <a:noFill/>
          <a:ln/>
        </p:spPr>
        <p:txBody>
          <a:bodyPr wrap="square" lIns="0" tIns="0" rIns="0" bIns="0" rtlCol="0" anchor="ctr"/>
          <a:lstStyle/>
          <a:p>
            <a:pPr marL="0" indent="0">
              <a:buNone/>
            </a:pPr>
            <a:r>
              <a:rPr lang="en-US" sz="1300" b="1" dirty="0">
                <a:solidFill>
                  <a:schemeClr val="accent2"/>
                </a:solidFill>
                <a:latin typeface="Georgia" pitchFamily="34" charset="0"/>
                <a:ea typeface="Georgia" pitchFamily="34" charset="-122"/>
                <a:cs typeface="Georgia" pitchFamily="34" charset="-120"/>
              </a:rPr>
              <a:t>What this page does</a:t>
            </a:r>
            <a:endParaRPr lang="en-US" sz="1300" dirty="0"/>
          </a:p>
        </p:txBody>
      </p:sp>
      <p:sp>
        <p:nvSpPr>
          <p:cNvPr id="9" name="Text 5"/>
          <p:cNvSpPr txBox="1"/>
          <p:nvPr/>
        </p:nvSpPr>
        <p:spPr>
          <a:xfrm>
            <a:off x="2521044" y="1234440"/>
            <a:ext cx="6165756" cy="96012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1"/>
                </a:solidFill>
              </a:rPr>
              <a:t>Logo, name and Cape Town, Western Cape</a:t>
            </a:r>
            <a:endParaRPr lang="en-US" sz="1200" dirty="0"/>
          </a:p>
          <a:p>
            <a:pPr marL="342900" indent="-342900">
              <a:spcAft>
                <a:spcPts val="300"/>
              </a:spcAft>
              <a:buSzPct val="100000"/>
              <a:buChar char="•"/>
            </a:pPr>
            <a:r>
              <a:rPr lang="en-US" sz="1200" dirty="0">
                <a:solidFill>
                  <a:schemeClr val="tx1"/>
                </a:solidFill>
              </a:rPr>
              <a:t>Photo and the tagline Find your next great escape</a:t>
            </a:r>
            <a:endParaRPr lang="en-US" sz="1200" dirty="0"/>
          </a:p>
          <a:p>
            <a:pPr marL="342900" indent="-342900">
              <a:spcAft>
                <a:spcPts val="300"/>
              </a:spcAft>
              <a:buSzPct val="100000"/>
              <a:buChar char="•"/>
            </a:pPr>
            <a:r>
              <a:rPr lang="en-US" sz="1200" dirty="0">
                <a:solidFill>
                  <a:schemeClr val="tx1"/>
                </a:solidFill>
              </a:rPr>
              <a:t>Explore adventures button and a Log in link</a:t>
            </a:r>
            <a:endParaRPr lang="en-US" sz="1200" dirty="0"/>
          </a:p>
        </p:txBody>
      </p:sp>
      <p:sp>
        <p:nvSpPr>
          <p:cNvPr id="10" name="Text 6"/>
          <p:cNvSpPr txBox="1"/>
          <p:nvPr/>
        </p:nvSpPr>
        <p:spPr>
          <a:xfrm>
            <a:off x="2521044" y="2240280"/>
            <a:ext cx="6165756" cy="256032"/>
          </a:xfrm>
          <a:prstGeom prst="rect">
            <a:avLst/>
          </a:prstGeom>
          <a:noFill/>
          <a:ln/>
        </p:spPr>
        <p:txBody>
          <a:bodyPr wrap="square" lIns="0" tIns="0" rIns="0" bIns="0" rtlCol="0" anchor="ctr"/>
          <a:lstStyle/>
          <a:p>
            <a:pPr marL="0" indent="0">
              <a:buNone/>
            </a:pPr>
            <a:r>
              <a:rPr lang="en-US" sz="1300" b="1" dirty="0">
                <a:solidFill>
                  <a:schemeClr val="accent2"/>
                </a:solidFill>
                <a:latin typeface="Georgia" pitchFamily="34" charset="0"/>
                <a:ea typeface="Georgia" pitchFamily="34" charset="-122"/>
                <a:cs typeface="Georgia" pitchFamily="34" charset="-120"/>
              </a:rPr>
              <a:t>How it works</a:t>
            </a:r>
            <a:endParaRPr lang="en-US" sz="1300" dirty="0"/>
          </a:p>
        </p:txBody>
      </p:sp>
      <p:sp>
        <p:nvSpPr>
          <p:cNvPr id="11" name="Text 7"/>
          <p:cNvSpPr txBox="1"/>
          <p:nvPr/>
        </p:nvSpPr>
        <p:spPr>
          <a:xfrm>
            <a:off x="2521044" y="2514600"/>
            <a:ext cx="6165756" cy="1280160"/>
          </a:xfrm>
          <a:prstGeom prst="rect">
            <a:avLst/>
          </a:prstGeom>
          <a:noFill/>
          <a:ln/>
        </p:spPr>
        <p:txBody>
          <a:bodyPr wrap="square" lIns="0" tIns="0" rIns="0" bIns="0" rtlCol="0" anchor="t"/>
          <a:lstStyle/>
          <a:p>
            <a:pPr marL="342900" indent="-342900">
              <a:spcAft>
                <a:spcPts val="300"/>
              </a:spcAft>
              <a:buSzPct val="100000"/>
              <a:buFont typeface="+mj-lt"/>
              <a:buAutoNum type="arabicPeriod"/>
            </a:pPr>
            <a:r>
              <a:rPr lang="en-US" sz="1200" dirty="0">
                <a:solidFill>
                  <a:schemeClr val="tx1"/>
                </a:solidFill>
              </a:rPr>
              <a:t>The screen appears when the app opens</a:t>
            </a:r>
            <a:endParaRPr lang="en-US" sz="1200" dirty="0"/>
          </a:p>
          <a:p>
            <a:pPr marL="342900" indent="-342900">
              <a:spcAft>
                <a:spcPts val="300"/>
              </a:spcAft>
              <a:buSzPct val="100000"/>
              <a:buFont typeface="+mj-lt"/>
              <a:buAutoNum type="arabicPeriod"/>
            </a:pPr>
            <a:r>
              <a:rPr lang="en-US" sz="1200" dirty="0">
                <a:solidFill>
                  <a:schemeClr val="tx1"/>
                </a:solidFill>
              </a:rPr>
              <a:t>Tap Explore adventures to go to Home</a:t>
            </a:r>
            <a:endParaRPr lang="en-US" sz="1200" dirty="0"/>
          </a:p>
          <a:p>
            <a:pPr marL="342900" indent="-342900">
              <a:spcAft>
                <a:spcPts val="300"/>
              </a:spcAft>
              <a:buSzPct val="100000"/>
              <a:buFont typeface="+mj-lt"/>
              <a:buAutoNum type="arabicPeriod"/>
            </a:pPr>
            <a:r>
              <a:rPr lang="en-US" sz="1200" dirty="0">
                <a:solidFill>
                  <a:schemeClr val="tx1"/>
                </a:solidFill>
              </a:rPr>
              <a:t>Tap Log in to go to the Login screen</a:t>
            </a:r>
            <a:endParaRPr lang="en-US" sz="1200" dirty="0"/>
          </a:p>
        </p:txBody>
      </p:sp>
      <p:sp>
        <p:nvSpPr>
          <p:cNvPr id="12" name="Text 8"/>
          <p:cNvSpPr txBox="1"/>
          <p:nvPr/>
        </p:nvSpPr>
        <p:spPr>
          <a:xfrm>
            <a:off x="2521044" y="3840480"/>
            <a:ext cx="6165756" cy="256032"/>
          </a:xfrm>
          <a:prstGeom prst="rect">
            <a:avLst/>
          </a:prstGeom>
          <a:noFill/>
          <a:ln/>
        </p:spPr>
        <p:txBody>
          <a:bodyPr wrap="square" lIns="0" tIns="0" rIns="0" bIns="0" rtlCol="0" anchor="ctr"/>
          <a:lstStyle/>
          <a:p>
            <a:pPr marL="0" indent="0">
              <a:buNone/>
            </a:pPr>
            <a:r>
              <a:rPr lang="en-US" sz="1300" b="1" dirty="0">
                <a:solidFill>
                  <a:schemeClr val="accent2"/>
                </a:solidFill>
                <a:latin typeface="Georgia" pitchFamily="34" charset="0"/>
                <a:ea typeface="Georgia" pitchFamily="34" charset="-122"/>
                <a:cs typeface="Georgia" pitchFamily="34" charset="-120"/>
              </a:rPr>
              <a:t>Why we designed it this way</a:t>
            </a:r>
            <a:endParaRPr lang="en-US" sz="1300" dirty="0"/>
          </a:p>
        </p:txBody>
      </p:sp>
      <p:sp>
        <p:nvSpPr>
          <p:cNvPr id="13" name="Text 9"/>
          <p:cNvSpPr txBox="1"/>
          <p:nvPr/>
        </p:nvSpPr>
        <p:spPr>
          <a:xfrm>
            <a:off x="2521044" y="4114800"/>
            <a:ext cx="6165756" cy="64008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1"/>
                </a:solidFill>
              </a:rPr>
              <a:t>A strong first impression with the brand colours</a:t>
            </a:r>
            <a:endParaRPr lang="en-US" sz="1200" dirty="0"/>
          </a:p>
          <a:p>
            <a:pPr marL="342900" indent="-342900">
              <a:spcAft>
                <a:spcPts val="300"/>
              </a:spcAft>
              <a:buSzPct val="100000"/>
              <a:buChar char="•"/>
            </a:pPr>
            <a:r>
              <a:rPr lang="en-US" sz="1200" dirty="0">
                <a:solidFill>
                  <a:schemeClr val="tx1"/>
                </a:solidFill>
              </a:rPr>
              <a:t>One clear button to start</a:t>
            </a:r>
            <a:endParaRPr lang="en-US" sz="1200" dirty="0"/>
          </a:p>
        </p:txBody>
      </p:sp>
      <p:sp>
        <p:nvSpPr>
          <p:cNvPr id="25" name="Slide Number Placeholder 0"/>
          <p:cNvSpPr>
            <a:spLocks noGrp="1"/>
          </p:cNvSpPr>
          <p:nvPr>
            <p:ph type="sldNum" sz="quarter" idx="4294967295"/>
          </p:nvPr>
        </p:nvSpPr>
        <p:spPr>
          <a:xfrm>
            <a:off x="841248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tx2"/>
                </a:solidFill>
              </a:defRPr>
            </a:lvl1pPr>
          </a:lstStyle>
          <a:p>
            <a:pPr algn="l"/>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28600"/>
            <a:ext cx="6675120" cy="594360"/>
          </a:xfrm>
          <a:prstGeom prst="rect">
            <a:avLst/>
          </a:prstGeom>
          <a:noFill/>
          <a:ln/>
        </p:spPr>
        <p:txBody>
          <a:bodyPr wrap="square" lIns="0" tIns="0" rIns="0" bIns="0" rtlCol="0" anchor="ctr"/>
          <a:lstStyle/>
          <a:p>
            <a:pPr marL="0" indent="0">
              <a:buNone/>
            </a:pPr>
            <a:r>
              <a:rPr lang="en-US" sz="2600" b="1" dirty="0">
                <a:solidFill>
                  <a:schemeClr val="tx2"/>
                </a:solidFill>
                <a:latin typeface="Georgia" pitchFamily="34" charset="0"/>
                <a:ea typeface="Georgia" pitchFamily="34" charset="-122"/>
                <a:cs typeface="Georgia" pitchFamily="34" charset="-120"/>
              </a:rPr>
              <a:t>Mobile: 02 Home</a:t>
            </a:r>
            <a:endParaRPr lang="en-US" sz="2600" dirty="0"/>
          </a:p>
        </p:txBody>
      </p:sp>
      <p:sp>
        <p:nvSpPr>
          <p:cNvPr id="3" name="Presenter tag"/>
          <p:cNvSpPr/>
          <p:nvPr/>
        </p:nvSpPr>
        <p:spPr>
          <a:xfrm>
            <a:off x="7269480" y="347472"/>
            <a:ext cx="1463040" cy="329184"/>
          </a:xfrm>
          <a:prstGeom prst="roundRect">
            <a:avLst>
              <a:gd name="adj" fmla="val 50000"/>
            </a:avLst>
          </a:prstGeom>
          <a:solidFill>
            <a:schemeClr val="accent2"/>
          </a:solidFill>
          <a:ln w="12700">
            <a:solidFill>
              <a:schemeClr val="accent2"/>
            </a:solidFill>
            <a:prstDash val="solid"/>
          </a:ln>
        </p:spPr>
      </p:sp>
      <p:sp>
        <p:nvSpPr>
          <p:cNvPr id="4" name="Text 2"/>
          <p:cNvSpPr txBox="1"/>
          <p:nvPr/>
        </p:nvSpPr>
        <p:spPr>
          <a:xfrm>
            <a:off x="7269480" y="347472"/>
            <a:ext cx="1463040" cy="329184"/>
          </a:xfrm>
          <a:prstGeom prst="rect">
            <a:avLst/>
          </a:prstGeom>
          <a:noFill/>
          <a:ln/>
        </p:spPr>
        <p:txBody>
          <a:bodyPr wrap="square" lIns="0" tIns="0" rIns="0" bIns="0" rtlCol="0" anchor="ctr"/>
          <a:lstStyle/>
          <a:p>
            <a:pPr marL="0" indent="0" algn="ctr">
              <a:buNone/>
            </a:pPr>
            <a:r>
              <a:rPr lang="en-US" sz="1100" b="1" dirty="0">
                <a:solidFill>
                  <a:schemeClr val="bg1"/>
                </a:solidFill>
              </a:rPr>
              <a:t>Presenter: Itumeleng</a:t>
            </a:r>
            <a:endParaRPr lang="en-US" sz="1100" dirty="0"/>
          </a:p>
        </p:txBody>
      </p:sp>
      <p:sp>
        <p:nvSpPr>
          <p:cNvPr id="6" name="Card"/>
          <p:cNvSpPr/>
          <p:nvPr/>
        </p:nvSpPr>
        <p:spPr>
          <a:xfrm>
            <a:off x="457200" y="960120"/>
            <a:ext cx="1789524" cy="3703320"/>
          </a:xfrm>
          <a:prstGeom prst="roundRect">
            <a:avLst>
              <a:gd name="adj" fmla="val 4088"/>
            </a:avLst>
          </a:prstGeom>
          <a:solidFill>
            <a:schemeClr val="bg1"/>
          </a:solidFill>
          <a:ln w="12700">
            <a:solidFill>
              <a:srgbClr val="D9CBB5"/>
            </a:solidFill>
            <a:prstDash val="solid"/>
          </a:ln>
        </p:spPr>
      </p:sp>
      <p:pic>
        <p:nvPicPr>
          <p:cNvPr id="7" name="Image 0" descr="Mobile: 02 Home"/>
          <p:cNvPicPr>
            <a:picLocks noChangeAspect="1"/>
          </p:cNvPicPr>
          <p:nvPr/>
        </p:nvPicPr>
        <p:blipFill>
          <a:blip r:embed="rId3"/>
          <a:srcRect/>
          <a:stretch/>
        </p:blipFill>
        <p:spPr>
          <a:xfrm>
            <a:off x="548640" y="1051560"/>
            <a:ext cx="1606644" cy="3520440"/>
          </a:xfrm>
          <a:prstGeom prst="rect">
            <a:avLst/>
          </a:prstGeom>
        </p:spPr>
      </p:pic>
      <p:sp>
        <p:nvSpPr>
          <p:cNvPr id="8" name="Text 4"/>
          <p:cNvSpPr txBox="1"/>
          <p:nvPr/>
        </p:nvSpPr>
        <p:spPr>
          <a:xfrm>
            <a:off x="2521044" y="960120"/>
            <a:ext cx="6165756" cy="256032"/>
          </a:xfrm>
          <a:prstGeom prst="rect">
            <a:avLst/>
          </a:prstGeom>
          <a:noFill/>
          <a:ln/>
        </p:spPr>
        <p:txBody>
          <a:bodyPr wrap="square" lIns="0" tIns="0" rIns="0" bIns="0" rtlCol="0" anchor="ctr"/>
          <a:lstStyle/>
          <a:p>
            <a:pPr marL="0" indent="0">
              <a:buNone/>
            </a:pPr>
            <a:r>
              <a:rPr lang="en-US" sz="1300" b="1" dirty="0">
                <a:solidFill>
                  <a:schemeClr val="accent2"/>
                </a:solidFill>
                <a:latin typeface="Georgia" pitchFamily="34" charset="0"/>
                <a:ea typeface="Georgia" pitchFamily="34" charset="-122"/>
                <a:cs typeface="Georgia" pitchFamily="34" charset="-120"/>
              </a:rPr>
              <a:t>What this page does</a:t>
            </a:r>
            <a:endParaRPr lang="en-US" sz="1300" dirty="0"/>
          </a:p>
        </p:txBody>
      </p:sp>
      <p:sp>
        <p:nvSpPr>
          <p:cNvPr id="9" name="Text 5"/>
          <p:cNvSpPr txBox="1"/>
          <p:nvPr/>
        </p:nvSpPr>
        <p:spPr>
          <a:xfrm>
            <a:off x="2521044" y="1234440"/>
            <a:ext cx="6165756" cy="96012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1"/>
                </a:solidFill>
              </a:rPr>
              <a:t>Hero photo and the message Outside is for everyone</a:t>
            </a:r>
            <a:endParaRPr lang="en-US" sz="1200" dirty="0"/>
          </a:p>
          <a:p>
            <a:pPr marL="342900" indent="-342900">
              <a:spcAft>
                <a:spcPts val="300"/>
              </a:spcAft>
              <a:buSzPct val="100000"/>
              <a:buChar char="•"/>
            </a:pPr>
            <a:r>
              <a:rPr lang="en-US" sz="1200" dirty="0">
                <a:solidFill>
                  <a:schemeClr val="tx1"/>
                </a:solidFill>
              </a:rPr>
              <a:t>Buttons: Adventures and Get a quote</a:t>
            </a:r>
            <a:endParaRPr lang="en-US" sz="1200" dirty="0"/>
          </a:p>
          <a:p>
            <a:pPr marL="342900" indent="-342900">
              <a:spcAft>
                <a:spcPts val="300"/>
              </a:spcAft>
              <a:buSzPct val="100000"/>
              <a:buChar char="•"/>
            </a:pPr>
            <a:r>
              <a:rPr lang="en-US" sz="1200" dirty="0">
                <a:solidFill>
                  <a:schemeClr val="tx1"/>
                </a:solidFill>
              </a:rPr>
              <a:t>Note: fully guided, all fitness levels welcome, and popular adventure cards with prices</a:t>
            </a:r>
            <a:endParaRPr lang="en-US" sz="1200" dirty="0"/>
          </a:p>
        </p:txBody>
      </p:sp>
      <p:sp>
        <p:nvSpPr>
          <p:cNvPr id="10" name="Text 6"/>
          <p:cNvSpPr txBox="1"/>
          <p:nvPr/>
        </p:nvSpPr>
        <p:spPr>
          <a:xfrm>
            <a:off x="2521044" y="2240280"/>
            <a:ext cx="6165756" cy="256032"/>
          </a:xfrm>
          <a:prstGeom prst="rect">
            <a:avLst/>
          </a:prstGeom>
          <a:noFill/>
          <a:ln/>
        </p:spPr>
        <p:txBody>
          <a:bodyPr wrap="square" lIns="0" tIns="0" rIns="0" bIns="0" rtlCol="0" anchor="ctr"/>
          <a:lstStyle/>
          <a:p>
            <a:pPr marL="0" indent="0">
              <a:buNone/>
            </a:pPr>
            <a:r>
              <a:rPr lang="en-US" sz="1300" b="1" dirty="0">
                <a:solidFill>
                  <a:schemeClr val="accent2"/>
                </a:solidFill>
                <a:latin typeface="Georgia" pitchFamily="34" charset="0"/>
                <a:ea typeface="Georgia" pitchFamily="34" charset="-122"/>
                <a:cs typeface="Georgia" pitchFamily="34" charset="-120"/>
              </a:rPr>
              <a:t>How it works</a:t>
            </a:r>
            <a:endParaRPr lang="en-US" sz="1300" dirty="0"/>
          </a:p>
        </p:txBody>
      </p:sp>
      <p:sp>
        <p:nvSpPr>
          <p:cNvPr id="11" name="Text 7"/>
          <p:cNvSpPr txBox="1"/>
          <p:nvPr/>
        </p:nvSpPr>
        <p:spPr>
          <a:xfrm>
            <a:off x="2521044" y="2514600"/>
            <a:ext cx="6165756" cy="1280160"/>
          </a:xfrm>
          <a:prstGeom prst="rect">
            <a:avLst/>
          </a:prstGeom>
          <a:noFill/>
          <a:ln/>
        </p:spPr>
        <p:txBody>
          <a:bodyPr wrap="square" lIns="0" tIns="0" rIns="0" bIns="0" rtlCol="0" anchor="t"/>
          <a:lstStyle/>
          <a:p>
            <a:pPr marL="342900" indent="-342900">
              <a:spcAft>
                <a:spcPts val="300"/>
              </a:spcAft>
              <a:buSzPct val="100000"/>
              <a:buFont typeface="+mj-lt"/>
              <a:buAutoNum type="arabicPeriod"/>
            </a:pPr>
            <a:r>
              <a:rPr lang="en-US" sz="1200" dirty="0">
                <a:solidFill>
                  <a:schemeClr val="tx1"/>
                </a:solidFill>
              </a:rPr>
              <a:t>Tap Adventures to browse, or Get a quote to open the Quote screen</a:t>
            </a:r>
            <a:endParaRPr lang="en-US" sz="1200" dirty="0"/>
          </a:p>
          <a:p>
            <a:pPr marL="342900" indent="-342900">
              <a:spcAft>
                <a:spcPts val="300"/>
              </a:spcAft>
              <a:buSzPct val="100000"/>
              <a:buFont typeface="+mj-lt"/>
              <a:buAutoNum type="arabicPeriod"/>
            </a:pPr>
            <a:r>
              <a:rPr lang="en-US" sz="1200" dirty="0">
                <a:solidFill>
                  <a:schemeClr val="tx1"/>
                </a:solidFill>
              </a:rPr>
              <a:t>Tap a package card to see its details</a:t>
            </a:r>
            <a:endParaRPr lang="en-US" sz="1200" dirty="0"/>
          </a:p>
          <a:p>
            <a:pPr marL="342900" indent="-342900">
              <a:spcAft>
                <a:spcPts val="300"/>
              </a:spcAft>
              <a:buSzPct val="100000"/>
              <a:buFont typeface="+mj-lt"/>
              <a:buAutoNum type="arabicPeriod"/>
            </a:pPr>
            <a:r>
              <a:rPr lang="en-US" sz="1200" dirty="0">
                <a:solidFill>
                  <a:schemeClr val="tx1"/>
                </a:solidFill>
              </a:rPr>
              <a:t>The bottom menu switches between Home, Adventures, Quote and Account</a:t>
            </a:r>
            <a:endParaRPr lang="en-US" sz="1200" dirty="0"/>
          </a:p>
        </p:txBody>
      </p:sp>
      <p:sp>
        <p:nvSpPr>
          <p:cNvPr id="12" name="Text 8"/>
          <p:cNvSpPr txBox="1"/>
          <p:nvPr/>
        </p:nvSpPr>
        <p:spPr>
          <a:xfrm>
            <a:off x="2521044" y="3840480"/>
            <a:ext cx="6165756" cy="256032"/>
          </a:xfrm>
          <a:prstGeom prst="rect">
            <a:avLst/>
          </a:prstGeom>
          <a:noFill/>
          <a:ln/>
        </p:spPr>
        <p:txBody>
          <a:bodyPr wrap="square" lIns="0" tIns="0" rIns="0" bIns="0" rtlCol="0" anchor="ctr"/>
          <a:lstStyle/>
          <a:p>
            <a:pPr marL="0" indent="0">
              <a:buNone/>
            </a:pPr>
            <a:r>
              <a:rPr lang="en-US" sz="1300" b="1" dirty="0">
                <a:solidFill>
                  <a:schemeClr val="accent2"/>
                </a:solidFill>
                <a:latin typeface="Georgia" pitchFamily="34" charset="0"/>
                <a:ea typeface="Georgia" pitchFamily="34" charset="-122"/>
                <a:cs typeface="Georgia" pitchFamily="34" charset="-120"/>
              </a:rPr>
              <a:t>Why we designed it this way</a:t>
            </a:r>
            <a:endParaRPr lang="en-US" sz="1300" dirty="0"/>
          </a:p>
        </p:txBody>
      </p:sp>
      <p:sp>
        <p:nvSpPr>
          <p:cNvPr id="13" name="Text 9"/>
          <p:cNvSpPr txBox="1"/>
          <p:nvPr/>
        </p:nvSpPr>
        <p:spPr>
          <a:xfrm>
            <a:off x="2521044" y="4114800"/>
            <a:ext cx="6165756" cy="64008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1"/>
                </a:solidFill>
              </a:rPr>
              <a:t>Same main actions as the website Home page</a:t>
            </a:r>
            <a:endParaRPr lang="en-US" sz="1200" dirty="0"/>
          </a:p>
          <a:p>
            <a:pPr marL="342900" indent="-342900">
              <a:spcAft>
                <a:spcPts val="300"/>
              </a:spcAft>
              <a:buSzPct val="100000"/>
              <a:buChar char="•"/>
            </a:pPr>
            <a:r>
              <a:rPr lang="en-US" sz="1200" dirty="0">
                <a:solidFill>
                  <a:schemeClr val="tx1"/>
                </a:solidFill>
              </a:rPr>
              <a:t>Bottom menu: Home, Adventures, Quote, Account</a:t>
            </a:r>
            <a:endParaRPr lang="en-US" sz="1200" dirty="0"/>
          </a:p>
        </p:txBody>
      </p:sp>
      <p:sp>
        <p:nvSpPr>
          <p:cNvPr id="25" name="Slide Number Placeholder 0"/>
          <p:cNvSpPr>
            <a:spLocks noGrp="1"/>
          </p:cNvSpPr>
          <p:nvPr>
            <p:ph type="sldNum" sz="quarter" idx="4294967295"/>
          </p:nvPr>
        </p:nvSpPr>
        <p:spPr>
          <a:xfrm>
            <a:off x="841248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tx2"/>
                </a:solidFill>
              </a:defRPr>
            </a:lvl1pPr>
          </a:lstStyle>
          <a:p>
            <a:pPr algn="l"/>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28600"/>
            <a:ext cx="6675120" cy="594360"/>
          </a:xfrm>
          <a:prstGeom prst="rect">
            <a:avLst/>
          </a:prstGeom>
          <a:noFill/>
          <a:ln/>
        </p:spPr>
        <p:txBody>
          <a:bodyPr wrap="square" lIns="0" tIns="0" rIns="0" bIns="0" rtlCol="0" anchor="ctr"/>
          <a:lstStyle/>
          <a:p>
            <a:pPr marL="0" indent="0">
              <a:buNone/>
            </a:pPr>
            <a:r>
              <a:rPr lang="en-US" sz="2600" b="1" dirty="0">
                <a:solidFill>
                  <a:schemeClr val="tx2"/>
                </a:solidFill>
                <a:latin typeface="Georgia" pitchFamily="34" charset="0"/>
                <a:ea typeface="Georgia" pitchFamily="34" charset="-122"/>
                <a:cs typeface="Georgia" pitchFamily="34" charset="-120"/>
              </a:rPr>
              <a:t>Mobile: 03 Login</a:t>
            </a:r>
            <a:endParaRPr lang="en-US" sz="2600" dirty="0"/>
          </a:p>
        </p:txBody>
      </p:sp>
      <p:sp>
        <p:nvSpPr>
          <p:cNvPr id="3" name="Presenter tag"/>
          <p:cNvSpPr/>
          <p:nvPr/>
        </p:nvSpPr>
        <p:spPr>
          <a:xfrm>
            <a:off x="7269480" y="347472"/>
            <a:ext cx="1463040" cy="329184"/>
          </a:xfrm>
          <a:prstGeom prst="roundRect">
            <a:avLst>
              <a:gd name="adj" fmla="val 50000"/>
            </a:avLst>
          </a:prstGeom>
          <a:solidFill>
            <a:schemeClr val="accent2"/>
          </a:solidFill>
          <a:ln w="12700">
            <a:solidFill>
              <a:schemeClr val="accent2"/>
            </a:solidFill>
            <a:prstDash val="solid"/>
          </a:ln>
        </p:spPr>
      </p:sp>
      <p:sp>
        <p:nvSpPr>
          <p:cNvPr id="4" name="Text 2"/>
          <p:cNvSpPr txBox="1"/>
          <p:nvPr/>
        </p:nvSpPr>
        <p:spPr>
          <a:xfrm>
            <a:off x="7269480" y="347472"/>
            <a:ext cx="1463040" cy="329184"/>
          </a:xfrm>
          <a:prstGeom prst="rect">
            <a:avLst/>
          </a:prstGeom>
          <a:noFill/>
          <a:ln/>
        </p:spPr>
        <p:txBody>
          <a:bodyPr wrap="square" lIns="0" tIns="0" rIns="0" bIns="0" rtlCol="0" anchor="ctr"/>
          <a:lstStyle/>
          <a:p>
            <a:pPr marL="0" indent="0" algn="ctr">
              <a:buNone/>
            </a:pPr>
            <a:r>
              <a:rPr lang="en-US" sz="1100" b="1" dirty="0">
                <a:solidFill>
                  <a:schemeClr val="bg1"/>
                </a:solidFill>
              </a:rPr>
              <a:t>Presenter: Itumeleng</a:t>
            </a:r>
            <a:endParaRPr lang="en-US" sz="1100" dirty="0"/>
          </a:p>
        </p:txBody>
      </p:sp>
      <p:sp>
        <p:nvSpPr>
          <p:cNvPr id="6" name="Card"/>
          <p:cNvSpPr/>
          <p:nvPr/>
        </p:nvSpPr>
        <p:spPr>
          <a:xfrm>
            <a:off x="457200" y="960120"/>
            <a:ext cx="1789524" cy="3703320"/>
          </a:xfrm>
          <a:prstGeom prst="roundRect">
            <a:avLst>
              <a:gd name="adj" fmla="val 4088"/>
            </a:avLst>
          </a:prstGeom>
          <a:solidFill>
            <a:schemeClr val="bg1"/>
          </a:solidFill>
          <a:ln w="12700">
            <a:solidFill>
              <a:srgbClr val="D9CBB5"/>
            </a:solidFill>
            <a:prstDash val="solid"/>
          </a:ln>
        </p:spPr>
      </p:sp>
      <p:pic>
        <p:nvPicPr>
          <p:cNvPr id="7" name="Image 0" descr="Mobile: 03 Login"/>
          <p:cNvPicPr>
            <a:picLocks noChangeAspect="1"/>
          </p:cNvPicPr>
          <p:nvPr/>
        </p:nvPicPr>
        <p:blipFill>
          <a:blip r:embed="rId3"/>
          <a:srcRect/>
          <a:stretch/>
        </p:blipFill>
        <p:spPr>
          <a:xfrm>
            <a:off x="548640" y="1051560"/>
            <a:ext cx="1606644" cy="3520440"/>
          </a:xfrm>
          <a:prstGeom prst="rect">
            <a:avLst/>
          </a:prstGeom>
        </p:spPr>
      </p:pic>
      <p:sp>
        <p:nvSpPr>
          <p:cNvPr id="8" name="Text 4"/>
          <p:cNvSpPr txBox="1"/>
          <p:nvPr/>
        </p:nvSpPr>
        <p:spPr>
          <a:xfrm>
            <a:off x="2521044" y="960120"/>
            <a:ext cx="6165756" cy="256032"/>
          </a:xfrm>
          <a:prstGeom prst="rect">
            <a:avLst/>
          </a:prstGeom>
          <a:noFill/>
          <a:ln/>
        </p:spPr>
        <p:txBody>
          <a:bodyPr wrap="square" lIns="0" tIns="0" rIns="0" bIns="0" rtlCol="0" anchor="ctr"/>
          <a:lstStyle/>
          <a:p>
            <a:pPr marL="0" indent="0">
              <a:buNone/>
            </a:pPr>
            <a:r>
              <a:rPr lang="en-US" sz="1300" b="1" dirty="0">
                <a:solidFill>
                  <a:schemeClr val="accent2"/>
                </a:solidFill>
                <a:latin typeface="Georgia" pitchFamily="34" charset="0"/>
                <a:ea typeface="Georgia" pitchFamily="34" charset="-122"/>
                <a:cs typeface="Georgia" pitchFamily="34" charset="-120"/>
              </a:rPr>
              <a:t>What this page does</a:t>
            </a:r>
            <a:endParaRPr lang="en-US" sz="1300" dirty="0"/>
          </a:p>
        </p:txBody>
      </p:sp>
      <p:sp>
        <p:nvSpPr>
          <p:cNvPr id="9" name="Text 5"/>
          <p:cNvSpPr txBox="1"/>
          <p:nvPr/>
        </p:nvSpPr>
        <p:spPr>
          <a:xfrm>
            <a:off x="2521044" y="1234440"/>
            <a:ext cx="6165756" cy="96012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1"/>
                </a:solidFill>
              </a:rPr>
              <a:t>Email and password fields, Forgot password link</a:t>
            </a:r>
            <a:endParaRPr lang="en-US" sz="1200" dirty="0"/>
          </a:p>
          <a:p>
            <a:pPr marL="342900" indent="-342900">
              <a:spcAft>
                <a:spcPts val="300"/>
              </a:spcAft>
              <a:buSzPct val="100000"/>
              <a:buChar char="•"/>
            </a:pPr>
            <a:r>
              <a:rPr lang="en-US" sz="1200" dirty="0">
                <a:solidFill>
                  <a:schemeClr val="tx1"/>
                </a:solidFill>
              </a:rPr>
              <a:t>Log in and Create an account buttons</a:t>
            </a:r>
            <a:endParaRPr lang="en-US" sz="1200" dirty="0"/>
          </a:p>
          <a:p>
            <a:pPr marL="342900" indent="-342900">
              <a:spcAft>
                <a:spcPts val="300"/>
              </a:spcAft>
              <a:buSzPct val="100000"/>
              <a:buChar char="•"/>
            </a:pPr>
            <a:r>
              <a:rPr lang="en-US" sz="1200" dirty="0">
                <a:solidFill>
                  <a:schemeClr val="tx1"/>
                </a:solidFill>
              </a:rPr>
              <a:t>Continue as guest, so no account is needed</a:t>
            </a:r>
            <a:endParaRPr lang="en-US" sz="1200" dirty="0"/>
          </a:p>
        </p:txBody>
      </p:sp>
      <p:sp>
        <p:nvSpPr>
          <p:cNvPr id="10" name="Text 6"/>
          <p:cNvSpPr txBox="1"/>
          <p:nvPr/>
        </p:nvSpPr>
        <p:spPr>
          <a:xfrm>
            <a:off x="2521044" y="2240280"/>
            <a:ext cx="6165756" cy="256032"/>
          </a:xfrm>
          <a:prstGeom prst="rect">
            <a:avLst/>
          </a:prstGeom>
          <a:noFill/>
          <a:ln/>
        </p:spPr>
        <p:txBody>
          <a:bodyPr wrap="square" lIns="0" tIns="0" rIns="0" bIns="0" rtlCol="0" anchor="ctr"/>
          <a:lstStyle/>
          <a:p>
            <a:pPr marL="0" indent="0">
              <a:buNone/>
            </a:pPr>
            <a:r>
              <a:rPr lang="en-US" sz="1300" b="1" dirty="0">
                <a:solidFill>
                  <a:schemeClr val="accent2"/>
                </a:solidFill>
                <a:latin typeface="Georgia" pitchFamily="34" charset="0"/>
                <a:ea typeface="Georgia" pitchFamily="34" charset="-122"/>
                <a:cs typeface="Georgia" pitchFamily="34" charset="-120"/>
              </a:rPr>
              <a:t>How it works</a:t>
            </a:r>
            <a:endParaRPr lang="en-US" sz="1300" dirty="0"/>
          </a:p>
        </p:txBody>
      </p:sp>
      <p:sp>
        <p:nvSpPr>
          <p:cNvPr id="11" name="Text 7"/>
          <p:cNvSpPr txBox="1"/>
          <p:nvPr/>
        </p:nvSpPr>
        <p:spPr>
          <a:xfrm>
            <a:off x="2521044" y="2514600"/>
            <a:ext cx="6165756" cy="1280160"/>
          </a:xfrm>
          <a:prstGeom prst="rect">
            <a:avLst/>
          </a:prstGeom>
          <a:noFill/>
          <a:ln/>
        </p:spPr>
        <p:txBody>
          <a:bodyPr wrap="square" lIns="0" tIns="0" rIns="0" bIns="0" rtlCol="0" anchor="t"/>
          <a:lstStyle/>
          <a:p>
            <a:pPr marL="342900" indent="-342900">
              <a:spcAft>
                <a:spcPts val="300"/>
              </a:spcAft>
              <a:buSzPct val="100000"/>
              <a:buFont typeface="+mj-lt"/>
              <a:buAutoNum type="arabicPeriod"/>
            </a:pPr>
            <a:r>
              <a:rPr lang="en-US" sz="1200" dirty="0">
                <a:solidFill>
                  <a:schemeClr val="tx1"/>
                </a:solidFill>
              </a:rPr>
              <a:t>Type the email and password, then tap Log in</a:t>
            </a:r>
            <a:endParaRPr lang="en-US" sz="1200" dirty="0"/>
          </a:p>
          <a:p>
            <a:pPr marL="342900" indent="-342900">
              <a:spcAft>
                <a:spcPts val="300"/>
              </a:spcAft>
              <a:buSzPct val="100000"/>
              <a:buFont typeface="+mj-lt"/>
              <a:buAutoNum type="arabicPeriod"/>
            </a:pPr>
            <a:r>
              <a:rPr lang="en-US" sz="1200" dirty="0">
                <a:solidFill>
                  <a:schemeClr val="tx1"/>
                </a:solidFill>
              </a:rPr>
              <a:t>Forgot password? and Create an account are for returning and new users</a:t>
            </a:r>
            <a:endParaRPr lang="en-US" sz="1200" dirty="0"/>
          </a:p>
          <a:p>
            <a:pPr marL="342900" indent="-342900">
              <a:spcAft>
                <a:spcPts val="300"/>
              </a:spcAft>
              <a:buSzPct val="100000"/>
              <a:buFont typeface="+mj-lt"/>
              <a:buAutoNum type="arabicPeriod"/>
            </a:pPr>
            <a:r>
              <a:rPr lang="en-US" sz="1200" dirty="0">
                <a:solidFill>
                  <a:schemeClr val="tx1"/>
                </a:solidFill>
              </a:rPr>
              <a:t>Continue as guest skips the login</a:t>
            </a:r>
            <a:endParaRPr lang="en-US" sz="1200" dirty="0"/>
          </a:p>
        </p:txBody>
      </p:sp>
      <p:sp>
        <p:nvSpPr>
          <p:cNvPr id="12" name="Text 8"/>
          <p:cNvSpPr txBox="1"/>
          <p:nvPr/>
        </p:nvSpPr>
        <p:spPr>
          <a:xfrm>
            <a:off x="2521044" y="3840480"/>
            <a:ext cx="6165756" cy="256032"/>
          </a:xfrm>
          <a:prstGeom prst="rect">
            <a:avLst/>
          </a:prstGeom>
          <a:noFill/>
          <a:ln/>
        </p:spPr>
        <p:txBody>
          <a:bodyPr wrap="square" lIns="0" tIns="0" rIns="0" bIns="0" rtlCol="0" anchor="ctr"/>
          <a:lstStyle/>
          <a:p>
            <a:pPr marL="0" indent="0">
              <a:buNone/>
            </a:pPr>
            <a:r>
              <a:rPr lang="en-US" sz="1300" b="1" dirty="0">
                <a:solidFill>
                  <a:schemeClr val="accent2"/>
                </a:solidFill>
                <a:latin typeface="Georgia" pitchFamily="34" charset="0"/>
                <a:ea typeface="Georgia" pitchFamily="34" charset="-122"/>
                <a:cs typeface="Georgia" pitchFamily="34" charset="-120"/>
              </a:rPr>
              <a:t>Why we designed it this way</a:t>
            </a:r>
            <a:endParaRPr lang="en-US" sz="1300" dirty="0"/>
          </a:p>
        </p:txBody>
      </p:sp>
      <p:sp>
        <p:nvSpPr>
          <p:cNvPr id="13" name="Text 9"/>
          <p:cNvSpPr txBox="1"/>
          <p:nvPr/>
        </p:nvSpPr>
        <p:spPr>
          <a:xfrm>
            <a:off x="2521044" y="4114800"/>
            <a:ext cx="6165756" cy="64008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1"/>
                </a:solidFill>
              </a:rPr>
              <a:t>Users can save quotes, but they are never forced to sign up</a:t>
            </a:r>
            <a:endParaRPr lang="en-US" sz="1200" dirty="0"/>
          </a:p>
          <a:p>
            <a:pPr marL="342900" indent="-342900">
              <a:spcAft>
                <a:spcPts val="300"/>
              </a:spcAft>
              <a:buSzPct val="100000"/>
              <a:buChar char="•"/>
            </a:pPr>
            <a:r>
              <a:rPr lang="en-US" sz="1200" dirty="0">
                <a:solidFill>
                  <a:schemeClr val="tx1"/>
                </a:solidFill>
              </a:rPr>
              <a:t>Short form with large fields for thumbs</a:t>
            </a:r>
            <a:endParaRPr lang="en-US" sz="1200" dirty="0"/>
          </a:p>
        </p:txBody>
      </p:sp>
      <p:sp>
        <p:nvSpPr>
          <p:cNvPr id="25" name="Slide Number Placeholder 0"/>
          <p:cNvSpPr>
            <a:spLocks noGrp="1"/>
          </p:cNvSpPr>
          <p:nvPr>
            <p:ph type="sldNum" sz="quarter" idx="4294967295"/>
          </p:nvPr>
        </p:nvSpPr>
        <p:spPr>
          <a:xfrm>
            <a:off x="841248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tx2"/>
                </a:solidFill>
              </a:defRPr>
            </a:lvl1pPr>
          </a:lstStyle>
          <a:p>
            <a:pPr algn="l"/>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28600"/>
            <a:ext cx="6675120" cy="594360"/>
          </a:xfrm>
          <a:prstGeom prst="rect">
            <a:avLst/>
          </a:prstGeom>
          <a:noFill/>
          <a:ln/>
        </p:spPr>
        <p:txBody>
          <a:bodyPr wrap="square" lIns="0" tIns="0" rIns="0" bIns="0" rtlCol="0" anchor="ctr"/>
          <a:lstStyle/>
          <a:p>
            <a:pPr marL="0" indent="0">
              <a:buNone/>
            </a:pPr>
            <a:r>
              <a:rPr lang="en-US" sz="2600" b="1" dirty="0">
                <a:solidFill>
                  <a:schemeClr val="tx2"/>
                </a:solidFill>
                <a:latin typeface="Georgia" pitchFamily="34" charset="0"/>
                <a:ea typeface="Georgia" pitchFamily="34" charset="-122"/>
                <a:cs typeface="Georgia" pitchFamily="34" charset="-120"/>
              </a:rPr>
              <a:t>Mobile: 04 About Us</a:t>
            </a:r>
            <a:endParaRPr lang="en-US" sz="2600" dirty="0"/>
          </a:p>
        </p:txBody>
      </p:sp>
      <p:sp>
        <p:nvSpPr>
          <p:cNvPr id="3" name="Presenter tag"/>
          <p:cNvSpPr/>
          <p:nvPr/>
        </p:nvSpPr>
        <p:spPr>
          <a:xfrm>
            <a:off x="7269480" y="347472"/>
            <a:ext cx="1463040" cy="329184"/>
          </a:xfrm>
          <a:prstGeom prst="roundRect">
            <a:avLst>
              <a:gd name="adj" fmla="val 50000"/>
            </a:avLst>
          </a:prstGeom>
          <a:solidFill>
            <a:schemeClr val="accent2"/>
          </a:solidFill>
          <a:ln w="12700">
            <a:solidFill>
              <a:schemeClr val="accent2"/>
            </a:solidFill>
            <a:prstDash val="solid"/>
          </a:ln>
        </p:spPr>
      </p:sp>
      <p:sp>
        <p:nvSpPr>
          <p:cNvPr id="4" name="Text 2"/>
          <p:cNvSpPr txBox="1"/>
          <p:nvPr/>
        </p:nvSpPr>
        <p:spPr>
          <a:xfrm>
            <a:off x="7269480" y="347472"/>
            <a:ext cx="1463040" cy="329184"/>
          </a:xfrm>
          <a:prstGeom prst="rect">
            <a:avLst/>
          </a:prstGeom>
          <a:noFill/>
          <a:ln/>
        </p:spPr>
        <p:txBody>
          <a:bodyPr wrap="square" lIns="0" tIns="0" rIns="0" bIns="0" rtlCol="0" anchor="ctr"/>
          <a:lstStyle/>
          <a:p>
            <a:pPr marL="0" indent="0" algn="ctr">
              <a:buNone/>
            </a:pPr>
            <a:r>
              <a:rPr lang="en-US" sz="1100" b="1" dirty="0">
                <a:solidFill>
                  <a:schemeClr val="bg1"/>
                </a:solidFill>
              </a:rPr>
              <a:t>Presenter: Itumeleng</a:t>
            </a:r>
            <a:endParaRPr lang="en-US" sz="1100" dirty="0"/>
          </a:p>
        </p:txBody>
      </p:sp>
      <p:sp>
        <p:nvSpPr>
          <p:cNvPr id="6" name="Card"/>
          <p:cNvSpPr/>
          <p:nvPr/>
        </p:nvSpPr>
        <p:spPr>
          <a:xfrm>
            <a:off x="457200" y="960120"/>
            <a:ext cx="1789524" cy="3703320"/>
          </a:xfrm>
          <a:prstGeom prst="roundRect">
            <a:avLst>
              <a:gd name="adj" fmla="val 4088"/>
            </a:avLst>
          </a:prstGeom>
          <a:solidFill>
            <a:schemeClr val="bg1"/>
          </a:solidFill>
          <a:ln w="12700">
            <a:solidFill>
              <a:srgbClr val="D9CBB5"/>
            </a:solidFill>
            <a:prstDash val="solid"/>
          </a:ln>
        </p:spPr>
      </p:sp>
      <p:pic>
        <p:nvPicPr>
          <p:cNvPr id="7" name="Image 0" descr="Mobile: 04 About Us"/>
          <p:cNvPicPr>
            <a:picLocks noChangeAspect="1"/>
          </p:cNvPicPr>
          <p:nvPr/>
        </p:nvPicPr>
        <p:blipFill>
          <a:blip r:embed="rId3"/>
          <a:srcRect/>
          <a:stretch/>
        </p:blipFill>
        <p:spPr>
          <a:xfrm>
            <a:off x="548640" y="1051560"/>
            <a:ext cx="1606644" cy="3520440"/>
          </a:xfrm>
          <a:prstGeom prst="rect">
            <a:avLst/>
          </a:prstGeom>
        </p:spPr>
      </p:pic>
      <p:sp>
        <p:nvSpPr>
          <p:cNvPr id="8" name="Text 4"/>
          <p:cNvSpPr txBox="1"/>
          <p:nvPr/>
        </p:nvSpPr>
        <p:spPr>
          <a:xfrm>
            <a:off x="2521044" y="960120"/>
            <a:ext cx="6165756" cy="256032"/>
          </a:xfrm>
          <a:prstGeom prst="rect">
            <a:avLst/>
          </a:prstGeom>
          <a:noFill/>
          <a:ln/>
        </p:spPr>
        <p:txBody>
          <a:bodyPr wrap="square" lIns="0" tIns="0" rIns="0" bIns="0" rtlCol="0" anchor="ctr"/>
          <a:lstStyle/>
          <a:p>
            <a:pPr marL="0" indent="0">
              <a:buNone/>
            </a:pPr>
            <a:r>
              <a:rPr lang="en-US" sz="1300" b="1" dirty="0">
                <a:solidFill>
                  <a:schemeClr val="accent2"/>
                </a:solidFill>
                <a:latin typeface="Georgia" pitchFamily="34" charset="0"/>
                <a:ea typeface="Georgia" pitchFamily="34" charset="-122"/>
                <a:cs typeface="Georgia" pitchFamily="34" charset="-120"/>
              </a:rPr>
              <a:t>What this page does</a:t>
            </a:r>
            <a:endParaRPr lang="en-US" sz="1300" dirty="0"/>
          </a:p>
        </p:txBody>
      </p:sp>
      <p:sp>
        <p:nvSpPr>
          <p:cNvPr id="9" name="Text 5"/>
          <p:cNvSpPr txBox="1"/>
          <p:nvPr/>
        </p:nvSpPr>
        <p:spPr>
          <a:xfrm>
            <a:off x="2521044" y="1234440"/>
            <a:ext cx="6165756" cy="96012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1"/>
                </a:solidFill>
              </a:rPr>
              <a:t>Story of the company and Liam Daniels</a:t>
            </a:r>
            <a:endParaRPr lang="en-US" sz="1200" dirty="0"/>
          </a:p>
          <a:p>
            <a:pPr marL="342900" indent="-342900">
              <a:spcAft>
                <a:spcPts val="300"/>
              </a:spcAft>
              <a:buSzPct val="100000"/>
              <a:buChar char="•"/>
            </a:pPr>
            <a:r>
              <a:rPr lang="en-US" sz="1200" dirty="0">
                <a:solidFill>
                  <a:schemeClr val="tx1"/>
                </a:solidFill>
              </a:rPr>
              <a:t>Our Mission box, guidance (safety-certified) and who can join (all ages and fitness levels)</a:t>
            </a:r>
            <a:endParaRPr lang="en-US" sz="1200" dirty="0"/>
          </a:p>
          <a:p>
            <a:pPr marL="342900" indent="-342900">
              <a:spcAft>
                <a:spcPts val="300"/>
              </a:spcAft>
              <a:buSzPct val="100000"/>
              <a:buChar char="•"/>
            </a:pPr>
            <a:r>
              <a:rPr lang="en-US" sz="1200" dirty="0">
                <a:solidFill>
                  <a:schemeClr val="tx1"/>
                </a:solidFill>
              </a:rPr>
              <a:t>Find your adventure button</a:t>
            </a:r>
            <a:endParaRPr lang="en-US" sz="1200" dirty="0"/>
          </a:p>
        </p:txBody>
      </p:sp>
      <p:sp>
        <p:nvSpPr>
          <p:cNvPr id="10" name="Text 6"/>
          <p:cNvSpPr txBox="1"/>
          <p:nvPr/>
        </p:nvSpPr>
        <p:spPr>
          <a:xfrm>
            <a:off x="2521044" y="2240280"/>
            <a:ext cx="6165756" cy="256032"/>
          </a:xfrm>
          <a:prstGeom prst="rect">
            <a:avLst/>
          </a:prstGeom>
          <a:noFill/>
          <a:ln/>
        </p:spPr>
        <p:txBody>
          <a:bodyPr wrap="square" lIns="0" tIns="0" rIns="0" bIns="0" rtlCol="0" anchor="ctr"/>
          <a:lstStyle/>
          <a:p>
            <a:pPr marL="0" indent="0">
              <a:buNone/>
            </a:pPr>
            <a:r>
              <a:rPr lang="en-US" sz="1300" b="1" dirty="0">
                <a:solidFill>
                  <a:schemeClr val="accent2"/>
                </a:solidFill>
                <a:latin typeface="Georgia" pitchFamily="34" charset="0"/>
                <a:ea typeface="Georgia" pitchFamily="34" charset="-122"/>
                <a:cs typeface="Georgia" pitchFamily="34" charset="-120"/>
              </a:rPr>
              <a:t>How it works</a:t>
            </a:r>
            <a:endParaRPr lang="en-US" sz="1300" dirty="0"/>
          </a:p>
        </p:txBody>
      </p:sp>
      <p:sp>
        <p:nvSpPr>
          <p:cNvPr id="11" name="Text 7"/>
          <p:cNvSpPr txBox="1"/>
          <p:nvPr/>
        </p:nvSpPr>
        <p:spPr>
          <a:xfrm>
            <a:off x="2521044" y="2514600"/>
            <a:ext cx="6165756" cy="1280160"/>
          </a:xfrm>
          <a:prstGeom prst="rect">
            <a:avLst/>
          </a:prstGeom>
          <a:noFill/>
          <a:ln/>
        </p:spPr>
        <p:txBody>
          <a:bodyPr wrap="square" lIns="0" tIns="0" rIns="0" bIns="0" rtlCol="0" anchor="t"/>
          <a:lstStyle/>
          <a:p>
            <a:pPr marL="342900" indent="-342900">
              <a:spcAft>
                <a:spcPts val="300"/>
              </a:spcAft>
              <a:buSzPct val="100000"/>
              <a:buFont typeface="+mj-lt"/>
              <a:buAutoNum type="arabicPeriod"/>
            </a:pPr>
            <a:r>
              <a:rPr lang="en-US" sz="1200" dirty="0">
                <a:solidFill>
                  <a:schemeClr val="tx1"/>
                </a:solidFill>
              </a:rPr>
              <a:t>Scroll to read the story and the mission</a:t>
            </a:r>
            <a:endParaRPr lang="en-US" sz="1200" dirty="0"/>
          </a:p>
          <a:p>
            <a:pPr marL="342900" indent="-342900">
              <a:spcAft>
                <a:spcPts val="300"/>
              </a:spcAft>
              <a:buSzPct val="100000"/>
              <a:buFont typeface="+mj-lt"/>
              <a:buAutoNum type="arabicPeriod"/>
            </a:pPr>
            <a:r>
              <a:rPr lang="en-US" sz="1200" dirty="0">
                <a:solidFill>
                  <a:schemeClr val="tx1"/>
                </a:solidFill>
              </a:rPr>
              <a:t>Tap Find your adventure to go to the adventures</a:t>
            </a:r>
            <a:endParaRPr lang="en-US" sz="1200" dirty="0"/>
          </a:p>
        </p:txBody>
      </p:sp>
      <p:sp>
        <p:nvSpPr>
          <p:cNvPr id="12" name="Text 8"/>
          <p:cNvSpPr txBox="1"/>
          <p:nvPr/>
        </p:nvSpPr>
        <p:spPr>
          <a:xfrm>
            <a:off x="2521044" y="3840480"/>
            <a:ext cx="6165756" cy="256032"/>
          </a:xfrm>
          <a:prstGeom prst="rect">
            <a:avLst/>
          </a:prstGeom>
          <a:noFill/>
          <a:ln/>
        </p:spPr>
        <p:txBody>
          <a:bodyPr wrap="square" lIns="0" tIns="0" rIns="0" bIns="0" rtlCol="0" anchor="ctr"/>
          <a:lstStyle/>
          <a:p>
            <a:pPr marL="0" indent="0">
              <a:buNone/>
            </a:pPr>
            <a:r>
              <a:rPr lang="en-US" sz="1300" b="1" dirty="0">
                <a:solidFill>
                  <a:schemeClr val="accent2"/>
                </a:solidFill>
                <a:latin typeface="Georgia" pitchFamily="34" charset="0"/>
                <a:ea typeface="Georgia" pitchFamily="34" charset="-122"/>
                <a:cs typeface="Georgia" pitchFamily="34" charset="-120"/>
              </a:rPr>
              <a:t>Why we designed it this way</a:t>
            </a:r>
            <a:endParaRPr lang="en-US" sz="1300" dirty="0"/>
          </a:p>
        </p:txBody>
      </p:sp>
      <p:sp>
        <p:nvSpPr>
          <p:cNvPr id="13" name="Text 9"/>
          <p:cNvSpPr txBox="1"/>
          <p:nvPr/>
        </p:nvSpPr>
        <p:spPr>
          <a:xfrm>
            <a:off x="2521044" y="4114800"/>
            <a:ext cx="6165756" cy="64008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1"/>
                </a:solidFill>
              </a:rPr>
              <a:t>Builds trust before the user books</a:t>
            </a:r>
            <a:endParaRPr lang="en-US" sz="1200" dirty="0"/>
          </a:p>
          <a:p>
            <a:pPr marL="342900" indent="-342900">
              <a:spcAft>
                <a:spcPts val="300"/>
              </a:spcAft>
              <a:buSzPct val="100000"/>
              <a:buChar char="•"/>
            </a:pPr>
            <a:r>
              <a:rPr lang="en-US" sz="1200" dirty="0">
                <a:solidFill>
                  <a:schemeClr val="tx1"/>
                </a:solidFill>
              </a:rPr>
              <a:t>Key facts in a small box that is easy to read</a:t>
            </a:r>
            <a:endParaRPr lang="en-US" sz="1200" dirty="0"/>
          </a:p>
        </p:txBody>
      </p:sp>
      <p:sp>
        <p:nvSpPr>
          <p:cNvPr id="25" name="Slide Number Placeholder 0"/>
          <p:cNvSpPr>
            <a:spLocks noGrp="1"/>
          </p:cNvSpPr>
          <p:nvPr>
            <p:ph type="sldNum" sz="quarter" idx="4294967295"/>
          </p:nvPr>
        </p:nvSpPr>
        <p:spPr>
          <a:xfrm>
            <a:off x="841248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tx2"/>
                </a:solidFill>
              </a:defRPr>
            </a:lvl1pPr>
          </a:lstStyle>
          <a:p>
            <a:pPr algn="l"/>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28600"/>
            <a:ext cx="6675120" cy="594360"/>
          </a:xfrm>
          <a:prstGeom prst="rect">
            <a:avLst/>
          </a:prstGeom>
          <a:noFill/>
          <a:ln/>
        </p:spPr>
        <p:txBody>
          <a:bodyPr wrap="square" lIns="0" tIns="0" rIns="0" bIns="0" rtlCol="0" anchor="ctr"/>
          <a:lstStyle/>
          <a:p>
            <a:pPr marL="0" indent="0">
              <a:buNone/>
            </a:pPr>
            <a:r>
              <a:rPr lang="en-US" sz="2600" b="1" dirty="0">
                <a:solidFill>
                  <a:schemeClr val="tx2"/>
                </a:solidFill>
                <a:latin typeface="Georgia" pitchFamily="34" charset="0"/>
                <a:ea typeface="Georgia" pitchFamily="34" charset="-122"/>
                <a:cs typeface="Georgia" pitchFamily="34" charset="-120"/>
              </a:rPr>
              <a:t>Mobile: 05 Payment</a:t>
            </a:r>
            <a:endParaRPr lang="en-US" sz="2600" dirty="0"/>
          </a:p>
        </p:txBody>
      </p:sp>
      <p:sp>
        <p:nvSpPr>
          <p:cNvPr id="3" name="Presenter tag"/>
          <p:cNvSpPr/>
          <p:nvPr/>
        </p:nvSpPr>
        <p:spPr>
          <a:xfrm>
            <a:off x="7269480" y="347472"/>
            <a:ext cx="1463040" cy="329184"/>
          </a:xfrm>
          <a:prstGeom prst="roundRect">
            <a:avLst>
              <a:gd name="adj" fmla="val 50000"/>
            </a:avLst>
          </a:prstGeom>
          <a:solidFill>
            <a:schemeClr val="accent2"/>
          </a:solidFill>
          <a:ln w="12700">
            <a:solidFill>
              <a:schemeClr val="accent2"/>
            </a:solidFill>
            <a:prstDash val="solid"/>
          </a:ln>
        </p:spPr>
      </p:sp>
      <p:sp>
        <p:nvSpPr>
          <p:cNvPr id="4" name="Text 2"/>
          <p:cNvSpPr txBox="1"/>
          <p:nvPr/>
        </p:nvSpPr>
        <p:spPr>
          <a:xfrm>
            <a:off x="7269480" y="347472"/>
            <a:ext cx="1463040" cy="329184"/>
          </a:xfrm>
          <a:prstGeom prst="rect">
            <a:avLst/>
          </a:prstGeom>
          <a:noFill/>
          <a:ln/>
        </p:spPr>
        <p:txBody>
          <a:bodyPr wrap="square" lIns="0" tIns="0" rIns="0" bIns="0" rtlCol="0" anchor="ctr"/>
          <a:lstStyle/>
          <a:p>
            <a:pPr marL="0" indent="0" algn="ctr">
              <a:buNone/>
            </a:pPr>
            <a:r>
              <a:rPr lang="en-US" sz="1100" b="1" dirty="0">
                <a:solidFill>
                  <a:schemeClr val="bg1"/>
                </a:solidFill>
              </a:rPr>
              <a:t>Presenter: Itumeleng</a:t>
            </a:r>
            <a:endParaRPr lang="en-US" sz="1100" dirty="0"/>
          </a:p>
        </p:txBody>
      </p:sp>
      <p:sp>
        <p:nvSpPr>
          <p:cNvPr id="6" name="Card"/>
          <p:cNvSpPr/>
          <p:nvPr/>
        </p:nvSpPr>
        <p:spPr>
          <a:xfrm>
            <a:off x="457200" y="960120"/>
            <a:ext cx="1789524" cy="3703320"/>
          </a:xfrm>
          <a:prstGeom prst="roundRect">
            <a:avLst>
              <a:gd name="adj" fmla="val 4088"/>
            </a:avLst>
          </a:prstGeom>
          <a:solidFill>
            <a:schemeClr val="bg1"/>
          </a:solidFill>
          <a:ln w="12700">
            <a:solidFill>
              <a:srgbClr val="D9CBB5"/>
            </a:solidFill>
            <a:prstDash val="solid"/>
          </a:ln>
        </p:spPr>
      </p:sp>
      <p:pic>
        <p:nvPicPr>
          <p:cNvPr id="7" name="Image 0" descr="Mobile: 05 Payment"/>
          <p:cNvPicPr>
            <a:picLocks noChangeAspect="1"/>
          </p:cNvPicPr>
          <p:nvPr/>
        </p:nvPicPr>
        <p:blipFill>
          <a:blip r:embed="rId3"/>
          <a:srcRect/>
          <a:stretch/>
        </p:blipFill>
        <p:spPr>
          <a:xfrm>
            <a:off x="548640" y="1051560"/>
            <a:ext cx="1606644" cy="3520440"/>
          </a:xfrm>
          <a:prstGeom prst="rect">
            <a:avLst/>
          </a:prstGeom>
        </p:spPr>
      </p:pic>
      <p:sp>
        <p:nvSpPr>
          <p:cNvPr id="8" name="Text 4"/>
          <p:cNvSpPr txBox="1"/>
          <p:nvPr/>
        </p:nvSpPr>
        <p:spPr>
          <a:xfrm>
            <a:off x="2521044" y="960120"/>
            <a:ext cx="6165756" cy="256032"/>
          </a:xfrm>
          <a:prstGeom prst="rect">
            <a:avLst/>
          </a:prstGeom>
          <a:noFill/>
          <a:ln/>
        </p:spPr>
        <p:txBody>
          <a:bodyPr wrap="square" lIns="0" tIns="0" rIns="0" bIns="0" rtlCol="0" anchor="ctr"/>
          <a:lstStyle/>
          <a:p>
            <a:pPr marL="0" indent="0">
              <a:buNone/>
            </a:pPr>
            <a:r>
              <a:rPr lang="en-US" sz="1300" b="1" dirty="0">
                <a:solidFill>
                  <a:schemeClr val="accent2"/>
                </a:solidFill>
                <a:latin typeface="Georgia" pitchFamily="34" charset="0"/>
                <a:ea typeface="Georgia" pitchFamily="34" charset="-122"/>
                <a:cs typeface="Georgia" pitchFamily="34" charset="-120"/>
              </a:rPr>
              <a:t>What this page does</a:t>
            </a:r>
            <a:endParaRPr lang="en-US" sz="1300" dirty="0"/>
          </a:p>
        </p:txBody>
      </p:sp>
      <p:sp>
        <p:nvSpPr>
          <p:cNvPr id="9" name="Text 5"/>
          <p:cNvSpPr txBox="1"/>
          <p:nvPr/>
        </p:nvSpPr>
        <p:spPr>
          <a:xfrm>
            <a:off x="2521044" y="1234440"/>
            <a:ext cx="6165756" cy="96012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1"/>
                </a:solidFill>
              </a:rPr>
              <a:t>Sample quotation for two bookings: R3 000 less 5% (R150) = R2 850</a:t>
            </a:r>
            <a:endParaRPr lang="en-US" sz="1200" dirty="0"/>
          </a:p>
          <a:p>
            <a:pPr marL="342900" indent="-342900">
              <a:spcAft>
                <a:spcPts val="300"/>
              </a:spcAft>
              <a:buSzPct val="100000"/>
              <a:buChar char="•"/>
            </a:pPr>
            <a:r>
              <a:rPr lang="en-US" sz="1200" dirty="0">
                <a:solidFill>
                  <a:schemeClr val="tx1"/>
                </a:solidFill>
              </a:rPr>
              <a:t>Choose Card or Bank transfer</a:t>
            </a:r>
            <a:endParaRPr lang="en-US" sz="1200" dirty="0"/>
          </a:p>
          <a:p>
            <a:pPr marL="342900" indent="-342900">
              <a:spcAft>
                <a:spcPts val="300"/>
              </a:spcAft>
              <a:buSzPct val="100000"/>
              <a:buChar char="•"/>
            </a:pPr>
            <a:r>
              <a:rPr lang="en-US" sz="1200" dirty="0">
                <a:solidFill>
                  <a:schemeClr val="tx1"/>
                </a:solidFill>
              </a:rPr>
              <a:t>Fields for card details and a Pay button (sample only)</a:t>
            </a:r>
            <a:endParaRPr lang="en-US" sz="1200" dirty="0"/>
          </a:p>
        </p:txBody>
      </p:sp>
      <p:sp>
        <p:nvSpPr>
          <p:cNvPr id="10" name="Text 6"/>
          <p:cNvSpPr txBox="1"/>
          <p:nvPr/>
        </p:nvSpPr>
        <p:spPr>
          <a:xfrm>
            <a:off x="2521044" y="2240280"/>
            <a:ext cx="6165756" cy="256032"/>
          </a:xfrm>
          <a:prstGeom prst="rect">
            <a:avLst/>
          </a:prstGeom>
          <a:noFill/>
          <a:ln/>
        </p:spPr>
        <p:txBody>
          <a:bodyPr wrap="square" lIns="0" tIns="0" rIns="0" bIns="0" rtlCol="0" anchor="ctr"/>
          <a:lstStyle/>
          <a:p>
            <a:pPr marL="0" indent="0">
              <a:buNone/>
            </a:pPr>
            <a:r>
              <a:rPr lang="en-US" sz="1300" b="1" dirty="0">
                <a:solidFill>
                  <a:schemeClr val="accent2"/>
                </a:solidFill>
                <a:latin typeface="Georgia" pitchFamily="34" charset="0"/>
                <a:ea typeface="Georgia" pitchFamily="34" charset="-122"/>
                <a:cs typeface="Georgia" pitchFamily="34" charset="-120"/>
              </a:rPr>
              <a:t>How it works</a:t>
            </a:r>
            <a:endParaRPr lang="en-US" sz="1300" dirty="0"/>
          </a:p>
        </p:txBody>
      </p:sp>
      <p:sp>
        <p:nvSpPr>
          <p:cNvPr id="11" name="Text 7"/>
          <p:cNvSpPr txBox="1"/>
          <p:nvPr/>
        </p:nvSpPr>
        <p:spPr>
          <a:xfrm>
            <a:off x="2521044" y="2514600"/>
            <a:ext cx="6165756" cy="1280160"/>
          </a:xfrm>
          <a:prstGeom prst="rect">
            <a:avLst/>
          </a:prstGeom>
          <a:noFill/>
          <a:ln/>
        </p:spPr>
        <p:txBody>
          <a:bodyPr wrap="square" lIns="0" tIns="0" rIns="0" bIns="0" rtlCol="0" anchor="t"/>
          <a:lstStyle/>
          <a:p>
            <a:pPr marL="342900" indent="-342900">
              <a:spcAft>
                <a:spcPts val="300"/>
              </a:spcAft>
              <a:buSzPct val="100000"/>
              <a:buFont typeface="+mj-lt"/>
              <a:buAutoNum type="arabicPeriod"/>
            </a:pPr>
            <a:r>
              <a:rPr lang="en-US" sz="1200" dirty="0">
                <a:solidFill>
                  <a:schemeClr val="tx1"/>
                </a:solidFill>
              </a:rPr>
              <a:t>Check the sample quotation and the 5% discount</a:t>
            </a:r>
            <a:endParaRPr lang="en-US" sz="1200" dirty="0"/>
          </a:p>
          <a:p>
            <a:pPr marL="342900" indent="-342900">
              <a:spcAft>
                <a:spcPts val="300"/>
              </a:spcAft>
              <a:buSzPct val="100000"/>
              <a:buFont typeface="+mj-lt"/>
              <a:buAutoNum type="arabicPeriod"/>
            </a:pPr>
            <a:r>
              <a:rPr lang="en-US" sz="1200" dirty="0">
                <a:solidFill>
                  <a:schemeClr val="tx1"/>
                </a:solidFill>
              </a:rPr>
              <a:t>Choose Card or Bank transfer</a:t>
            </a:r>
            <a:endParaRPr lang="en-US" sz="1200" dirty="0"/>
          </a:p>
          <a:p>
            <a:pPr marL="342900" indent="-342900">
              <a:spcAft>
                <a:spcPts val="300"/>
              </a:spcAft>
              <a:buSzPct val="100000"/>
              <a:buFont typeface="+mj-lt"/>
              <a:buAutoNum type="arabicPeriod"/>
            </a:pPr>
            <a:r>
              <a:rPr lang="en-US" sz="1200" dirty="0">
                <a:solidFill>
                  <a:schemeClr val="tx1"/>
                </a:solidFill>
              </a:rPr>
              <a:t>Fill in the card details and tap Pay (sample only, no real payment)</a:t>
            </a:r>
            <a:endParaRPr lang="en-US" sz="1200" dirty="0"/>
          </a:p>
        </p:txBody>
      </p:sp>
      <p:sp>
        <p:nvSpPr>
          <p:cNvPr id="12" name="Text 8"/>
          <p:cNvSpPr txBox="1"/>
          <p:nvPr/>
        </p:nvSpPr>
        <p:spPr>
          <a:xfrm>
            <a:off x="2521044" y="3840480"/>
            <a:ext cx="6165756" cy="256032"/>
          </a:xfrm>
          <a:prstGeom prst="rect">
            <a:avLst/>
          </a:prstGeom>
          <a:noFill/>
          <a:ln/>
        </p:spPr>
        <p:txBody>
          <a:bodyPr wrap="square" lIns="0" tIns="0" rIns="0" bIns="0" rtlCol="0" anchor="ctr"/>
          <a:lstStyle/>
          <a:p>
            <a:pPr marL="0" indent="0">
              <a:buNone/>
            </a:pPr>
            <a:r>
              <a:rPr lang="en-US" sz="1300" b="1" dirty="0">
                <a:solidFill>
                  <a:schemeClr val="accent2"/>
                </a:solidFill>
                <a:latin typeface="Georgia" pitchFamily="34" charset="0"/>
                <a:ea typeface="Georgia" pitchFamily="34" charset="-122"/>
                <a:cs typeface="Georgia" pitchFamily="34" charset="-120"/>
              </a:rPr>
              <a:t>Why we designed it this way</a:t>
            </a:r>
            <a:endParaRPr lang="en-US" sz="1300" dirty="0"/>
          </a:p>
        </p:txBody>
      </p:sp>
      <p:sp>
        <p:nvSpPr>
          <p:cNvPr id="13" name="Text 9"/>
          <p:cNvSpPr txBox="1"/>
          <p:nvPr/>
        </p:nvSpPr>
        <p:spPr>
          <a:xfrm>
            <a:off x="2521044" y="4114800"/>
            <a:ext cx="6165756" cy="64008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1"/>
                </a:solidFill>
              </a:rPr>
              <a:t>Shows the discount clearly before paying</a:t>
            </a:r>
            <a:endParaRPr lang="en-US" sz="1200" dirty="0"/>
          </a:p>
          <a:p>
            <a:pPr marL="342900" indent="-342900">
              <a:spcAft>
                <a:spcPts val="300"/>
              </a:spcAft>
              <a:buSzPct val="100000"/>
              <a:buChar char="•"/>
            </a:pPr>
            <a:r>
              <a:rPr lang="en-US" sz="1200" dirty="0">
                <a:solidFill>
                  <a:schemeClr val="tx1"/>
                </a:solidFill>
              </a:rPr>
              <a:t>No real payment is taken in this demo</a:t>
            </a:r>
            <a:endParaRPr lang="en-US" sz="1200" dirty="0"/>
          </a:p>
        </p:txBody>
      </p:sp>
      <p:sp>
        <p:nvSpPr>
          <p:cNvPr id="25" name="Slide Number Placeholder 0"/>
          <p:cNvSpPr>
            <a:spLocks noGrp="1"/>
          </p:cNvSpPr>
          <p:nvPr>
            <p:ph type="sldNum" sz="quarter" idx="4294967295"/>
          </p:nvPr>
        </p:nvSpPr>
        <p:spPr>
          <a:xfrm>
            <a:off x="841248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tx2"/>
                </a:solidFill>
              </a:defRPr>
            </a:lvl1pPr>
          </a:lstStyle>
          <a:p>
            <a:pPr algn="l"/>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28600"/>
            <a:ext cx="6675120" cy="594360"/>
          </a:xfrm>
          <a:prstGeom prst="rect">
            <a:avLst/>
          </a:prstGeom>
          <a:noFill/>
          <a:ln/>
        </p:spPr>
        <p:txBody>
          <a:bodyPr wrap="square" lIns="0" tIns="0" rIns="0" bIns="0" rtlCol="0" anchor="ctr"/>
          <a:lstStyle/>
          <a:p>
            <a:pPr marL="0" indent="0">
              <a:buNone/>
            </a:pPr>
            <a:r>
              <a:rPr lang="en-US" sz="2600" b="1" dirty="0">
                <a:solidFill>
                  <a:schemeClr val="tx2"/>
                </a:solidFill>
                <a:latin typeface="Georgia" pitchFamily="34" charset="0"/>
                <a:ea typeface="Georgia" pitchFamily="34" charset="-122"/>
                <a:cs typeface="Georgia" pitchFamily="34" charset="-120"/>
              </a:rPr>
              <a:t>Mobile: 06 Reviews</a:t>
            </a:r>
            <a:endParaRPr lang="en-US" sz="2600" dirty="0"/>
          </a:p>
        </p:txBody>
      </p:sp>
      <p:sp>
        <p:nvSpPr>
          <p:cNvPr id="3" name="Presenter tag"/>
          <p:cNvSpPr/>
          <p:nvPr/>
        </p:nvSpPr>
        <p:spPr>
          <a:xfrm>
            <a:off x="7269480" y="347472"/>
            <a:ext cx="1463040" cy="329184"/>
          </a:xfrm>
          <a:prstGeom prst="roundRect">
            <a:avLst>
              <a:gd name="adj" fmla="val 50000"/>
            </a:avLst>
          </a:prstGeom>
          <a:solidFill>
            <a:schemeClr val="accent2"/>
          </a:solidFill>
          <a:ln w="12700">
            <a:solidFill>
              <a:schemeClr val="accent2"/>
            </a:solidFill>
            <a:prstDash val="solid"/>
          </a:ln>
        </p:spPr>
      </p:sp>
      <p:sp>
        <p:nvSpPr>
          <p:cNvPr id="4" name="Text 2"/>
          <p:cNvSpPr txBox="1"/>
          <p:nvPr/>
        </p:nvSpPr>
        <p:spPr>
          <a:xfrm>
            <a:off x="7269480" y="347472"/>
            <a:ext cx="1463040" cy="329184"/>
          </a:xfrm>
          <a:prstGeom prst="rect">
            <a:avLst/>
          </a:prstGeom>
          <a:noFill/>
          <a:ln/>
        </p:spPr>
        <p:txBody>
          <a:bodyPr wrap="square" lIns="0" tIns="0" rIns="0" bIns="0" rtlCol="0" anchor="ctr"/>
          <a:lstStyle/>
          <a:p>
            <a:pPr marL="0" indent="0" algn="ctr">
              <a:buNone/>
            </a:pPr>
            <a:r>
              <a:rPr lang="en-US" sz="1100" b="1" dirty="0">
                <a:solidFill>
                  <a:schemeClr val="bg1"/>
                </a:solidFill>
              </a:rPr>
              <a:t>Presenter: Itumeleng</a:t>
            </a:r>
            <a:endParaRPr lang="en-US" sz="1100" dirty="0"/>
          </a:p>
        </p:txBody>
      </p:sp>
      <p:sp>
        <p:nvSpPr>
          <p:cNvPr id="6" name="Card"/>
          <p:cNvSpPr/>
          <p:nvPr/>
        </p:nvSpPr>
        <p:spPr>
          <a:xfrm>
            <a:off x="457200" y="960120"/>
            <a:ext cx="1789524" cy="3703320"/>
          </a:xfrm>
          <a:prstGeom prst="roundRect">
            <a:avLst>
              <a:gd name="adj" fmla="val 4088"/>
            </a:avLst>
          </a:prstGeom>
          <a:solidFill>
            <a:schemeClr val="bg1"/>
          </a:solidFill>
          <a:ln w="12700">
            <a:solidFill>
              <a:srgbClr val="D9CBB5"/>
            </a:solidFill>
            <a:prstDash val="solid"/>
          </a:ln>
        </p:spPr>
      </p:sp>
      <p:pic>
        <p:nvPicPr>
          <p:cNvPr id="7" name="Image 0" descr="Mobile: 06 Reviews"/>
          <p:cNvPicPr>
            <a:picLocks noChangeAspect="1"/>
          </p:cNvPicPr>
          <p:nvPr/>
        </p:nvPicPr>
        <p:blipFill>
          <a:blip r:embed="rId3"/>
          <a:srcRect/>
          <a:stretch/>
        </p:blipFill>
        <p:spPr>
          <a:xfrm>
            <a:off x="548640" y="1051560"/>
            <a:ext cx="1606644" cy="3520440"/>
          </a:xfrm>
          <a:prstGeom prst="rect">
            <a:avLst/>
          </a:prstGeom>
        </p:spPr>
      </p:pic>
      <p:sp>
        <p:nvSpPr>
          <p:cNvPr id="8" name="Text 4"/>
          <p:cNvSpPr txBox="1"/>
          <p:nvPr/>
        </p:nvSpPr>
        <p:spPr>
          <a:xfrm>
            <a:off x="2521044" y="960120"/>
            <a:ext cx="6165756" cy="256032"/>
          </a:xfrm>
          <a:prstGeom prst="rect">
            <a:avLst/>
          </a:prstGeom>
          <a:noFill/>
          <a:ln/>
        </p:spPr>
        <p:txBody>
          <a:bodyPr wrap="square" lIns="0" tIns="0" rIns="0" bIns="0" rtlCol="0" anchor="ctr"/>
          <a:lstStyle/>
          <a:p>
            <a:pPr marL="0" indent="0">
              <a:buNone/>
            </a:pPr>
            <a:r>
              <a:rPr lang="en-US" sz="1300" b="1" dirty="0">
                <a:solidFill>
                  <a:schemeClr val="accent2"/>
                </a:solidFill>
                <a:latin typeface="Georgia" pitchFamily="34" charset="0"/>
                <a:ea typeface="Georgia" pitchFamily="34" charset="-122"/>
                <a:cs typeface="Georgia" pitchFamily="34" charset="-120"/>
              </a:rPr>
              <a:t>What this page does</a:t>
            </a:r>
            <a:endParaRPr lang="en-US" sz="1300" dirty="0"/>
          </a:p>
        </p:txBody>
      </p:sp>
      <p:sp>
        <p:nvSpPr>
          <p:cNvPr id="9" name="Text 5"/>
          <p:cNvSpPr txBox="1"/>
          <p:nvPr/>
        </p:nvSpPr>
        <p:spPr>
          <a:xfrm>
            <a:off x="2521044" y="1234440"/>
            <a:ext cx="6165756" cy="96012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1"/>
                </a:solidFill>
              </a:rPr>
              <a:t>Sample score of 5.0 out of 5 and demo reviews</a:t>
            </a:r>
            <a:endParaRPr lang="en-US" sz="1200" dirty="0"/>
          </a:p>
          <a:p>
            <a:pPr marL="342900" indent="-342900">
              <a:spcAft>
                <a:spcPts val="300"/>
              </a:spcAft>
              <a:buSzPct val="100000"/>
              <a:buChar char="•"/>
            </a:pPr>
            <a:r>
              <a:rPr lang="en-US" sz="1200" dirty="0">
                <a:solidFill>
                  <a:schemeClr val="tx1"/>
                </a:solidFill>
              </a:rPr>
              <a:t>Form to write a review: name, rating and experience</a:t>
            </a:r>
            <a:endParaRPr lang="en-US" sz="1200" dirty="0"/>
          </a:p>
          <a:p>
            <a:pPr marL="342900" indent="-342900">
              <a:spcAft>
                <a:spcPts val="300"/>
              </a:spcAft>
              <a:buSzPct val="100000"/>
              <a:buChar char="•"/>
            </a:pPr>
            <a:r>
              <a:rPr lang="en-US" sz="1200" dirty="0">
                <a:solidFill>
                  <a:schemeClr val="tx1"/>
                </a:solidFill>
              </a:rPr>
              <a:t>Submit review button</a:t>
            </a:r>
            <a:endParaRPr lang="en-US" sz="1200" dirty="0"/>
          </a:p>
        </p:txBody>
      </p:sp>
      <p:sp>
        <p:nvSpPr>
          <p:cNvPr id="10" name="Text 6"/>
          <p:cNvSpPr txBox="1"/>
          <p:nvPr/>
        </p:nvSpPr>
        <p:spPr>
          <a:xfrm>
            <a:off x="2521044" y="2240280"/>
            <a:ext cx="6165756" cy="256032"/>
          </a:xfrm>
          <a:prstGeom prst="rect">
            <a:avLst/>
          </a:prstGeom>
          <a:noFill/>
          <a:ln/>
        </p:spPr>
        <p:txBody>
          <a:bodyPr wrap="square" lIns="0" tIns="0" rIns="0" bIns="0" rtlCol="0" anchor="ctr"/>
          <a:lstStyle/>
          <a:p>
            <a:pPr marL="0" indent="0">
              <a:buNone/>
            </a:pPr>
            <a:r>
              <a:rPr lang="en-US" sz="1300" b="1" dirty="0">
                <a:solidFill>
                  <a:schemeClr val="accent2"/>
                </a:solidFill>
                <a:latin typeface="Georgia" pitchFamily="34" charset="0"/>
                <a:ea typeface="Georgia" pitchFamily="34" charset="-122"/>
                <a:cs typeface="Georgia" pitchFamily="34" charset="-120"/>
              </a:rPr>
              <a:t>How it works</a:t>
            </a:r>
            <a:endParaRPr lang="en-US" sz="1300" dirty="0"/>
          </a:p>
        </p:txBody>
      </p:sp>
      <p:sp>
        <p:nvSpPr>
          <p:cNvPr id="11" name="Text 7"/>
          <p:cNvSpPr txBox="1"/>
          <p:nvPr/>
        </p:nvSpPr>
        <p:spPr>
          <a:xfrm>
            <a:off x="2521044" y="2514600"/>
            <a:ext cx="6165756" cy="1280160"/>
          </a:xfrm>
          <a:prstGeom prst="rect">
            <a:avLst/>
          </a:prstGeom>
          <a:noFill/>
          <a:ln/>
        </p:spPr>
        <p:txBody>
          <a:bodyPr wrap="square" lIns="0" tIns="0" rIns="0" bIns="0" rtlCol="0" anchor="t"/>
          <a:lstStyle/>
          <a:p>
            <a:pPr marL="342900" indent="-342900">
              <a:spcAft>
                <a:spcPts val="300"/>
              </a:spcAft>
              <a:buSzPct val="100000"/>
              <a:buFont typeface="+mj-lt"/>
              <a:buAutoNum type="arabicPeriod"/>
            </a:pPr>
            <a:r>
              <a:rPr lang="en-US" sz="1200" dirty="0">
                <a:solidFill>
                  <a:schemeClr val="tx1"/>
                </a:solidFill>
              </a:rPr>
              <a:t>Read the demo reviews</a:t>
            </a:r>
            <a:endParaRPr lang="en-US" sz="1200" dirty="0"/>
          </a:p>
          <a:p>
            <a:pPr marL="342900" indent="-342900">
              <a:spcAft>
                <a:spcPts val="300"/>
              </a:spcAft>
              <a:buSzPct val="100000"/>
              <a:buFont typeface="+mj-lt"/>
              <a:buAutoNum type="arabicPeriod"/>
            </a:pPr>
            <a:r>
              <a:rPr lang="en-US" sz="1200" dirty="0">
                <a:solidFill>
                  <a:schemeClr val="tx1"/>
                </a:solidFill>
              </a:rPr>
              <a:t>Enter a name, a rating and the experience</a:t>
            </a:r>
            <a:endParaRPr lang="en-US" sz="1200" dirty="0"/>
          </a:p>
          <a:p>
            <a:pPr marL="342900" indent="-342900">
              <a:spcAft>
                <a:spcPts val="300"/>
              </a:spcAft>
              <a:buSzPct val="100000"/>
              <a:buFont typeface="+mj-lt"/>
              <a:buAutoNum type="arabicPeriod"/>
            </a:pPr>
            <a:r>
              <a:rPr lang="en-US" sz="1200" dirty="0">
                <a:solidFill>
                  <a:schemeClr val="tx1"/>
                </a:solidFill>
              </a:rPr>
              <a:t>Tap Submit review</a:t>
            </a:r>
            <a:endParaRPr lang="en-US" sz="1200" dirty="0"/>
          </a:p>
        </p:txBody>
      </p:sp>
      <p:sp>
        <p:nvSpPr>
          <p:cNvPr id="12" name="Text 8"/>
          <p:cNvSpPr txBox="1"/>
          <p:nvPr/>
        </p:nvSpPr>
        <p:spPr>
          <a:xfrm>
            <a:off x="2521044" y="3840480"/>
            <a:ext cx="6165756" cy="256032"/>
          </a:xfrm>
          <a:prstGeom prst="rect">
            <a:avLst/>
          </a:prstGeom>
          <a:noFill/>
          <a:ln/>
        </p:spPr>
        <p:txBody>
          <a:bodyPr wrap="square" lIns="0" tIns="0" rIns="0" bIns="0" rtlCol="0" anchor="ctr"/>
          <a:lstStyle/>
          <a:p>
            <a:pPr marL="0" indent="0">
              <a:buNone/>
            </a:pPr>
            <a:r>
              <a:rPr lang="en-US" sz="1300" b="1" dirty="0">
                <a:solidFill>
                  <a:schemeClr val="accent2"/>
                </a:solidFill>
                <a:latin typeface="Georgia" pitchFamily="34" charset="0"/>
                <a:ea typeface="Georgia" pitchFamily="34" charset="-122"/>
                <a:cs typeface="Georgia" pitchFamily="34" charset="-120"/>
              </a:rPr>
              <a:t>Why we designed it this way</a:t>
            </a:r>
            <a:endParaRPr lang="en-US" sz="1300" dirty="0"/>
          </a:p>
        </p:txBody>
      </p:sp>
      <p:sp>
        <p:nvSpPr>
          <p:cNvPr id="13" name="Text 9"/>
          <p:cNvSpPr txBox="1"/>
          <p:nvPr/>
        </p:nvSpPr>
        <p:spPr>
          <a:xfrm>
            <a:off x="2521044" y="4114800"/>
            <a:ext cx="6165756" cy="64008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1"/>
                </a:solidFill>
              </a:rPr>
              <a:t>Reviews help new customers trust the business</a:t>
            </a:r>
            <a:endParaRPr lang="en-US" sz="1200" dirty="0"/>
          </a:p>
          <a:p>
            <a:pPr marL="342900" indent="-342900">
              <a:spcAft>
                <a:spcPts val="300"/>
              </a:spcAft>
              <a:buSzPct val="100000"/>
              <a:buChar char="•"/>
            </a:pPr>
            <a:r>
              <a:rPr lang="en-US" sz="1200" dirty="0">
                <a:solidFill>
                  <a:schemeClr val="tx1"/>
                </a:solidFill>
              </a:rPr>
              <a:t>Marked as demo, because they are not real reviews</a:t>
            </a:r>
            <a:endParaRPr lang="en-US" sz="1200" dirty="0"/>
          </a:p>
        </p:txBody>
      </p:sp>
      <p:sp>
        <p:nvSpPr>
          <p:cNvPr id="25" name="Slide Number Placeholder 0"/>
          <p:cNvSpPr>
            <a:spLocks noGrp="1"/>
          </p:cNvSpPr>
          <p:nvPr>
            <p:ph type="sldNum" sz="quarter" idx="4294967295"/>
          </p:nvPr>
        </p:nvSpPr>
        <p:spPr>
          <a:xfrm>
            <a:off x="841248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tx2"/>
                </a:solidFill>
              </a:defRPr>
            </a:lvl1pPr>
          </a:lstStyle>
          <a:p>
            <a:pPr algn="l"/>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28600"/>
            <a:ext cx="6675120" cy="594360"/>
          </a:xfrm>
          <a:prstGeom prst="rect">
            <a:avLst/>
          </a:prstGeom>
          <a:noFill/>
          <a:ln/>
        </p:spPr>
        <p:txBody>
          <a:bodyPr wrap="square" lIns="0" tIns="0" rIns="0" bIns="0" rtlCol="0" anchor="ctr"/>
          <a:lstStyle/>
          <a:p>
            <a:pPr marL="0" indent="0">
              <a:buNone/>
            </a:pPr>
            <a:r>
              <a:rPr lang="en-US" sz="2600" b="1" dirty="0">
                <a:solidFill>
                  <a:schemeClr val="tx2"/>
                </a:solidFill>
                <a:latin typeface="Georgia" pitchFamily="34" charset="0"/>
                <a:ea typeface="Georgia" pitchFamily="34" charset="-122"/>
                <a:cs typeface="Georgia" pitchFamily="34" charset="-120"/>
              </a:rPr>
              <a:t>Mobile: 07 Overview</a:t>
            </a:r>
            <a:endParaRPr lang="en-US" sz="2600" dirty="0"/>
          </a:p>
        </p:txBody>
      </p:sp>
      <p:sp>
        <p:nvSpPr>
          <p:cNvPr id="3" name="Presenter tag"/>
          <p:cNvSpPr/>
          <p:nvPr/>
        </p:nvSpPr>
        <p:spPr>
          <a:xfrm>
            <a:off x="7269480" y="347472"/>
            <a:ext cx="1463040" cy="329184"/>
          </a:xfrm>
          <a:prstGeom prst="roundRect">
            <a:avLst>
              <a:gd name="adj" fmla="val 50000"/>
            </a:avLst>
          </a:prstGeom>
          <a:solidFill>
            <a:schemeClr val="accent2"/>
          </a:solidFill>
          <a:ln w="12700">
            <a:solidFill>
              <a:schemeClr val="accent2"/>
            </a:solidFill>
            <a:prstDash val="solid"/>
          </a:ln>
        </p:spPr>
      </p:sp>
      <p:sp>
        <p:nvSpPr>
          <p:cNvPr id="4" name="Text 2"/>
          <p:cNvSpPr txBox="1"/>
          <p:nvPr/>
        </p:nvSpPr>
        <p:spPr>
          <a:xfrm>
            <a:off x="7269480" y="347472"/>
            <a:ext cx="1463040" cy="329184"/>
          </a:xfrm>
          <a:prstGeom prst="rect">
            <a:avLst/>
          </a:prstGeom>
          <a:noFill/>
          <a:ln/>
        </p:spPr>
        <p:txBody>
          <a:bodyPr wrap="square" lIns="0" tIns="0" rIns="0" bIns="0" rtlCol="0" anchor="ctr"/>
          <a:lstStyle/>
          <a:p>
            <a:pPr marL="0" indent="0" algn="ctr">
              <a:buNone/>
            </a:pPr>
            <a:r>
              <a:rPr lang="en-US" sz="1100" b="1" dirty="0">
                <a:solidFill>
                  <a:schemeClr val="bg1"/>
                </a:solidFill>
              </a:rPr>
              <a:t>Presenter: Itumeleng</a:t>
            </a:r>
            <a:endParaRPr lang="en-US" sz="1100" dirty="0"/>
          </a:p>
        </p:txBody>
      </p:sp>
      <p:sp>
        <p:nvSpPr>
          <p:cNvPr id="6" name="Card"/>
          <p:cNvSpPr/>
          <p:nvPr/>
        </p:nvSpPr>
        <p:spPr>
          <a:xfrm>
            <a:off x="457200" y="960120"/>
            <a:ext cx="1789524" cy="3703320"/>
          </a:xfrm>
          <a:prstGeom prst="roundRect">
            <a:avLst>
              <a:gd name="adj" fmla="val 4088"/>
            </a:avLst>
          </a:prstGeom>
          <a:solidFill>
            <a:schemeClr val="bg1"/>
          </a:solidFill>
          <a:ln w="12700">
            <a:solidFill>
              <a:srgbClr val="D9CBB5"/>
            </a:solidFill>
            <a:prstDash val="solid"/>
          </a:ln>
        </p:spPr>
      </p:sp>
      <p:pic>
        <p:nvPicPr>
          <p:cNvPr id="7" name="Image 0" descr="Mobile: 07 Overview"/>
          <p:cNvPicPr>
            <a:picLocks noChangeAspect="1"/>
          </p:cNvPicPr>
          <p:nvPr/>
        </p:nvPicPr>
        <p:blipFill>
          <a:blip r:embed="rId3"/>
          <a:srcRect/>
          <a:stretch/>
        </p:blipFill>
        <p:spPr>
          <a:xfrm>
            <a:off x="548640" y="1051560"/>
            <a:ext cx="1606644" cy="3520440"/>
          </a:xfrm>
          <a:prstGeom prst="rect">
            <a:avLst/>
          </a:prstGeom>
        </p:spPr>
      </p:pic>
      <p:sp>
        <p:nvSpPr>
          <p:cNvPr id="8" name="Text 4"/>
          <p:cNvSpPr txBox="1"/>
          <p:nvPr/>
        </p:nvSpPr>
        <p:spPr>
          <a:xfrm>
            <a:off x="2521044" y="960120"/>
            <a:ext cx="6165756" cy="256032"/>
          </a:xfrm>
          <a:prstGeom prst="rect">
            <a:avLst/>
          </a:prstGeom>
          <a:noFill/>
          <a:ln/>
        </p:spPr>
        <p:txBody>
          <a:bodyPr wrap="square" lIns="0" tIns="0" rIns="0" bIns="0" rtlCol="0" anchor="ctr"/>
          <a:lstStyle/>
          <a:p>
            <a:pPr marL="0" indent="0">
              <a:buNone/>
            </a:pPr>
            <a:r>
              <a:rPr lang="en-US" sz="1300" b="1" dirty="0">
                <a:solidFill>
                  <a:schemeClr val="accent2"/>
                </a:solidFill>
                <a:latin typeface="Georgia" pitchFamily="34" charset="0"/>
                <a:ea typeface="Georgia" pitchFamily="34" charset="-122"/>
                <a:cs typeface="Georgia" pitchFamily="34" charset="-120"/>
              </a:rPr>
              <a:t>What this page does</a:t>
            </a:r>
            <a:endParaRPr lang="en-US" sz="1300" dirty="0"/>
          </a:p>
        </p:txBody>
      </p:sp>
      <p:sp>
        <p:nvSpPr>
          <p:cNvPr id="9" name="Text 5"/>
          <p:cNvSpPr txBox="1"/>
          <p:nvPr/>
        </p:nvSpPr>
        <p:spPr>
          <a:xfrm>
            <a:off x="2521044" y="1234440"/>
            <a:ext cx="6165756" cy="96012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1"/>
                </a:solidFill>
              </a:rPr>
              <a:t>One adventure shown in detail: Ultimate Adventure Day, R1 500</a:t>
            </a:r>
            <a:endParaRPr lang="en-US" sz="1200" dirty="0"/>
          </a:p>
          <a:p>
            <a:pPr marL="342900" indent="-342900">
              <a:spcAft>
                <a:spcPts val="300"/>
              </a:spcAft>
              <a:buSzPct val="100000"/>
              <a:buChar char="•"/>
            </a:pPr>
            <a:r>
              <a:rPr lang="en-US" sz="1200" dirty="0">
                <a:solidFill>
                  <a:schemeClr val="tx1"/>
                </a:solidFill>
              </a:rPr>
              <a:t>What's included: guided hike, ziplining, kayaking and lunch</a:t>
            </a:r>
            <a:endParaRPr lang="en-US" sz="1200" dirty="0"/>
          </a:p>
          <a:p>
            <a:pPr marL="342900" indent="-342900">
              <a:spcAft>
                <a:spcPts val="300"/>
              </a:spcAft>
              <a:buSzPct val="100000"/>
              <a:buChar char="•"/>
            </a:pPr>
            <a:r>
              <a:rPr lang="en-US" sz="1200" dirty="0">
                <a:solidFill>
                  <a:schemeClr val="tx1"/>
                </a:solidFill>
              </a:rPr>
              <a:t>Add to quote button</a:t>
            </a:r>
            <a:endParaRPr lang="en-US" sz="1200" dirty="0"/>
          </a:p>
        </p:txBody>
      </p:sp>
      <p:sp>
        <p:nvSpPr>
          <p:cNvPr id="10" name="Text 6"/>
          <p:cNvSpPr txBox="1"/>
          <p:nvPr/>
        </p:nvSpPr>
        <p:spPr>
          <a:xfrm>
            <a:off x="2521044" y="2240280"/>
            <a:ext cx="6165756" cy="256032"/>
          </a:xfrm>
          <a:prstGeom prst="rect">
            <a:avLst/>
          </a:prstGeom>
          <a:noFill/>
          <a:ln/>
        </p:spPr>
        <p:txBody>
          <a:bodyPr wrap="square" lIns="0" tIns="0" rIns="0" bIns="0" rtlCol="0" anchor="ctr"/>
          <a:lstStyle/>
          <a:p>
            <a:pPr marL="0" indent="0">
              <a:buNone/>
            </a:pPr>
            <a:r>
              <a:rPr lang="en-US" sz="1300" b="1" dirty="0">
                <a:solidFill>
                  <a:schemeClr val="accent2"/>
                </a:solidFill>
                <a:latin typeface="Georgia" pitchFamily="34" charset="0"/>
                <a:ea typeface="Georgia" pitchFamily="34" charset="-122"/>
                <a:cs typeface="Georgia" pitchFamily="34" charset="-120"/>
              </a:rPr>
              <a:t>How it works</a:t>
            </a:r>
            <a:endParaRPr lang="en-US" sz="1300" dirty="0"/>
          </a:p>
        </p:txBody>
      </p:sp>
      <p:sp>
        <p:nvSpPr>
          <p:cNvPr id="11" name="Text 7"/>
          <p:cNvSpPr txBox="1"/>
          <p:nvPr/>
        </p:nvSpPr>
        <p:spPr>
          <a:xfrm>
            <a:off x="2521044" y="2514600"/>
            <a:ext cx="6165756" cy="1280160"/>
          </a:xfrm>
          <a:prstGeom prst="rect">
            <a:avLst/>
          </a:prstGeom>
          <a:noFill/>
          <a:ln/>
        </p:spPr>
        <p:txBody>
          <a:bodyPr wrap="square" lIns="0" tIns="0" rIns="0" bIns="0" rtlCol="0" anchor="t"/>
          <a:lstStyle/>
          <a:p>
            <a:pPr marL="342900" indent="-342900">
              <a:spcAft>
                <a:spcPts val="300"/>
              </a:spcAft>
              <a:buSzPct val="100000"/>
              <a:buFont typeface="+mj-lt"/>
              <a:buAutoNum type="arabicPeriod"/>
            </a:pPr>
            <a:r>
              <a:rPr lang="en-US" sz="1200" dirty="0">
                <a:solidFill>
                  <a:schemeClr val="tx1"/>
                </a:solidFill>
              </a:rPr>
              <a:t>Scroll to see what is included</a:t>
            </a:r>
            <a:endParaRPr lang="en-US" sz="1200" dirty="0"/>
          </a:p>
          <a:p>
            <a:pPr marL="342900" indent="-342900">
              <a:spcAft>
                <a:spcPts val="300"/>
              </a:spcAft>
              <a:buSzPct val="100000"/>
              <a:buFont typeface="+mj-lt"/>
              <a:buAutoNum type="arabicPeriod"/>
            </a:pPr>
            <a:r>
              <a:rPr lang="en-US" sz="1200" dirty="0">
                <a:solidFill>
                  <a:schemeClr val="tx1"/>
                </a:solidFill>
              </a:rPr>
              <a:t>Tap Add to quote to add the adventure to the quote</a:t>
            </a:r>
            <a:endParaRPr lang="en-US" sz="1200" dirty="0"/>
          </a:p>
        </p:txBody>
      </p:sp>
      <p:sp>
        <p:nvSpPr>
          <p:cNvPr id="12" name="Text 8"/>
          <p:cNvSpPr txBox="1"/>
          <p:nvPr/>
        </p:nvSpPr>
        <p:spPr>
          <a:xfrm>
            <a:off x="2521044" y="3840480"/>
            <a:ext cx="6165756" cy="256032"/>
          </a:xfrm>
          <a:prstGeom prst="rect">
            <a:avLst/>
          </a:prstGeom>
          <a:noFill/>
          <a:ln/>
        </p:spPr>
        <p:txBody>
          <a:bodyPr wrap="square" lIns="0" tIns="0" rIns="0" bIns="0" rtlCol="0" anchor="ctr"/>
          <a:lstStyle/>
          <a:p>
            <a:pPr marL="0" indent="0">
              <a:buNone/>
            </a:pPr>
            <a:r>
              <a:rPr lang="en-US" sz="1300" b="1" dirty="0">
                <a:solidFill>
                  <a:schemeClr val="accent2"/>
                </a:solidFill>
                <a:latin typeface="Georgia" pitchFamily="34" charset="0"/>
                <a:ea typeface="Georgia" pitchFamily="34" charset="-122"/>
                <a:cs typeface="Georgia" pitchFamily="34" charset="-120"/>
              </a:rPr>
              <a:t>Why we designed it this way</a:t>
            </a:r>
            <a:endParaRPr lang="en-US" sz="1300" dirty="0"/>
          </a:p>
        </p:txBody>
      </p:sp>
      <p:sp>
        <p:nvSpPr>
          <p:cNvPr id="13" name="Text 9"/>
          <p:cNvSpPr txBox="1"/>
          <p:nvPr/>
        </p:nvSpPr>
        <p:spPr>
          <a:xfrm>
            <a:off x="2521044" y="4114800"/>
            <a:ext cx="6165756" cy="64008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1"/>
                </a:solidFill>
              </a:rPr>
              <a:t>Picture first, then price and what is included</a:t>
            </a:r>
            <a:endParaRPr lang="en-US" sz="1200" dirty="0"/>
          </a:p>
          <a:p>
            <a:pPr marL="342900" indent="-342900">
              <a:spcAft>
                <a:spcPts val="300"/>
              </a:spcAft>
              <a:buSzPct val="100000"/>
              <a:buChar char="•"/>
            </a:pPr>
            <a:r>
              <a:rPr lang="en-US" sz="1200" dirty="0">
                <a:solidFill>
                  <a:schemeClr val="tx1"/>
                </a:solidFill>
              </a:rPr>
              <a:t>The main button stays at the bottom, easy to reach</a:t>
            </a:r>
            <a:endParaRPr lang="en-US" sz="1200" dirty="0"/>
          </a:p>
        </p:txBody>
      </p:sp>
      <p:sp>
        <p:nvSpPr>
          <p:cNvPr id="25" name="Slide Number Placeholder 0"/>
          <p:cNvSpPr>
            <a:spLocks noGrp="1"/>
          </p:cNvSpPr>
          <p:nvPr>
            <p:ph type="sldNum" sz="quarter" idx="4294967295"/>
          </p:nvPr>
        </p:nvSpPr>
        <p:spPr>
          <a:xfrm>
            <a:off x="841248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tx2"/>
                </a:solidFill>
              </a:defRPr>
            </a:lvl1pPr>
          </a:lstStyle>
          <a:p>
            <a:pPr algn="l"/>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28600"/>
            <a:ext cx="6675120" cy="594360"/>
          </a:xfrm>
          <a:prstGeom prst="rect">
            <a:avLst/>
          </a:prstGeom>
          <a:noFill/>
          <a:ln/>
        </p:spPr>
        <p:txBody>
          <a:bodyPr wrap="square" lIns="0" tIns="0" rIns="0" bIns="0" rtlCol="0" anchor="ctr"/>
          <a:lstStyle/>
          <a:p>
            <a:pPr marL="0" indent="0">
              <a:buNone/>
            </a:pPr>
            <a:r>
              <a:rPr lang="en-US" sz="2600" b="1" dirty="0">
                <a:solidFill>
                  <a:schemeClr val="tx2"/>
                </a:solidFill>
                <a:latin typeface="Georgia" pitchFamily="34" charset="0"/>
                <a:ea typeface="Georgia" pitchFamily="34" charset="-122"/>
                <a:cs typeface="Georgia" pitchFamily="34" charset="-120"/>
              </a:rPr>
              <a:t>Mobile: 08 Account</a:t>
            </a:r>
            <a:endParaRPr lang="en-US" sz="2600" dirty="0"/>
          </a:p>
        </p:txBody>
      </p:sp>
      <p:sp>
        <p:nvSpPr>
          <p:cNvPr id="3" name="Presenter tag"/>
          <p:cNvSpPr/>
          <p:nvPr/>
        </p:nvSpPr>
        <p:spPr>
          <a:xfrm>
            <a:off x="7269480" y="347472"/>
            <a:ext cx="1463040" cy="329184"/>
          </a:xfrm>
          <a:prstGeom prst="roundRect">
            <a:avLst>
              <a:gd name="adj" fmla="val 50000"/>
            </a:avLst>
          </a:prstGeom>
          <a:solidFill>
            <a:schemeClr val="accent2"/>
          </a:solidFill>
          <a:ln w="12700">
            <a:solidFill>
              <a:schemeClr val="accent2"/>
            </a:solidFill>
            <a:prstDash val="solid"/>
          </a:ln>
        </p:spPr>
      </p:sp>
      <p:sp>
        <p:nvSpPr>
          <p:cNvPr id="4" name="Text 2"/>
          <p:cNvSpPr txBox="1"/>
          <p:nvPr/>
        </p:nvSpPr>
        <p:spPr>
          <a:xfrm>
            <a:off x="7269480" y="347472"/>
            <a:ext cx="1463040" cy="329184"/>
          </a:xfrm>
          <a:prstGeom prst="rect">
            <a:avLst/>
          </a:prstGeom>
          <a:noFill/>
          <a:ln/>
        </p:spPr>
        <p:txBody>
          <a:bodyPr wrap="square" lIns="0" tIns="0" rIns="0" bIns="0" rtlCol="0" anchor="ctr"/>
          <a:lstStyle/>
          <a:p>
            <a:pPr marL="0" indent="0" algn="ctr">
              <a:buNone/>
            </a:pPr>
            <a:r>
              <a:rPr lang="en-US" sz="1100" b="1" dirty="0">
                <a:solidFill>
                  <a:schemeClr val="bg1"/>
                </a:solidFill>
              </a:rPr>
              <a:t>Presenter: Itumeleng</a:t>
            </a:r>
            <a:endParaRPr lang="en-US" sz="1100" dirty="0"/>
          </a:p>
        </p:txBody>
      </p:sp>
      <p:sp>
        <p:nvSpPr>
          <p:cNvPr id="6" name="Card"/>
          <p:cNvSpPr/>
          <p:nvPr/>
        </p:nvSpPr>
        <p:spPr>
          <a:xfrm>
            <a:off x="457200" y="960120"/>
            <a:ext cx="1789524" cy="3703320"/>
          </a:xfrm>
          <a:prstGeom prst="roundRect">
            <a:avLst>
              <a:gd name="adj" fmla="val 4088"/>
            </a:avLst>
          </a:prstGeom>
          <a:solidFill>
            <a:schemeClr val="bg1"/>
          </a:solidFill>
          <a:ln w="12700">
            <a:solidFill>
              <a:srgbClr val="D9CBB5"/>
            </a:solidFill>
            <a:prstDash val="solid"/>
          </a:ln>
        </p:spPr>
      </p:sp>
      <p:pic>
        <p:nvPicPr>
          <p:cNvPr id="7" name="Image 0" descr="Mobile: 08 Account"/>
          <p:cNvPicPr>
            <a:picLocks noChangeAspect="1"/>
          </p:cNvPicPr>
          <p:nvPr/>
        </p:nvPicPr>
        <p:blipFill>
          <a:blip r:embed="rId3"/>
          <a:srcRect/>
          <a:stretch/>
        </p:blipFill>
        <p:spPr>
          <a:xfrm>
            <a:off x="548640" y="1051560"/>
            <a:ext cx="1606644" cy="3520440"/>
          </a:xfrm>
          <a:prstGeom prst="rect">
            <a:avLst/>
          </a:prstGeom>
        </p:spPr>
      </p:pic>
      <p:sp>
        <p:nvSpPr>
          <p:cNvPr id="8" name="Text 4"/>
          <p:cNvSpPr txBox="1"/>
          <p:nvPr/>
        </p:nvSpPr>
        <p:spPr>
          <a:xfrm>
            <a:off x="2521044" y="960120"/>
            <a:ext cx="6165756" cy="256032"/>
          </a:xfrm>
          <a:prstGeom prst="rect">
            <a:avLst/>
          </a:prstGeom>
          <a:noFill/>
          <a:ln/>
        </p:spPr>
        <p:txBody>
          <a:bodyPr wrap="square" lIns="0" tIns="0" rIns="0" bIns="0" rtlCol="0" anchor="ctr"/>
          <a:lstStyle/>
          <a:p>
            <a:pPr marL="0" indent="0">
              <a:buNone/>
            </a:pPr>
            <a:r>
              <a:rPr lang="en-US" sz="1300" b="1" dirty="0">
                <a:solidFill>
                  <a:schemeClr val="accent2"/>
                </a:solidFill>
                <a:latin typeface="Georgia" pitchFamily="34" charset="0"/>
                <a:ea typeface="Georgia" pitchFamily="34" charset="-122"/>
                <a:cs typeface="Georgia" pitchFamily="34" charset="-120"/>
              </a:rPr>
              <a:t>What this page does</a:t>
            </a:r>
            <a:endParaRPr lang="en-US" sz="1300" dirty="0"/>
          </a:p>
        </p:txBody>
      </p:sp>
      <p:sp>
        <p:nvSpPr>
          <p:cNvPr id="9" name="Text 5"/>
          <p:cNvSpPr txBox="1"/>
          <p:nvPr/>
        </p:nvSpPr>
        <p:spPr>
          <a:xfrm>
            <a:off x="2521044" y="1234440"/>
            <a:ext cx="6165756" cy="96012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1"/>
                </a:solidFill>
              </a:rPr>
              <a:t>Guest explorer message and profile form (name, email, phone)</a:t>
            </a:r>
            <a:endParaRPr lang="en-US" sz="1200" dirty="0"/>
          </a:p>
          <a:p>
            <a:pPr marL="342900" indent="-342900">
              <a:spcAft>
                <a:spcPts val="300"/>
              </a:spcAft>
              <a:buSzPct val="100000"/>
              <a:buChar char="•"/>
            </a:pPr>
            <a:r>
              <a:rPr lang="en-US" sz="1200" dirty="0">
                <a:solidFill>
                  <a:schemeClr val="tx1"/>
                </a:solidFill>
              </a:rPr>
              <a:t>Save profile button</a:t>
            </a:r>
            <a:endParaRPr lang="en-US" sz="1200" dirty="0"/>
          </a:p>
          <a:p>
            <a:pPr marL="342900" indent="-342900">
              <a:spcAft>
                <a:spcPts val="300"/>
              </a:spcAft>
              <a:buSzPct val="100000"/>
              <a:buChar char="•"/>
            </a:pPr>
            <a:r>
              <a:rPr lang="en-US" sz="1200" dirty="0">
                <a:solidFill>
                  <a:schemeClr val="tx1"/>
                </a:solidFill>
              </a:rPr>
              <a:t>Links: My bookings, Saved quotes and Settings, and Log in / Create account</a:t>
            </a:r>
            <a:endParaRPr lang="en-US" sz="1200" dirty="0"/>
          </a:p>
        </p:txBody>
      </p:sp>
      <p:sp>
        <p:nvSpPr>
          <p:cNvPr id="10" name="Text 6"/>
          <p:cNvSpPr txBox="1"/>
          <p:nvPr/>
        </p:nvSpPr>
        <p:spPr>
          <a:xfrm>
            <a:off x="2521044" y="2240280"/>
            <a:ext cx="6165756" cy="256032"/>
          </a:xfrm>
          <a:prstGeom prst="rect">
            <a:avLst/>
          </a:prstGeom>
          <a:noFill/>
          <a:ln/>
        </p:spPr>
        <p:txBody>
          <a:bodyPr wrap="square" lIns="0" tIns="0" rIns="0" bIns="0" rtlCol="0" anchor="ctr"/>
          <a:lstStyle/>
          <a:p>
            <a:pPr marL="0" indent="0">
              <a:buNone/>
            </a:pPr>
            <a:r>
              <a:rPr lang="en-US" sz="1300" b="1" dirty="0">
                <a:solidFill>
                  <a:schemeClr val="accent2"/>
                </a:solidFill>
                <a:latin typeface="Georgia" pitchFamily="34" charset="0"/>
                <a:ea typeface="Georgia" pitchFamily="34" charset="-122"/>
                <a:cs typeface="Georgia" pitchFamily="34" charset="-120"/>
              </a:rPr>
              <a:t>How it works</a:t>
            </a:r>
            <a:endParaRPr lang="en-US" sz="1300" dirty="0"/>
          </a:p>
        </p:txBody>
      </p:sp>
      <p:sp>
        <p:nvSpPr>
          <p:cNvPr id="11" name="Text 7"/>
          <p:cNvSpPr txBox="1"/>
          <p:nvPr/>
        </p:nvSpPr>
        <p:spPr>
          <a:xfrm>
            <a:off x="2521044" y="2514600"/>
            <a:ext cx="6165756" cy="1280160"/>
          </a:xfrm>
          <a:prstGeom prst="rect">
            <a:avLst/>
          </a:prstGeom>
          <a:noFill/>
          <a:ln/>
        </p:spPr>
        <p:txBody>
          <a:bodyPr wrap="square" lIns="0" tIns="0" rIns="0" bIns="0" rtlCol="0" anchor="t"/>
          <a:lstStyle/>
          <a:p>
            <a:pPr marL="342900" indent="-342900">
              <a:spcAft>
                <a:spcPts val="300"/>
              </a:spcAft>
              <a:buSzPct val="100000"/>
              <a:buFont typeface="+mj-lt"/>
              <a:buAutoNum type="arabicPeriod"/>
            </a:pPr>
            <a:r>
              <a:rPr lang="en-US" sz="1200" dirty="0">
                <a:solidFill>
                  <a:schemeClr val="tx1"/>
                </a:solidFill>
              </a:rPr>
              <a:t>A guest can log in or create an account</a:t>
            </a:r>
            <a:endParaRPr lang="en-US" sz="1200" dirty="0"/>
          </a:p>
          <a:p>
            <a:pPr marL="342900" indent="-342900">
              <a:spcAft>
                <a:spcPts val="300"/>
              </a:spcAft>
              <a:buSzPct val="100000"/>
              <a:buFont typeface="+mj-lt"/>
              <a:buAutoNum type="arabicPeriod"/>
            </a:pPr>
            <a:r>
              <a:rPr lang="en-US" sz="1200" dirty="0">
                <a:solidFill>
                  <a:schemeClr val="tx1"/>
                </a:solidFill>
              </a:rPr>
              <a:t>Fill in the profile and tap Save profile</a:t>
            </a:r>
            <a:endParaRPr lang="en-US" sz="1200" dirty="0"/>
          </a:p>
          <a:p>
            <a:pPr marL="342900" indent="-342900">
              <a:spcAft>
                <a:spcPts val="300"/>
              </a:spcAft>
              <a:buSzPct val="100000"/>
              <a:buFont typeface="+mj-lt"/>
              <a:buAutoNum type="arabicPeriod"/>
            </a:pPr>
            <a:r>
              <a:rPr lang="en-US" sz="1200" dirty="0">
                <a:solidFill>
                  <a:schemeClr val="tx1"/>
                </a:solidFill>
              </a:rPr>
              <a:t>Open My bookings, Saved quotes or Settings</a:t>
            </a:r>
            <a:endParaRPr lang="en-US" sz="1200" dirty="0"/>
          </a:p>
        </p:txBody>
      </p:sp>
      <p:sp>
        <p:nvSpPr>
          <p:cNvPr id="12" name="Text 8"/>
          <p:cNvSpPr txBox="1"/>
          <p:nvPr/>
        </p:nvSpPr>
        <p:spPr>
          <a:xfrm>
            <a:off x="2521044" y="3840480"/>
            <a:ext cx="6165756" cy="256032"/>
          </a:xfrm>
          <a:prstGeom prst="rect">
            <a:avLst/>
          </a:prstGeom>
          <a:noFill/>
          <a:ln/>
        </p:spPr>
        <p:txBody>
          <a:bodyPr wrap="square" lIns="0" tIns="0" rIns="0" bIns="0" rtlCol="0" anchor="ctr"/>
          <a:lstStyle/>
          <a:p>
            <a:pPr marL="0" indent="0">
              <a:buNone/>
            </a:pPr>
            <a:r>
              <a:rPr lang="en-US" sz="1300" b="1" dirty="0">
                <a:solidFill>
                  <a:schemeClr val="accent2"/>
                </a:solidFill>
                <a:latin typeface="Georgia" pitchFamily="34" charset="0"/>
                <a:ea typeface="Georgia" pitchFamily="34" charset="-122"/>
                <a:cs typeface="Georgia" pitchFamily="34" charset="-120"/>
              </a:rPr>
              <a:t>Why we designed it this way</a:t>
            </a:r>
            <a:endParaRPr lang="en-US" sz="1300" dirty="0"/>
          </a:p>
        </p:txBody>
      </p:sp>
      <p:sp>
        <p:nvSpPr>
          <p:cNvPr id="13" name="Text 9"/>
          <p:cNvSpPr txBox="1"/>
          <p:nvPr/>
        </p:nvSpPr>
        <p:spPr>
          <a:xfrm>
            <a:off x="2521044" y="4114800"/>
            <a:ext cx="6165756" cy="64008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1"/>
                </a:solidFill>
              </a:rPr>
              <a:t>All personal things in one place</a:t>
            </a:r>
            <a:endParaRPr lang="en-US" sz="1200" dirty="0"/>
          </a:p>
          <a:p>
            <a:pPr marL="342900" indent="-342900">
              <a:spcAft>
                <a:spcPts val="300"/>
              </a:spcAft>
              <a:buSzPct val="100000"/>
              <a:buChar char="•"/>
            </a:pPr>
            <a:r>
              <a:rPr lang="en-US" sz="1200" dirty="0">
                <a:solidFill>
                  <a:schemeClr val="tx1"/>
                </a:solidFill>
              </a:rPr>
              <a:t>Matches the Account button in the bottom menu</a:t>
            </a:r>
            <a:endParaRPr lang="en-US" sz="1200" dirty="0"/>
          </a:p>
        </p:txBody>
      </p:sp>
      <p:sp>
        <p:nvSpPr>
          <p:cNvPr id="25" name="Slide Number Placeholder 0"/>
          <p:cNvSpPr>
            <a:spLocks noGrp="1"/>
          </p:cNvSpPr>
          <p:nvPr>
            <p:ph type="sldNum" sz="quarter" idx="4294967295"/>
          </p:nvPr>
        </p:nvSpPr>
        <p:spPr>
          <a:xfrm>
            <a:off x="841248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tx2"/>
                </a:solidFill>
              </a:defRPr>
            </a:lvl1pPr>
          </a:lstStyle>
          <a:p>
            <a:pPr algn="l"/>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28600"/>
            <a:ext cx="6675120" cy="594360"/>
          </a:xfrm>
          <a:prstGeom prst="rect">
            <a:avLst/>
          </a:prstGeom>
          <a:noFill/>
          <a:ln/>
        </p:spPr>
        <p:txBody>
          <a:bodyPr wrap="square" lIns="0" tIns="0" rIns="0" bIns="0" rtlCol="0" anchor="ctr"/>
          <a:lstStyle/>
          <a:p>
            <a:pPr marL="0" indent="0">
              <a:buNone/>
            </a:pPr>
            <a:r>
              <a:rPr lang="en-US" sz="2600" b="1" dirty="0">
                <a:solidFill>
                  <a:schemeClr val="tx2"/>
                </a:solidFill>
                <a:latin typeface="Georgia" pitchFamily="34" charset="0"/>
                <a:ea typeface="Georgia" pitchFamily="34" charset="-122"/>
                <a:cs typeface="Georgia" pitchFamily="34" charset="-120"/>
              </a:rPr>
              <a:t>Mobile: 09 Quote</a:t>
            </a:r>
            <a:endParaRPr lang="en-US" sz="2600" dirty="0"/>
          </a:p>
        </p:txBody>
      </p:sp>
      <p:sp>
        <p:nvSpPr>
          <p:cNvPr id="3" name="Presenter tag"/>
          <p:cNvSpPr/>
          <p:nvPr/>
        </p:nvSpPr>
        <p:spPr>
          <a:xfrm>
            <a:off x="7269480" y="347472"/>
            <a:ext cx="1463040" cy="329184"/>
          </a:xfrm>
          <a:prstGeom prst="roundRect">
            <a:avLst>
              <a:gd name="adj" fmla="val 50000"/>
            </a:avLst>
          </a:prstGeom>
          <a:solidFill>
            <a:schemeClr val="accent2"/>
          </a:solidFill>
          <a:ln w="12700">
            <a:solidFill>
              <a:schemeClr val="accent2"/>
            </a:solidFill>
            <a:prstDash val="solid"/>
          </a:ln>
        </p:spPr>
      </p:sp>
      <p:sp>
        <p:nvSpPr>
          <p:cNvPr id="4" name="Text 2"/>
          <p:cNvSpPr txBox="1"/>
          <p:nvPr/>
        </p:nvSpPr>
        <p:spPr>
          <a:xfrm>
            <a:off x="7269480" y="347472"/>
            <a:ext cx="1463040" cy="329184"/>
          </a:xfrm>
          <a:prstGeom prst="rect">
            <a:avLst/>
          </a:prstGeom>
          <a:noFill/>
          <a:ln/>
        </p:spPr>
        <p:txBody>
          <a:bodyPr wrap="square" lIns="0" tIns="0" rIns="0" bIns="0" rtlCol="0" anchor="ctr"/>
          <a:lstStyle/>
          <a:p>
            <a:pPr marL="0" indent="0" algn="ctr">
              <a:buNone/>
            </a:pPr>
            <a:r>
              <a:rPr lang="en-US" sz="1100" b="1" dirty="0">
                <a:solidFill>
                  <a:schemeClr val="bg1"/>
                </a:solidFill>
              </a:rPr>
              <a:t>Presenter: Itumeleng</a:t>
            </a:r>
            <a:endParaRPr lang="en-US" sz="1100" dirty="0"/>
          </a:p>
        </p:txBody>
      </p:sp>
      <p:sp>
        <p:nvSpPr>
          <p:cNvPr id="6" name="Card"/>
          <p:cNvSpPr/>
          <p:nvPr/>
        </p:nvSpPr>
        <p:spPr>
          <a:xfrm>
            <a:off x="457200" y="960120"/>
            <a:ext cx="1766309" cy="3703320"/>
          </a:xfrm>
          <a:prstGeom prst="roundRect">
            <a:avLst>
              <a:gd name="adj" fmla="val 4142"/>
            </a:avLst>
          </a:prstGeom>
          <a:solidFill>
            <a:schemeClr val="bg1"/>
          </a:solidFill>
          <a:ln w="12700">
            <a:solidFill>
              <a:srgbClr val="D9CBB5"/>
            </a:solidFill>
            <a:prstDash val="solid"/>
          </a:ln>
        </p:spPr>
      </p:sp>
      <p:pic>
        <p:nvPicPr>
          <p:cNvPr id="7" name="Image 0" descr="Mobile: 09 Quote"/>
          <p:cNvPicPr>
            <a:picLocks noChangeAspect="1"/>
          </p:cNvPicPr>
          <p:nvPr/>
        </p:nvPicPr>
        <p:blipFill>
          <a:blip r:embed="rId3"/>
          <a:srcRect/>
          <a:stretch/>
        </p:blipFill>
        <p:spPr>
          <a:xfrm>
            <a:off x="548640" y="1051560"/>
            <a:ext cx="1583429" cy="3520440"/>
          </a:xfrm>
          <a:prstGeom prst="rect">
            <a:avLst/>
          </a:prstGeom>
        </p:spPr>
      </p:pic>
      <p:sp>
        <p:nvSpPr>
          <p:cNvPr id="8" name="Text 4"/>
          <p:cNvSpPr txBox="1"/>
          <p:nvPr/>
        </p:nvSpPr>
        <p:spPr>
          <a:xfrm>
            <a:off x="2497829" y="960120"/>
            <a:ext cx="6188971" cy="256032"/>
          </a:xfrm>
          <a:prstGeom prst="rect">
            <a:avLst/>
          </a:prstGeom>
          <a:noFill/>
          <a:ln/>
        </p:spPr>
        <p:txBody>
          <a:bodyPr wrap="square" lIns="0" tIns="0" rIns="0" bIns="0" rtlCol="0" anchor="ctr"/>
          <a:lstStyle/>
          <a:p>
            <a:pPr marL="0" indent="0">
              <a:buNone/>
            </a:pPr>
            <a:r>
              <a:rPr lang="en-US" sz="1300" b="1" dirty="0">
                <a:solidFill>
                  <a:schemeClr val="accent2"/>
                </a:solidFill>
                <a:latin typeface="Georgia" pitchFamily="34" charset="0"/>
                <a:ea typeface="Georgia" pitchFamily="34" charset="-122"/>
                <a:cs typeface="Georgia" pitchFamily="34" charset="-120"/>
              </a:rPr>
              <a:t>What this page does</a:t>
            </a:r>
            <a:endParaRPr lang="en-US" sz="1300" dirty="0"/>
          </a:p>
        </p:txBody>
      </p:sp>
      <p:sp>
        <p:nvSpPr>
          <p:cNvPr id="9" name="Text 5"/>
          <p:cNvSpPr txBox="1"/>
          <p:nvPr/>
        </p:nvSpPr>
        <p:spPr>
          <a:xfrm>
            <a:off x="2497829" y="1234440"/>
            <a:ext cx="6188971" cy="96012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1"/>
                </a:solidFill>
              </a:rPr>
              <a:t>Name, email and phone number</a:t>
            </a:r>
            <a:endParaRPr lang="en-US" sz="1200" dirty="0"/>
          </a:p>
          <a:p>
            <a:pPr marL="342900" indent="-342900">
              <a:spcAft>
                <a:spcPts val="300"/>
              </a:spcAft>
              <a:buSzPct val="100000"/>
              <a:buChar char="•"/>
            </a:pPr>
            <a:r>
              <a:rPr lang="en-US" sz="1200" dirty="0">
                <a:solidFill>
                  <a:schemeClr val="tx1"/>
                </a:solidFill>
              </a:rPr>
              <a:t>Selected activities with prices, preferred date, group type and number of guests</a:t>
            </a:r>
            <a:endParaRPr lang="en-US" sz="1200" dirty="0"/>
          </a:p>
          <a:p>
            <a:pPr marL="342900" indent="-342900">
              <a:spcAft>
                <a:spcPts val="300"/>
              </a:spcAft>
              <a:buSzPct val="100000"/>
              <a:buChar char="•"/>
            </a:pPr>
            <a:r>
              <a:rPr lang="en-US" sz="1200" dirty="0">
                <a:solidFill>
                  <a:schemeClr val="tx1"/>
                </a:solidFill>
              </a:rPr>
              <a:t>Sample quotation with discount, and Request quotation button</a:t>
            </a:r>
            <a:endParaRPr lang="en-US" sz="1200" dirty="0"/>
          </a:p>
        </p:txBody>
      </p:sp>
      <p:sp>
        <p:nvSpPr>
          <p:cNvPr id="10" name="Text 6"/>
          <p:cNvSpPr txBox="1"/>
          <p:nvPr/>
        </p:nvSpPr>
        <p:spPr>
          <a:xfrm>
            <a:off x="2497829" y="2240280"/>
            <a:ext cx="6188971" cy="256032"/>
          </a:xfrm>
          <a:prstGeom prst="rect">
            <a:avLst/>
          </a:prstGeom>
          <a:noFill/>
          <a:ln/>
        </p:spPr>
        <p:txBody>
          <a:bodyPr wrap="square" lIns="0" tIns="0" rIns="0" bIns="0" rtlCol="0" anchor="ctr"/>
          <a:lstStyle/>
          <a:p>
            <a:pPr marL="0" indent="0">
              <a:buNone/>
            </a:pPr>
            <a:r>
              <a:rPr lang="en-US" sz="1300" b="1" dirty="0">
                <a:solidFill>
                  <a:schemeClr val="accent2"/>
                </a:solidFill>
                <a:latin typeface="Georgia" pitchFamily="34" charset="0"/>
                <a:ea typeface="Georgia" pitchFamily="34" charset="-122"/>
                <a:cs typeface="Georgia" pitchFamily="34" charset="-120"/>
              </a:rPr>
              <a:t>How it works</a:t>
            </a:r>
            <a:endParaRPr lang="en-US" sz="1300" dirty="0"/>
          </a:p>
        </p:txBody>
      </p:sp>
      <p:sp>
        <p:nvSpPr>
          <p:cNvPr id="11" name="Text 7"/>
          <p:cNvSpPr txBox="1"/>
          <p:nvPr/>
        </p:nvSpPr>
        <p:spPr>
          <a:xfrm>
            <a:off x="2497829" y="2514600"/>
            <a:ext cx="6188971" cy="1280160"/>
          </a:xfrm>
          <a:prstGeom prst="rect">
            <a:avLst/>
          </a:prstGeom>
          <a:noFill/>
          <a:ln/>
        </p:spPr>
        <p:txBody>
          <a:bodyPr wrap="square" lIns="0" tIns="0" rIns="0" bIns="0" rtlCol="0" anchor="t"/>
          <a:lstStyle/>
          <a:p>
            <a:pPr marL="342900" indent="-342900">
              <a:spcAft>
                <a:spcPts val="300"/>
              </a:spcAft>
              <a:buSzPct val="100000"/>
              <a:buFont typeface="+mj-lt"/>
              <a:buAutoNum type="arabicPeriod"/>
            </a:pPr>
            <a:r>
              <a:rPr lang="en-US" sz="1200" dirty="0">
                <a:solidFill>
                  <a:schemeClr val="tx1"/>
                </a:solidFill>
              </a:rPr>
              <a:t>Fill in name, email and phone number</a:t>
            </a:r>
            <a:endParaRPr lang="en-US" sz="1200" dirty="0"/>
          </a:p>
          <a:p>
            <a:pPr marL="342900" indent="-342900">
              <a:spcAft>
                <a:spcPts val="300"/>
              </a:spcAft>
              <a:buSzPct val="100000"/>
              <a:buFont typeface="+mj-lt"/>
              <a:buAutoNum type="arabicPeriod"/>
            </a:pPr>
            <a:r>
              <a:rPr lang="en-US" sz="1200" dirty="0">
                <a:solidFill>
                  <a:schemeClr val="tx1"/>
                </a:solidFill>
              </a:rPr>
              <a:t>Tick the activities, then choose the date, group type and guests</a:t>
            </a:r>
            <a:endParaRPr lang="en-US" sz="1200" dirty="0"/>
          </a:p>
          <a:p>
            <a:pPr marL="342900" indent="-342900">
              <a:spcAft>
                <a:spcPts val="300"/>
              </a:spcAft>
              <a:buSzPct val="100000"/>
              <a:buFont typeface="+mj-lt"/>
              <a:buAutoNum type="arabicPeriod"/>
            </a:pPr>
            <a:r>
              <a:rPr lang="en-US" sz="1200" dirty="0">
                <a:solidFill>
                  <a:schemeClr val="tx1"/>
                </a:solidFill>
              </a:rPr>
              <a:t>The sample quotation shows the subtotal and the discount</a:t>
            </a:r>
            <a:endParaRPr lang="en-US" sz="1200" dirty="0"/>
          </a:p>
          <a:p>
            <a:pPr marL="342900" indent="-342900">
              <a:spcAft>
                <a:spcPts val="300"/>
              </a:spcAft>
              <a:buSzPct val="100000"/>
              <a:buFont typeface="+mj-lt"/>
              <a:buAutoNum type="arabicPeriod"/>
            </a:pPr>
            <a:r>
              <a:rPr lang="en-US" sz="1200" dirty="0">
                <a:solidFill>
                  <a:schemeClr val="tx1"/>
                </a:solidFill>
              </a:rPr>
              <a:t>Tap Request quotation</a:t>
            </a:r>
            <a:endParaRPr lang="en-US" sz="1200" dirty="0"/>
          </a:p>
        </p:txBody>
      </p:sp>
      <p:sp>
        <p:nvSpPr>
          <p:cNvPr id="12" name="Text 8"/>
          <p:cNvSpPr txBox="1"/>
          <p:nvPr/>
        </p:nvSpPr>
        <p:spPr>
          <a:xfrm>
            <a:off x="2497829" y="3840480"/>
            <a:ext cx="6188971" cy="256032"/>
          </a:xfrm>
          <a:prstGeom prst="rect">
            <a:avLst/>
          </a:prstGeom>
          <a:noFill/>
          <a:ln/>
        </p:spPr>
        <p:txBody>
          <a:bodyPr wrap="square" lIns="0" tIns="0" rIns="0" bIns="0" rtlCol="0" anchor="ctr"/>
          <a:lstStyle/>
          <a:p>
            <a:pPr marL="0" indent="0">
              <a:buNone/>
            </a:pPr>
            <a:r>
              <a:rPr lang="en-US" sz="1300" b="1" dirty="0">
                <a:solidFill>
                  <a:schemeClr val="accent2"/>
                </a:solidFill>
                <a:latin typeface="Georgia" pitchFamily="34" charset="0"/>
                <a:ea typeface="Georgia" pitchFamily="34" charset="-122"/>
                <a:cs typeface="Georgia" pitchFamily="34" charset="-120"/>
              </a:rPr>
              <a:t>Why we designed it this way</a:t>
            </a:r>
            <a:endParaRPr lang="en-US" sz="1300" dirty="0"/>
          </a:p>
        </p:txBody>
      </p:sp>
      <p:sp>
        <p:nvSpPr>
          <p:cNvPr id="13" name="Text 9"/>
          <p:cNvSpPr txBox="1"/>
          <p:nvPr/>
        </p:nvSpPr>
        <p:spPr>
          <a:xfrm>
            <a:off x="2497829" y="4114800"/>
            <a:ext cx="6188971" cy="64008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1"/>
                </a:solidFill>
              </a:rPr>
              <a:t>Users can plan a group trip in one form</a:t>
            </a:r>
            <a:endParaRPr lang="en-US" sz="1200" dirty="0"/>
          </a:p>
          <a:p>
            <a:pPr marL="342900" indent="-342900">
              <a:spcAft>
                <a:spcPts val="300"/>
              </a:spcAft>
              <a:buSzPct val="100000"/>
              <a:buChar char="•"/>
            </a:pPr>
            <a:r>
              <a:rPr lang="en-US" sz="1200" dirty="0">
                <a:solidFill>
                  <a:schemeClr val="tx1"/>
                </a:solidFill>
              </a:rPr>
              <a:t>The discount updates with the number of bookings</a:t>
            </a:r>
            <a:endParaRPr lang="en-US" sz="1200" dirty="0"/>
          </a:p>
        </p:txBody>
      </p:sp>
      <p:sp>
        <p:nvSpPr>
          <p:cNvPr id="25" name="Slide Number Placeholder 0"/>
          <p:cNvSpPr>
            <a:spLocks noGrp="1"/>
          </p:cNvSpPr>
          <p:nvPr>
            <p:ph type="sldNum" sz="quarter" idx="4294967295"/>
          </p:nvPr>
        </p:nvSpPr>
        <p:spPr>
          <a:xfrm>
            <a:off x="841248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tx2"/>
                </a:solidFill>
              </a:defRPr>
            </a:lvl1pPr>
          </a:lstStyle>
          <a:p>
            <a:pPr algn="l"/>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28600"/>
            <a:ext cx="6675120" cy="594360"/>
          </a:xfrm>
          <a:prstGeom prst="rect">
            <a:avLst/>
          </a:prstGeom>
          <a:noFill/>
          <a:ln/>
        </p:spPr>
        <p:txBody>
          <a:bodyPr wrap="square" lIns="0" tIns="0" rIns="0" bIns="0" rtlCol="0" anchor="ctr"/>
          <a:lstStyle/>
          <a:p>
            <a:pPr marL="0" indent="0">
              <a:buNone/>
            </a:pPr>
            <a:r>
              <a:rPr lang="en-US" sz="2600" b="1" dirty="0">
                <a:solidFill>
                  <a:schemeClr val="tx2"/>
                </a:solidFill>
                <a:latin typeface="Georgia" pitchFamily="34" charset="0"/>
                <a:ea typeface="Georgia" pitchFamily="34" charset="-122"/>
                <a:cs typeface="Georgia" pitchFamily="34" charset="-120"/>
              </a:rPr>
              <a:t>Mobile: 10 Map and Directions</a:t>
            </a:r>
            <a:endParaRPr lang="en-US" sz="2600" dirty="0"/>
          </a:p>
        </p:txBody>
      </p:sp>
      <p:sp>
        <p:nvSpPr>
          <p:cNvPr id="3" name="Presenter tag"/>
          <p:cNvSpPr/>
          <p:nvPr/>
        </p:nvSpPr>
        <p:spPr>
          <a:xfrm>
            <a:off x="7269480" y="347472"/>
            <a:ext cx="1463040" cy="329184"/>
          </a:xfrm>
          <a:prstGeom prst="roundRect">
            <a:avLst>
              <a:gd name="adj" fmla="val 50000"/>
            </a:avLst>
          </a:prstGeom>
          <a:solidFill>
            <a:schemeClr val="accent2"/>
          </a:solidFill>
          <a:ln w="12700">
            <a:solidFill>
              <a:schemeClr val="accent2"/>
            </a:solidFill>
            <a:prstDash val="solid"/>
          </a:ln>
        </p:spPr>
      </p:sp>
      <p:sp>
        <p:nvSpPr>
          <p:cNvPr id="4" name="Text 2"/>
          <p:cNvSpPr txBox="1"/>
          <p:nvPr/>
        </p:nvSpPr>
        <p:spPr>
          <a:xfrm>
            <a:off x="7269480" y="347472"/>
            <a:ext cx="1463040" cy="329184"/>
          </a:xfrm>
          <a:prstGeom prst="rect">
            <a:avLst/>
          </a:prstGeom>
          <a:noFill/>
          <a:ln/>
        </p:spPr>
        <p:txBody>
          <a:bodyPr wrap="square" lIns="0" tIns="0" rIns="0" bIns="0" rtlCol="0" anchor="ctr"/>
          <a:lstStyle/>
          <a:p>
            <a:pPr marL="0" indent="0" algn="ctr">
              <a:buNone/>
            </a:pPr>
            <a:r>
              <a:rPr lang="en-US" sz="1100" b="1" dirty="0">
                <a:solidFill>
                  <a:schemeClr val="bg1"/>
                </a:solidFill>
              </a:rPr>
              <a:t>Presenter: Itumeleng</a:t>
            </a:r>
            <a:endParaRPr lang="en-US" sz="1100" dirty="0"/>
          </a:p>
        </p:txBody>
      </p:sp>
      <p:sp>
        <p:nvSpPr>
          <p:cNvPr id="6" name="Card"/>
          <p:cNvSpPr/>
          <p:nvPr/>
        </p:nvSpPr>
        <p:spPr>
          <a:xfrm>
            <a:off x="457200" y="960120"/>
            <a:ext cx="1781682" cy="3703320"/>
          </a:xfrm>
          <a:prstGeom prst="roundRect">
            <a:avLst>
              <a:gd name="adj" fmla="val 4106"/>
            </a:avLst>
          </a:prstGeom>
          <a:solidFill>
            <a:schemeClr val="bg1"/>
          </a:solidFill>
          <a:ln w="12700">
            <a:solidFill>
              <a:srgbClr val="D9CBB5"/>
            </a:solidFill>
            <a:prstDash val="solid"/>
          </a:ln>
        </p:spPr>
      </p:sp>
      <p:pic>
        <p:nvPicPr>
          <p:cNvPr id="7" name="Image 0" descr="Mobile: 10 Map and Directions"/>
          <p:cNvPicPr>
            <a:picLocks noChangeAspect="1"/>
          </p:cNvPicPr>
          <p:nvPr/>
        </p:nvPicPr>
        <p:blipFill>
          <a:blip r:embed="rId3"/>
          <a:srcRect/>
          <a:stretch/>
        </p:blipFill>
        <p:spPr>
          <a:xfrm>
            <a:off x="548640" y="1051560"/>
            <a:ext cx="1598802" cy="3520440"/>
          </a:xfrm>
          <a:prstGeom prst="rect">
            <a:avLst/>
          </a:prstGeom>
        </p:spPr>
      </p:pic>
      <p:sp>
        <p:nvSpPr>
          <p:cNvPr id="8" name="Text 4"/>
          <p:cNvSpPr txBox="1"/>
          <p:nvPr/>
        </p:nvSpPr>
        <p:spPr>
          <a:xfrm>
            <a:off x="2513202" y="960120"/>
            <a:ext cx="6173598" cy="256032"/>
          </a:xfrm>
          <a:prstGeom prst="rect">
            <a:avLst/>
          </a:prstGeom>
          <a:noFill/>
          <a:ln/>
        </p:spPr>
        <p:txBody>
          <a:bodyPr wrap="square" lIns="0" tIns="0" rIns="0" bIns="0" rtlCol="0" anchor="ctr"/>
          <a:lstStyle/>
          <a:p>
            <a:pPr marL="0" indent="0">
              <a:buNone/>
            </a:pPr>
            <a:r>
              <a:rPr lang="en-US" sz="1300" b="1" dirty="0">
                <a:solidFill>
                  <a:schemeClr val="accent2"/>
                </a:solidFill>
                <a:latin typeface="Georgia" pitchFamily="34" charset="0"/>
                <a:ea typeface="Georgia" pitchFamily="34" charset="-122"/>
                <a:cs typeface="Georgia" pitchFamily="34" charset="-120"/>
              </a:rPr>
              <a:t>What this page does</a:t>
            </a:r>
            <a:endParaRPr lang="en-US" sz="1300" dirty="0"/>
          </a:p>
        </p:txBody>
      </p:sp>
      <p:sp>
        <p:nvSpPr>
          <p:cNvPr id="9" name="Text 5"/>
          <p:cNvSpPr txBox="1"/>
          <p:nvPr/>
        </p:nvSpPr>
        <p:spPr>
          <a:xfrm>
            <a:off x="2513202" y="1234440"/>
            <a:ext cx="6173598" cy="96012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1"/>
                </a:solidFill>
              </a:rPr>
              <a:t>Map of the Cape Town, Western Cape area</a:t>
            </a:r>
            <a:endParaRPr lang="en-US" sz="1200" dirty="0"/>
          </a:p>
          <a:p>
            <a:pPr marL="342900" indent="-342900">
              <a:spcAft>
                <a:spcPts val="300"/>
              </a:spcAft>
              <a:buSzPct val="100000"/>
              <a:buChar char="•"/>
            </a:pPr>
            <a:r>
              <a:rPr lang="en-US" sz="1200" dirty="0">
                <a:solidFill>
                  <a:schemeClr val="tx1"/>
                </a:solidFill>
              </a:rPr>
              <a:t>Starting point and destination fields</a:t>
            </a:r>
            <a:endParaRPr lang="en-US" sz="1200" dirty="0"/>
          </a:p>
          <a:p>
            <a:pPr marL="342900" indent="-342900">
              <a:spcAft>
                <a:spcPts val="300"/>
              </a:spcAft>
              <a:buSzPct val="100000"/>
              <a:buChar char="•"/>
            </a:pPr>
            <a:r>
              <a:rPr lang="en-US" sz="1200" dirty="0">
                <a:solidFill>
                  <a:schemeClr val="tx1"/>
                </a:solidFill>
              </a:rPr>
              <a:t>Enquire about directions button</a:t>
            </a:r>
            <a:endParaRPr lang="en-US" sz="1200" dirty="0"/>
          </a:p>
        </p:txBody>
      </p:sp>
      <p:sp>
        <p:nvSpPr>
          <p:cNvPr id="10" name="Text 6"/>
          <p:cNvSpPr txBox="1"/>
          <p:nvPr/>
        </p:nvSpPr>
        <p:spPr>
          <a:xfrm>
            <a:off x="2513202" y="2240280"/>
            <a:ext cx="6173598" cy="256032"/>
          </a:xfrm>
          <a:prstGeom prst="rect">
            <a:avLst/>
          </a:prstGeom>
          <a:noFill/>
          <a:ln/>
        </p:spPr>
        <p:txBody>
          <a:bodyPr wrap="square" lIns="0" tIns="0" rIns="0" bIns="0" rtlCol="0" anchor="ctr"/>
          <a:lstStyle/>
          <a:p>
            <a:pPr marL="0" indent="0">
              <a:buNone/>
            </a:pPr>
            <a:r>
              <a:rPr lang="en-US" sz="1300" b="1" dirty="0">
                <a:solidFill>
                  <a:schemeClr val="accent2"/>
                </a:solidFill>
                <a:latin typeface="Georgia" pitchFamily="34" charset="0"/>
                <a:ea typeface="Georgia" pitchFamily="34" charset="-122"/>
                <a:cs typeface="Georgia" pitchFamily="34" charset="-120"/>
              </a:rPr>
              <a:t>How it works</a:t>
            </a:r>
            <a:endParaRPr lang="en-US" sz="1300" dirty="0"/>
          </a:p>
        </p:txBody>
      </p:sp>
      <p:sp>
        <p:nvSpPr>
          <p:cNvPr id="11" name="Text 7"/>
          <p:cNvSpPr txBox="1"/>
          <p:nvPr/>
        </p:nvSpPr>
        <p:spPr>
          <a:xfrm>
            <a:off x="2513202" y="2514600"/>
            <a:ext cx="6173598" cy="1280160"/>
          </a:xfrm>
          <a:prstGeom prst="rect">
            <a:avLst/>
          </a:prstGeom>
          <a:noFill/>
          <a:ln/>
        </p:spPr>
        <p:txBody>
          <a:bodyPr wrap="square" lIns="0" tIns="0" rIns="0" bIns="0" rtlCol="0" anchor="t"/>
          <a:lstStyle/>
          <a:p>
            <a:pPr marL="342900" indent="-342900">
              <a:spcAft>
                <a:spcPts val="300"/>
              </a:spcAft>
              <a:buSzPct val="100000"/>
              <a:buFont typeface="+mj-lt"/>
              <a:buAutoNum type="arabicPeriod"/>
            </a:pPr>
            <a:r>
              <a:rPr lang="en-US" sz="1200" dirty="0">
                <a:solidFill>
                  <a:schemeClr val="tx1"/>
                </a:solidFill>
              </a:rPr>
              <a:t>Type the starting point; the destination is Cape Town, Western Cape</a:t>
            </a:r>
            <a:endParaRPr lang="en-US" sz="1200" dirty="0"/>
          </a:p>
          <a:p>
            <a:pPr marL="342900" indent="-342900">
              <a:spcAft>
                <a:spcPts val="300"/>
              </a:spcAft>
              <a:buSzPct val="100000"/>
              <a:buFont typeface="+mj-lt"/>
              <a:buAutoNum type="arabicPeriod"/>
            </a:pPr>
            <a:r>
              <a:rPr lang="en-US" sz="1200" dirty="0">
                <a:solidFill>
                  <a:schemeClr val="tx1"/>
                </a:solidFill>
              </a:rPr>
              <a:t>Tap Enquire about directions to ask the team for help</a:t>
            </a:r>
            <a:endParaRPr lang="en-US" sz="1200" dirty="0"/>
          </a:p>
        </p:txBody>
      </p:sp>
      <p:sp>
        <p:nvSpPr>
          <p:cNvPr id="12" name="Text 8"/>
          <p:cNvSpPr txBox="1"/>
          <p:nvPr/>
        </p:nvSpPr>
        <p:spPr>
          <a:xfrm>
            <a:off x="2513202" y="3840480"/>
            <a:ext cx="6173598" cy="256032"/>
          </a:xfrm>
          <a:prstGeom prst="rect">
            <a:avLst/>
          </a:prstGeom>
          <a:noFill/>
          <a:ln/>
        </p:spPr>
        <p:txBody>
          <a:bodyPr wrap="square" lIns="0" tIns="0" rIns="0" bIns="0" rtlCol="0" anchor="ctr"/>
          <a:lstStyle/>
          <a:p>
            <a:pPr marL="0" indent="0">
              <a:buNone/>
            </a:pPr>
            <a:r>
              <a:rPr lang="en-US" sz="1300" b="1" dirty="0">
                <a:solidFill>
                  <a:schemeClr val="accent2"/>
                </a:solidFill>
                <a:latin typeface="Georgia" pitchFamily="34" charset="0"/>
                <a:ea typeface="Georgia" pitchFamily="34" charset="-122"/>
                <a:cs typeface="Georgia" pitchFamily="34" charset="-120"/>
              </a:rPr>
              <a:t>Why we designed it this way</a:t>
            </a:r>
            <a:endParaRPr lang="en-US" sz="1300" dirty="0"/>
          </a:p>
        </p:txBody>
      </p:sp>
      <p:sp>
        <p:nvSpPr>
          <p:cNvPr id="13" name="Text 9"/>
          <p:cNvSpPr txBox="1"/>
          <p:nvPr/>
        </p:nvSpPr>
        <p:spPr>
          <a:xfrm>
            <a:off x="2513202" y="4114800"/>
            <a:ext cx="6173598" cy="64008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1"/>
                </a:solidFill>
              </a:rPr>
              <a:t>Helps people plan how to get to the meeting point</a:t>
            </a:r>
            <a:endParaRPr lang="en-US" sz="1200" dirty="0"/>
          </a:p>
          <a:p>
            <a:pPr marL="342900" indent="-342900">
              <a:spcAft>
                <a:spcPts val="300"/>
              </a:spcAft>
              <a:buSzPct val="100000"/>
              <a:buChar char="•"/>
            </a:pPr>
            <a:r>
              <a:rPr lang="en-US" sz="1200" dirty="0">
                <a:solidFill>
                  <a:schemeClr val="tx1"/>
                </a:solidFill>
              </a:rPr>
              <a:t>The exact address is confirmed by the team</a:t>
            </a:r>
            <a:endParaRPr lang="en-US" sz="1200" dirty="0"/>
          </a:p>
        </p:txBody>
      </p:sp>
      <p:sp>
        <p:nvSpPr>
          <p:cNvPr id="25" name="Slide Number Placeholder 0"/>
          <p:cNvSpPr>
            <a:spLocks noGrp="1"/>
          </p:cNvSpPr>
          <p:nvPr>
            <p:ph type="sldNum" sz="quarter" idx="4294967295"/>
          </p:nvPr>
        </p:nvSpPr>
        <p:spPr>
          <a:xfrm>
            <a:off x="841248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tx2"/>
                </a:solidFill>
              </a:defRPr>
            </a:lvl1pPr>
          </a:lstStyle>
          <a:p>
            <a:pPr algn="l"/>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28600"/>
            <a:ext cx="6675120" cy="594360"/>
          </a:xfrm>
          <a:prstGeom prst="rect">
            <a:avLst/>
          </a:prstGeom>
          <a:noFill/>
          <a:ln/>
        </p:spPr>
        <p:txBody>
          <a:bodyPr wrap="square" lIns="0" tIns="0" rIns="0" bIns="0" rtlCol="0" anchor="ctr"/>
          <a:lstStyle/>
          <a:p>
            <a:pPr marL="0" indent="0">
              <a:buNone/>
            </a:pPr>
            <a:r>
              <a:rPr lang="en-US" sz="2600" b="1" dirty="0">
                <a:solidFill>
                  <a:schemeClr val="tx2"/>
                </a:solidFill>
                <a:latin typeface="Georgia" pitchFamily="34" charset="0"/>
                <a:ea typeface="Georgia" pitchFamily="34" charset="-122"/>
                <a:cs typeface="Georgia" pitchFamily="34" charset="-120"/>
              </a:rPr>
              <a:t>Mobile: 11 Fees</a:t>
            </a:r>
            <a:endParaRPr lang="en-US" sz="2600" dirty="0"/>
          </a:p>
        </p:txBody>
      </p:sp>
      <p:sp>
        <p:nvSpPr>
          <p:cNvPr id="3" name="Presenter tag"/>
          <p:cNvSpPr/>
          <p:nvPr/>
        </p:nvSpPr>
        <p:spPr>
          <a:xfrm>
            <a:off x="7269480" y="347472"/>
            <a:ext cx="1463040" cy="329184"/>
          </a:xfrm>
          <a:prstGeom prst="roundRect">
            <a:avLst>
              <a:gd name="adj" fmla="val 50000"/>
            </a:avLst>
          </a:prstGeom>
          <a:solidFill>
            <a:schemeClr val="accent2"/>
          </a:solidFill>
          <a:ln w="12700">
            <a:solidFill>
              <a:schemeClr val="accent2"/>
            </a:solidFill>
            <a:prstDash val="solid"/>
          </a:ln>
        </p:spPr>
      </p:sp>
      <p:sp>
        <p:nvSpPr>
          <p:cNvPr id="4" name="Text 2"/>
          <p:cNvSpPr txBox="1"/>
          <p:nvPr/>
        </p:nvSpPr>
        <p:spPr>
          <a:xfrm>
            <a:off x="7269480" y="347472"/>
            <a:ext cx="1463040" cy="329184"/>
          </a:xfrm>
          <a:prstGeom prst="rect">
            <a:avLst/>
          </a:prstGeom>
          <a:noFill/>
          <a:ln/>
        </p:spPr>
        <p:txBody>
          <a:bodyPr wrap="square" lIns="0" tIns="0" rIns="0" bIns="0" rtlCol="0" anchor="ctr"/>
          <a:lstStyle/>
          <a:p>
            <a:pPr marL="0" indent="0" algn="ctr">
              <a:buNone/>
            </a:pPr>
            <a:r>
              <a:rPr lang="en-US" sz="1100" b="1" dirty="0">
                <a:solidFill>
                  <a:schemeClr val="bg1"/>
                </a:solidFill>
              </a:rPr>
              <a:t>Presenter: Itumeleng</a:t>
            </a:r>
            <a:endParaRPr lang="en-US" sz="1100" dirty="0"/>
          </a:p>
        </p:txBody>
      </p:sp>
      <p:sp>
        <p:nvSpPr>
          <p:cNvPr id="6" name="Card"/>
          <p:cNvSpPr/>
          <p:nvPr/>
        </p:nvSpPr>
        <p:spPr>
          <a:xfrm>
            <a:off x="457200" y="960120"/>
            <a:ext cx="1781682" cy="3703320"/>
          </a:xfrm>
          <a:prstGeom prst="roundRect">
            <a:avLst>
              <a:gd name="adj" fmla="val 4106"/>
            </a:avLst>
          </a:prstGeom>
          <a:solidFill>
            <a:schemeClr val="bg1"/>
          </a:solidFill>
          <a:ln w="12700">
            <a:solidFill>
              <a:srgbClr val="D9CBB5"/>
            </a:solidFill>
            <a:prstDash val="solid"/>
          </a:ln>
        </p:spPr>
      </p:sp>
      <p:pic>
        <p:nvPicPr>
          <p:cNvPr id="7" name="Image 0" descr="Mobile: 11 Fees"/>
          <p:cNvPicPr>
            <a:picLocks noChangeAspect="1"/>
          </p:cNvPicPr>
          <p:nvPr/>
        </p:nvPicPr>
        <p:blipFill>
          <a:blip r:embed="rId3"/>
          <a:srcRect/>
          <a:stretch/>
        </p:blipFill>
        <p:spPr>
          <a:xfrm>
            <a:off x="548640" y="1051560"/>
            <a:ext cx="1598802" cy="3520440"/>
          </a:xfrm>
          <a:prstGeom prst="rect">
            <a:avLst/>
          </a:prstGeom>
        </p:spPr>
      </p:pic>
      <p:sp>
        <p:nvSpPr>
          <p:cNvPr id="8" name="Text 4"/>
          <p:cNvSpPr txBox="1"/>
          <p:nvPr/>
        </p:nvSpPr>
        <p:spPr>
          <a:xfrm>
            <a:off x="2513202" y="960120"/>
            <a:ext cx="6173598" cy="256032"/>
          </a:xfrm>
          <a:prstGeom prst="rect">
            <a:avLst/>
          </a:prstGeom>
          <a:noFill/>
          <a:ln/>
        </p:spPr>
        <p:txBody>
          <a:bodyPr wrap="square" lIns="0" tIns="0" rIns="0" bIns="0" rtlCol="0" anchor="ctr"/>
          <a:lstStyle/>
          <a:p>
            <a:pPr marL="0" indent="0">
              <a:buNone/>
            </a:pPr>
            <a:r>
              <a:rPr lang="en-US" sz="1300" b="1" dirty="0">
                <a:solidFill>
                  <a:schemeClr val="accent2"/>
                </a:solidFill>
                <a:latin typeface="Georgia" pitchFamily="34" charset="0"/>
                <a:ea typeface="Georgia" pitchFamily="34" charset="-122"/>
                <a:cs typeface="Georgia" pitchFamily="34" charset="-120"/>
              </a:rPr>
              <a:t>What this page does</a:t>
            </a:r>
            <a:endParaRPr lang="en-US" sz="1300" dirty="0"/>
          </a:p>
        </p:txBody>
      </p:sp>
      <p:sp>
        <p:nvSpPr>
          <p:cNvPr id="9" name="Text 5"/>
          <p:cNvSpPr txBox="1"/>
          <p:nvPr/>
        </p:nvSpPr>
        <p:spPr>
          <a:xfrm>
            <a:off x="2513202" y="1234440"/>
            <a:ext cx="6173598" cy="96012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1"/>
                </a:solidFill>
              </a:rPr>
              <a:t>Adventure price list: packages R1 500, individual sessions R750 each</a:t>
            </a:r>
            <a:endParaRPr lang="en-US" sz="1200" dirty="0"/>
          </a:p>
          <a:p>
            <a:pPr marL="342900" indent="-342900">
              <a:spcAft>
                <a:spcPts val="300"/>
              </a:spcAft>
              <a:buSzPct val="100000"/>
              <a:buChar char="•"/>
            </a:pPr>
            <a:r>
              <a:rPr lang="en-US" sz="1200" dirty="0">
                <a:solidFill>
                  <a:schemeClr val="tx1"/>
                </a:solidFill>
              </a:rPr>
              <a:t>Book more, save more: 1 booking 0%, 2 bookings 5%, 3 bookings 10%, more than 3 bookings 15%</a:t>
            </a:r>
            <a:endParaRPr lang="en-US" sz="1200" dirty="0"/>
          </a:p>
          <a:p>
            <a:pPr marL="342900" indent="-342900">
              <a:spcAft>
                <a:spcPts val="300"/>
              </a:spcAft>
              <a:buSzPct val="100000"/>
              <a:buChar char="•"/>
            </a:pPr>
            <a:r>
              <a:rPr lang="en-US" sz="1200" dirty="0">
                <a:solidFill>
                  <a:schemeClr val="tx1"/>
                </a:solidFill>
              </a:rPr>
              <a:t>Build your quote button</a:t>
            </a:r>
            <a:endParaRPr lang="en-US" sz="1200" dirty="0"/>
          </a:p>
        </p:txBody>
      </p:sp>
      <p:sp>
        <p:nvSpPr>
          <p:cNvPr id="10" name="Text 6"/>
          <p:cNvSpPr txBox="1"/>
          <p:nvPr/>
        </p:nvSpPr>
        <p:spPr>
          <a:xfrm>
            <a:off x="2513202" y="2240280"/>
            <a:ext cx="6173598" cy="256032"/>
          </a:xfrm>
          <a:prstGeom prst="rect">
            <a:avLst/>
          </a:prstGeom>
          <a:noFill/>
          <a:ln/>
        </p:spPr>
        <p:txBody>
          <a:bodyPr wrap="square" lIns="0" tIns="0" rIns="0" bIns="0" rtlCol="0" anchor="ctr"/>
          <a:lstStyle/>
          <a:p>
            <a:pPr marL="0" indent="0">
              <a:buNone/>
            </a:pPr>
            <a:r>
              <a:rPr lang="en-US" sz="1300" b="1" dirty="0">
                <a:solidFill>
                  <a:schemeClr val="accent2"/>
                </a:solidFill>
                <a:latin typeface="Georgia" pitchFamily="34" charset="0"/>
                <a:ea typeface="Georgia" pitchFamily="34" charset="-122"/>
                <a:cs typeface="Georgia" pitchFamily="34" charset="-120"/>
              </a:rPr>
              <a:t>How it works</a:t>
            </a:r>
            <a:endParaRPr lang="en-US" sz="1300" dirty="0"/>
          </a:p>
        </p:txBody>
      </p:sp>
      <p:sp>
        <p:nvSpPr>
          <p:cNvPr id="11" name="Text 7"/>
          <p:cNvSpPr txBox="1"/>
          <p:nvPr/>
        </p:nvSpPr>
        <p:spPr>
          <a:xfrm>
            <a:off x="2513202" y="2514600"/>
            <a:ext cx="6173598" cy="1280160"/>
          </a:xfrm>
          <a:prstGeom prst="rect">
            <a:avLst/>
          </a:prstGeom>
          <a:noFill/>
          <a:ln/>
        </p:spPr>
        <p:txBody>
          <a:bodyPr wrap="square" lIns="0" tIns="0" rIns="0" bIns="0" rtlCol="0" anchor="t"/>
          <a:lstStyle/>
          <a:p>
            <a:pPr marL="342900" indent="-342900">
              <a:spcAft>
                <a:spcPts val="300"/>
              </a:spcAft>
              <a:buSzPct val="100000"/>
              <a:buFont typeface="+mj-lt"/>
              <a:buAutoNum type="arabicPeriod"/>
            </a:pPr>
            <a:r>
              <a:rPr lang="en-US" sz="1200" dirty="0">
                <a:solidFill>
                  <a:schemeClr val="tx1"/>
                </a:solidFill>
              </a:rPr>
              <a:t>Read the price list and the discount table</a:t>
            </a:r>
            <a:endParaRPr lang="en-US" sz="1200" dirty="0"/>
          </a:p>
          <a:p>
            <a:pPr marL="342900" indent="-342900">
              <a:spcAft>
                <a:spcPts val="300"/>
              </a:spcAft>
              <a:buSzPct val="100000"/>
              <a:buFont typeface="+mj-lt"/>
              <a:buAutoNum type="arabicPeriod"/>
            </a:pPr>
            <a:r>
              <a:rPr lang="en-US" sz="1200" dirty="0">
                <a:solidFill>
                  <a:schemeClr val="tx1"/>
                </a:solidFill>
              </a:rPr>
              <a:t>Tap Build your quote to go to the Quote screen</a:t>
            </a:r>
            <a:endParaRPr lang="en-US" sz="1200" dirty="0"/>
          </a:p>
        </p:txBody>
      </p:sp>
      <p:sp>
        <p:nvSpPr>
          <p:cNvPr id="12" name="Text 8"/>
          <p:cNvSpPr txBox="1"/>
          <p:nvPr/>
        </p:nvSpPr>
        <p:spPr>
          <a:xfrm>
            <a:off x="2513202" y="3840480"/>
            <a:ext cx="6173598" cy="256032"/>
          </a:xfrm>
          <a:prstGeom prst="rect">
            <a:avLst/>
          </a:prstGeom>
          <a:noFill/>
          <a:ln/>
        </p:spPr>
        <p:txBody>
          <a:bodyPr wrap="square" lIns="0" tIns="0" rIns="0" bIns="0" rtlCol="0" anchor="ctr"/>
          <a:lstStyle/>
          <a:p>
            <a:pPr marL="0" indent="0">
              <a:buNone/>
            </a:pPr>
            <a:r>
              <a:rPr lang="en-US" sz="1300" b="1" dirty="0">
                <a:solidFill>
                  <a:schemeClr val="accent2"/>
                </a:solidFill>
                <a:latin typeface="Georgia" pitchFamily="34" charset="0"/>
                <a:ea typeface="Georgia" pitchFamily="34" charset="-122"/>
                <a:cs typeface="Georgia" pitchFamily="34" charset="-120"/>
              </a:rPr>
              <a:t>Why we designed it this way</a:t>
            </a:r>
            <a:endParaRPr lang="en-US" sz="1300" dirty="0"/>
          </a:p>
        </p:txBody>
      </p:sp>
      <p:sp>
        <p:nvSpPr>
          <p:cNvPr id="13" name="Text 9"/>
          <p:cNvSpPr txBox="1"/>
          <p:nvPr/>
        </p:nvSpPr>
        <p:spPr>
          <a:xfrm>
            <a:off x="2513202" y="4114800"/>
            <a:ext cx="6173598" cy="64008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1"/>
                </a:solidFill>
              </a:rPr>
              <a:t>Clear pricing and the discount rules in one place</a:t>
            </a:r>
            <a:endParaRPr lang="en-US" sz="1200" dirty="0"/>
          </a:p>
          <a:p>
            <a:pPr marL="342900" indent="-342900">
              <a:spcAft>
                <a:spcPts val="300"/>
              </a:spcAft>
              <a:buSzPct val="100000"/>
              <a:buChar char="•"/>
            </a:pPr>
            <a:r>
              <a:rPr lang="en-US" sz="1200" dirty="0">
                <a:solidFill>
                  <a:schemeClr val="tx1"/>
                </a:solidFill>
              </a:rPr>
              <a:t>Same prices and rules as the website</a:t>
            </a:r>
            <a:endParaRPr lang="en-US" sz="1200" dirty="0"/>
          </a:p>
        </p:txBody>
      </p:sp>
      <p:sp>
        <p:nvSpPr>
          <p:cNvPr id="25" name="Slide Number Placeholder 0"/>
          <p:cNvSpPr>
            <a:spLocks noGrp="1"/>
          </p:cNvSpPr>
          <p:nvPr>
            <p:ph type="sldNum" sz="quarter" idx="4294967295"/>
          </p:nvPr>
        </p:nvSpPr>
        <p:spPr>
          <a:xfrm>
            <a:off x="841248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tx2"/>
                </a:solidFill>
              </a:defRPr>
            </a:lvl1pPr>
          </a:lstStyle>
          <a:p>
            <a:pPr algn="l"/>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28600"/>
            <a:ext cx="6675120" cy="594360"/>
          </a:xfrm>
          <a:prstGeom prst="rect">
            <a:avLst/>
          </a:prstGeom>
          <a:noFill/>
          <a:ln/>
        </p:spPr>
        <p:txBody>
          <a:bodyPr wrap="square" lIns="0" tIns="0" rIns="0" bIns="0" rtlCol="0" anchor="ctr"/>
          <a:lstStyle/>
          <a:p>
            <a:pPr marL="0" indent="0">
              <a:buNone/>
            </a:pPr>
            <a:r>
              <a:rPr lang="en-US" sz="2600" b="1" dirty="0">
                <a:solidFill>
                  <a:schemeClr val="tx2"/>
                </a:solidFill>
                <a:latin typeface="Georgia" pitchFamily="34" charset="0"/>
                <a:ea typeface="Georgia" pitchFamily="34" charset="-122"/>
                <a:cs typeface="Georgia" pitchFamily="34" charset="-120"/>
              </a:rPr>
              <a:t>Mobile: 12 Contact Us</a:t>
            </a:r>
            <a:endParaRPr lang="en-US" sz="2600" dirty="0"/>
          </a:p>
        </p:txBody>
      </p:sp>
      <p:sp>
        <p:nvSpPr>
          <p:cNvPr id="3" name="Presenter tag"/>
          <p:cNvSpPr/>
          <p:nvPr/>
        </p:nvSpPr>
        <p:spPr>
          <a:xfrm>
            <a:off x="7269480" y="347472"/>
            <a:ext cx="1463040" cy="329184"/>
          </a:xfrm>
          <a:prstGeom prst="roundRect">
            <a:avLst>
              <a:gd name="adj" fmla="val 50000"/>
            </a:avLst>
          </a:prstGeom>
          <a:solidFill>
            <a:schemeClr val="accent2"/>
          </a:solidFill>
          <a:ln w="12700">
            <a:solidFill>
              <a:schemeClr val="accent2"/>
            </a:solidFill>
            <a:prstDash val="solid"/>
          </a:ln>
        </p:spPr>
      </p:sp>
      <p:sp>
        <p:nvSpPr>
          <p:cNvPr id="4" name="Text 2"/>
          <p:cNvSpPr txBox="1"/>
          <p:nvPr/>
        </p:nvSpPr>
        <p:spPr>
          <a:xfrm>
            <a:off x="7269480" y="347472"/>
            <a:ext cx="1463040" cy="329184"/>
          </a:xfrm>
          <a:prstGeom prst="rect">
            <a:avLst/>
          </a:prstGeom>
          <a:noFill/>
          <a:ln/>
        </p:spPr>
        <p:txBody>
          <a:bodyPr wrap="square" lIns="0" tIns="0" rIns="0" bIns="0" rtlCol="0" anchor="ctr"/>
          <a:lstStyle/>
          <a:p>
            <a:pPr marL="0" indent="0" algn="ctr">
              <a:buNone/>
            </a:pPr>
            <a:r>
              <a:rPr lang="en-US" sz="1100" b="1" dirty="0">
                <a:solidFill>
                  <a:schemeClr val="bg1"/>
                </a:solidFill>
              </a:rPr>
              <a:t>Presenter: Itumeleng</a:t>
            </a:r>
            <a:endParaRPr lang="en-US" sz="1100" dirty="0"/>
          </a:p>
        </p:txBody>
      </p:sp>
      <p:sp>
        <p:nvSpPr>
          <p:cNvPr id="6" name="Card"/>
          <p:cNvSpPr/>
          <p:nvPr/>
        </p:nvSpPr>
        <p:spPr>
          <a:xfrm>
            <a:off x="457200" y="960120"/>
            <a:ext cx="1766309" cy="3703320"/>
          </a:xfrm>
          <a:prstGeom prst="roundRect">
            <a:avLst>
              <a:gd name="adj" fmla="val 4142"/>
            </a:avLst>
          </a:prstGeom>
          <a:solidFill>
            <a:schemeClr val="bg1"/>
          </a:solidFill>
          <a:ln w="12700">
            <a:solidFill>
              <a:srgbClr val="D9CBB5"/>
            </a:solidFill>
            <a:prstDash val="solid"/>
          </a:ln>
        </p:spPr>
      </p:sp>
      <p:pic>
        <p:nvPicPr>
          <p:cNvPr id="7" name="Image 0" descr="Mobile: 12 Contact Us"/>
          <p:cNvPicPr>
            <a:picLocks noChangeAspect="1"/>
          </p:cNvPicPr>
          <p:nvPr/>
        </p:nvPicPr>
        <p:blipFill>
          <a:blip r:embed="rId3"/>
          <a:srcRect/>
          <a:stretch/>
        </p:blipFill>
        <p:spPr>
          <a:xfrm>
            <a:off x="548640" y="1051560"/>
            <a:ext cx="1583429" cy="3520440"/>
          </a:xfrm>
          <a:prstGeom prst="rect">
            <a:avLst/>
          </a:prstGeom>
        </p:spPr>
      </p:pic>
      <p:sp>
        <p:nvSpPr>
          <p:cNvPr id="8" name="Text 4"/>
          <p:cNvSpPr txBox="1"/>
          <p:nvPr/>
        </p:nvSpPr>
        <p:spPr>
          <a:xfrm>
            <a:off x="2497829" y="960120"/>
            <a:ext cx="6188971" cy="256032"/>
          </a:xfrm>
          <a:prstGeom prst="rect">
            <a:avLst/>
          </a:prstGeom>
          <a:noFill/>
          <a:ln/>
        </p:spPr>
        <p:txBody>
          <a:bodyPr wrap="square" lIns="0" tIns="0" rIns="0" bIns="0" rtlCol="0" anchor="ctr"/>
          <a:lstStyle/>
          <a:p>
            <a:pPr marL="0" indent="0">
              <a:buNone/>
            </a:pPr>
            <a:r>
              <a:rPr lang="en-US" sz="1300" b="1" dirty="0">
                <a:solidFill>
                  <a:schemeClr val="accent2"/>
                </a:solidFill>
                <a:latin typeface="Georgia" pitchFamily="34" charset="0"/>
                <a:ea typeface="Georgia" pitchFamily="34" charset="-122"/>
                <a:cs typeface="Georgia" pitchFamily="34" charset="-120"/>
              </a:rPr>
              <a:t>What this page does</a:t>
            </a:r>
            <a:endParaRPr lang="en-US" sz="1300" dirty="0"/>
          </a:p>
        </p:txBody>
      </p:sp>
      <p:sp>
        <p:nvSpPr>
          <p:cNvPr id="9" name="Text 5"/>
          <p:cNvSpPr txBox="1"/>
          <p:nvPr/>
        </p:nvSpPr>
        <p:spPr>
          <a:xfrm>
            <a:off x="2497829" y="1234440"/>
            <a:ext cx="6188971" cy="96012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1"/>
                </a:solidFill>
              </a:rPr>
              <a:t>Call, email, location and social media details</a:t>
            </a:r>
            <a:endParaRPr lang="en-US" sz="1200" dirty="0"/>
          </a:p>
          <a:p>
            <a:pPr marL="342900" indent="-342900">
              <a:spcAft>
                <a:spcPts val="300"/>
              </a:spcAft>
              <a:buSzPct val="100000"/>
              <a:buChar char="•"/>
            </a:pPr>
            <a:r>
              <a:rPr lang="en-US" sz="1200" dirty="0">
                <a:solidFill>
                  <a:schemeClr val="tx1"/>
                </a:solidFill>
              </a:rPr>
              <a:t>Send an enquiry form: name, email, enquiry type and message</a:t>
            </a:r>
            <a:endParaRPr lang="en-US" sz="1200" dirty="0"/>
          </a:p>
          <a:p>
            <a:pPr marL="342900" indent="-342900">
              <a:spcAft>
                <a:spcPts val="300"/>
              </a:spcAft>
              <a:buSzPct val="100000"/>
              <a:buChar char="•"/>
            </a:pPr>
            <a:r>
              <a:rPr lang="en-US" sz="1200" dirty="0">
                <a:solidFill>
                  <a:schemeClr val="tx1"/>
                </a:solidFill>
              </a:rPr>
              <a:t>Send enquiry button</a:t>
            </a:r>
            <a:endParaRPr lang="en-US" sz="1200" dirty="0"/>
          </a:p>
        </p:txBody>
      </p:sp>
      <p:sp>
        <p:nvSpPr>
          <p:cNvPr id="10" name="Text 6"/>
          <p:cNvSpPr txBox="1"/>
          <p:nvPr/>
        </p:nvSpPr>
        <p:spPr>
          <a:xfrm>
            <a:off x="2497829" y="2240280"/>
            <a:ext cx="6188971" cy="256032"/>
          </a:xfrm>
          <a:prstGeom prst="rect">
            <a:avLst/>
          </a:prstGeom>
          <a:noFill/>
          <a:ln/>
        </p:spPr>
        <p:txBody>
          <a:bodyPr wrap="square" lIns="0" tIns="0" rIns="0" bIns="0" rtlCol="0" anchor="ctr"/>
          <a:lstStyle/>
          <a:p>
            <a:pPr marL="0" indent="0">
              <a:buNone/>
            </a:pPr>
            <a:r>
              <a:rPr lang="en-US" sz="1300" b="1" dirty="0">
                <a:solidFill>
                  <a:schemeClr val="accent2"/>
                </a:solidFill>
                <a:latin typeface="Georgia" pitchFamily="34" charset="0"/>
                <a:ea typeface="Georgia" pitchFamily="34" charset="-122"/>
                <a:cs typeface="Georgia" pitchFamily="34" charset="-120"/>
              </a:rPr>
              <a:t>How it works</a:t>
            </a:r>
            <a:endParaRPr lang="en-US" sz="1300" dirty="0"/>
          </a:p>
        </p:txBody>
      </p:sp>
      <p:sp>
        <p:nvSpPr>
          <p:cNvPr id="11" name="Text 7"/>
          <p:cNvSpPr txBox="1"/>
          <p:nvPr/>
        </p:nvSpPr>
        <p:spPr>
          <a:xfrm>
            <a:off x="2497829" y="2514600"/>
            <a:ext cx="6188971" cy="1280160"/>
          </a:xfrm>
          <a:prstGeom prst="rect">
            <a:avLst/>
          </a:prstGeom>
          <a:noFill/>
          <a:ln/>
        </p:spPr>
        <p:txBody>
          <a:bodyPr wrap="square" lIns="0" tIns="0" rIns="0" bIns="0" rtlCol="0" anchor="t"/>
          <a:lstStyle/>
          <a:p>
            <a:pPr marL="342900" indent="-342900">
              <a:spcAft>
                <a:spcPts val="300"/>
              </a:spcAft>
              <a:buSzPct val="100000"/>
              <a:buFont typeface="+mj-lt"/>
              <a:buAutoNum type="arabicPeriod"/>
            </a:pPr>
            <a:r>
              <a:rPr lang="en-US" sz="1200" dirty="0">
                <a:solidFill>
                  <a:schemeClr val="tx1"/>
                </a:solidFill>
              </a:rPr>
              <a:t>Choose how to contact us: call, email or visit</a:t>
            </a:r>
            <a:endParaRPr lang="en-US" sz="1200" dirty="0"/>
          </a:p>
          <a:p>
            <a:pPr marL="342900" indent="-342900">
              <a:spcAft>
                <a:spcPts val="300"/>
              </a:spcAft>
              <a:buSzPct val="100000"/>
              <a:buFont typeface="+mj-lt"/>
              <a:buAutoNum type="arabicPeriod"/>
            </a:pPr>
            <a:r>
              <a:rPr lang="en-US" sz="1200" dirty="0">
                <a:solidFill>
                  <a:schemeClr val="tx1"/>
                </a:solidFill>
              </a:rPr>
              <a:t>Fill in the enquiry form and choose the enquiry type</a:t>
            </a:r>
            <a:endParaRPr lang="en-US" sz="1200" dirty="0"/>
          </a:p>
          <a:p>
            <a:pPr marL="342900" indent="-342900">
              <a:spcAft>
                <a:spcPts val="300"/>
              </a:spcAft>
              <a:buSzPct val="100000"/>
              <a:buFont typeface="+mj-lt"/>
              <a:buAutoNum type="arabicPeriod"/>
            </a:pPr>
            <a:r>
              <a:rPr lang="en-US" sz="1200" dirty="0">
                <a:solidFill>
                  <a:schemeClr val="tx1"/>
                </a:solidFill>
              </a:rPr>
              <a:t>Tap Send enquiry</a:t>
            </a:r>
            <a:endParaRPr lang="en-US" sz="1200" dirty="0"/>
          </a:p>
        </p:txBody>
      </p:sp>
      <p:sp>
        <p:nvSpPr>
          <p:cNvPr id="12" name="Text 8"/>
          <p:cNvSpPr txBox="1"/>
          <p:nvPr/>
        </p:nvSpPr>
        <p:spPr>
          <a:xfrm>
            <a:off x="2497829" y="3840480"/>
            <a:ext cx="6188971" cy="256032"/>
          </a:xfrm>
          <a:prstGeom prst="rect">
            <a:avLst/>
          </a:prstGeom>
          <a:noFill/>
          <a:ln/>
        </p:spPr>
        <p:txBody>
          <a:bodyPr wrap="square" lIns="0" tIns="0" rIns="0" bIns="0" rtlCol="0" anchor="ctr"/>
          <a:lstStyle/>
          <a:p>
            <a:pPr marL="0" indent="0">
              <a:buNone/>
            </a:pPr>
            <a:r>
              <a:rPr lang="en-US" sz="1300" b="1" dirty="0">
                <a:solidFill>
                  <a:schemeClr val="accent2"/>
                </a:solidFill>
                <a:latin typeface="Georgia" pitchFamily="34" charset="0"/>
                <a:ea typeface="Georgia" pitchFamily="34" charset="-122"/>
                <a:cs typeface="Georgia" pitchFamily="34" charset="-120"/>
              </a:rPr>
              <a:t>Why we designed it this way</a:t>
            </a:r>
            <a:endParaRPr lang="en-US" sz="1300" dirty="0"/>
          </a:p>
        </p:txBody>
      </p:sp>
      <p:sp>
        <p:nvSpPr>
          <p:cNvPr id="13" name="Text 9"/>
          <p:cNvSpPr txBox="1"/>
          <p:nvPr/>
        </p:nvSpPr>
        <p:spPr>
          <a:xfrm>
            <a:off x="2497829" y="4114800"/>
            <a:ext cx="6188971" cy="64008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1"/>
                </a:solidFill>
              </a:rPr>
              <a:t>Several ways to reach the business</a:t>
            </a:r>
            <a:endParaRPr lang="en-US" sz="1200" dirty="0"/>
          </a:p>
          <a:p>
            <a:pPr marL="342900" indent="-342900">
              <a:spcAft>
                <a:spcPts val="300"/>
              </a:spcAft>
              <a:buSzPct val="100000"/>
              <a:buChar char="•"/>
            </a:pPr>
            <a:r>
              <a:rPr lang="en-US" sz="1200" dirty="0">
                <a:solidFill>
                  <a:schemeClr val="tx1"/>
                </a:solidFill>
              </a:rPr>
              <a:t>Enquiry type helps the team reply faster</a:t>
            </a:r>
            <a:endParaRPr lang="en-US" sz="1200" dirty="0"/>
          </a:p>
        </p:txBody>
      </p:sp>
      <p:sp>
        <p:nvSpPr>
          <p:cNvPr id="25" name="Slide Number Placeholder 0"/>
          <p:cNvSpPr>
            <a:spLocks noGrp="1"/>
          </p:cNvSpPr>
          <p:nvPr>
            <p:ph type="sldNum" sz="quarter" idx="4294967295"/>
          </p:nvPr>
        </p:nvSpPr>
        <p:spPr>
          <a:xfrm>
            <a:off x="841248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tx2"/>
                </a:solidFill>
              </a:defRPr>
            </a:lvl1pPr>
          </a:lstStyle>
          <a:p>
            <a:pPr algn="l"/>
            <a:fld id="{F7021451-1387-4CA6-816F-3879F97B5CBC}" type="slidenum">
              <a:rPr lang="en-US" b="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28600"/>
            <a:ext cx="6675120" cy="594360"/>
          </a:xfrm>
          <a:prstGeom prst="rect">
            <a:avLst/>
          </a:prstGeom>
          <a:noFill/>
          <a:ln/>
        </p:spPr>
        <p:txBody>
          <a:bodyPr wrap="square" lIns="0" tIns="0" rIns="0" bIns="0" rtlCol="0" anchor="ctr"/>
          <a:lstStyle/>
          <a:p>
            <a:pPr marL="0" indent="0">
              <a:buNone/>
            </a:pPr>
            <a:r>
              <a:rPr lang="en-US" sz="2600" b="1" dirty="0">
                <a:solidFill>
                  <a:schemeClr val="tx2"/>
                </a:solidFill>
                <a:latin typeface="Georgia" pitchFamily="34" charset="0"/>
                <a:ea typeface="Georgia" pitchFamily="34" charset="-122"/>
                <a:cs typeface="Georgia" pitchFamily="34" charset="-120"/>
              </a:rPr>
              <a:t>Mobile: 13 Adventures</a:t>
            </a:r>
            <a:endParaRPr lang="en-US" sz="2600" dirty="0"/>
          </a:p>
        </p:txBody>
      </p:sp>
      <p:sp>
        <p:nvSpPr>
          <p:cNvPr id="3" name="Presenter tag"/>
          <p:cNvSpPr/>
          <p:nvPr/>
        </p:nvSpPr>
        <p:spPr>
          <a:xfrm>
            <a:off x="7269480" y="347472"/>
            <a:ext cx="1463040" cy="329184"/>
          </a:xfrm>
          <a:prstGeom prst="roundRect">
            <a:avLst>
              <a:gd name="adj" fmla="val 50000"/>
            </a:avLst>
          </a:prstGeom>
          <a:solidFill>
            <a:schemeClr val="accent2"/>
          </a:solidFill>
          <a:ln w="12700">
            <a:solidFill>
              <a:schemeClr val="accent2"/>
            </a:solidFill>
            <a:prstDash val="solid"/>
          </a:ln>
        </p:spPr>
      </p:sp>
      <p:sp>
        <p:nvSpPr>
          <p:cNvPr id="4" name="Text 2"/>
          <p:cNvSpPr txBox="1"/>
          <p:nvPr/>
        </p:nvSpPr>
        <p:spPr>
          <a:xfrm>
            <a:off x="7269480" y="347472"/>
            <a:ext cx="1463040" cy="329184"/>
          </a:xfrm>
          <a:prstGeom prst="rect">
            <a:avLst/>
          </a:prstGeom>
          <a:noFill/>
          <a:ln/>
        </p:spPr>
        <p:txBody>
          <a:bodyPr wrap="square" lIns="0" tIns="0" rIns="0" bIns="0" rtlCol="0" anchor="ctr"/>
          <a:lstStyle/>
          <a:p>
            <a:pPr marL="0" indent="0" algn="ctr">
              <a:buNone/>
            </a:pPr>
            <a:r>
              <a:rPr lang="en-US" sz="1100" b="1" dirty="0">
                <a:solidFill>
                  <a:schemeClr val="bg1"/>
                </a:solidFill>
              </a:rPr>
              <a:t>Presenter: Itumeleng</a:t>
            </a:r>
            <a:endParaRPr lang="en-US" sz="1100" dirty="0"/>
          </a:p>
        </p:txBody>
      </p:sp>
      <p:sp>
        <p:nvSpPr>
          <p:cNvPr id="6" name="Card"/>
          <p:cNvSpPr/>
          <p:nvPr/>
        </p:nvSpPr>
        <p:spPr>
          <a:xfrm>
            <a:off x="457200" y="960120"/>
            <a:ext cx="1786431" cy="3703320"/>
          </a:xfrm>
          <a:prstGeom prst="roundRect">
            <a:avLst>
              <a:gd name="adj" fmla="val 4095"/>
            </a:avLst>
          </a:prstGeom>
          <a:solidFill>
            <a:schemeClr val="bg1"/>
          </a:solidFill>
          <a:ln w="12700">
            <a:solidFill>
              <a:srgbClr val="D9CBB5"/>
            </a:solidFill>
            <a:prstDash val="solid"/>
          </a:ln>
        </p:spPr>
      </p:sp>
      <p:pic>
        <p:nvPicPr>
          <p:cNvPr id="7" name="Image 0" descr="Mobile: 13 Adventures"/>
          <p:cNvPicPr>
            <a:picLocks noChangeAspect="1"/>
          </p:cNvPicPr>
          <p:nvPr/>
        </p:nvPicPr>
        <p:blipFill>
          <a:blip r:embed="rId3"/>
          <a:srcRect/>
          <a:stretch/>
        </p:blipFill>
        <p:spPr>
          <a:xfrm>
            <a:off x="548640" y="1051560"/>
            <a:ext cx="1603551" cy="3520440"/>
          </a:xfrm>
          <a:prstGeom prst="rect">
            <a:avLst/>
          </a:prstGeom>
        </p:spPr>
      </p:pic>
      <p:sp>
        <p:nvSpPr>
          <p:cNvPr id="8" name="Text 4"/>
          <p:cNvSpPr txBox="1"/>
          <p:nvPr/>
        </p:nvSpPr>
        <p:spPr>
          <a:xfrm>
            <a:off x="2517951" y="960120"/>
            <a:ext cx="6168849" cy="256032"/>
          </a:xfrm>
          <a:prstGeom prst="rect">
            <a:avLst/>
          </a:prstGeom>
          <a:noFill/>
          <a:ln/>
        </p:spPr>
        <p:txBody>
          <a:bodyPr wrap="square" lIns="0" tIns="0" rIns="0" bIns="0" rtlCol="0" anchor="ctr"/>
          <a:lstStyle/>
          <a:p>
            <a:pPr marL="0" indent="0">
              <a:buNone/>
            </a:pPr>
            <a:r>
              <a:rPr lang="en-US" sz="1300" b="1" dirty="0">
                <a:solidFill>
                  <a:schemeClr val="accent2"/>
                </a:solidFill>
                <a:latin typeface="Georgia" pitchFamily="34" charset="0"/>
                <a:ea typeface="Georgia" pitchFamily="34" charset="-122"/>
                <a:cs typeface="Georgia" pitchFamily="34" charset="-120"/>
              </a:rPr>
              <a:t>What this page does</a:t>
            </a:r>
            <a:endParaRPr lang="en-US" sz="1300" dirty="0"/>
          </a:p>
        </p:txBody>
      </p:sp>
      <p:sp>
        <p:nvSpPr>
          <p:cNvPr id="9" name="Text 5"/>
          <p:cNvSpPr txBox="1"/>
          <p:nvPr/>
        </p:nvSpPr>
        <p:spPr>
          <a:xfrm>
            <a:off x="2517951" y="1234440"/>
            <a:ext cx="6168849" cy="96012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1"/>
                </a:solidFill>
              </a:rPr>
              <a:t>List of all adventures with a picture, short description and price</a:t>
            </a:r>
            <a:endParaRPr lang="en-US" sz="1200" dirty="0"/>
          </a:p>
          <a:p>
            <a:pPr marL="342900" indent="-342900">
              <a:spcAft>
                <a:spcPts val="300"/>
              </a:spcAft>
              <a:buSzPct val="100000"/>
              <a:buChar char="•"/>
            </a:pPr>
            <a:r>
              <a:rPr lang="en-US" sz="1200" dirty="0">
                <a:solidFill>
                  <a:schemeClr val="tx1"/>
                </a:solidFill>
              </a:rPr>
              <a:t>Filters: All adventures, Packages and Sessions</a:t>
            </a:r>
            <a:endParaRPr lang="en-US" sz="1200" dirty="0"/>
          </a:p>
          <a:p>
            <a:pPr marL="342900" indent="-342900">
              <a:spcAft>
                <a:spcPts val="300"/>
              </a:spcAft>
              <a:buSzPct val="100000"/>
              <a:buChar char="•"/>
            </a:pPr>
            <a:r>
              <a:rPr lang="en-US" sz="1200" dirty="0">
                <a:solidFill>
                  <a:schemeClr val="tx1"/>
                </a:solidFill>
              </a:rPr>
              <a:t>Message: pick more than one adventure to unlock discounts</a:t>
            </a:r>
            <a:endParaRPr lang="en-US" sz="1200" dirty="0"/>
          </a:p>
        </p:txBody>
      </p:sp>
      <p:sp>
        <p:nvSpPr>
          <p:cNvPr id="10" name="Text 6"/>
          <p:cNvSpPr txBox="1"/>
          <p:nvPr/>
        </p:nvSpPr>
        <p:spPr>
          <a:xfrm>
            <a:off x="2517951" y="2240280"/>
            <a:ext cx="6168849" cy="256032"/>
          </a:xfrm>
          <a:prstGeom prst="rect">
            <a:avLst/>
          </a:prstGeom>
          <a:noFill/>
          <a:ln/>
        </p:spPr>
        <p:txBody>
          <a:bodyPr wrap="square" lIns="0" tIns="0" rIns="0" bIns="0" rtlCol="0" anchor="ctr"/>
          <a:lstStyle/>
          <a:p>
            <a:pPr marL="0" indent="0">
              <a:buNone/>
            </a:pPr>
            <a:r>
              <a:rPr lang="en-US" sz="1300" b="1" dirty="0">
                <a:solidFill>
                  <a:schemeClr val="accent2"/>
                </a:solidFill>
                <a:latin typeface="Georgia" pitchFamily="34" charset="0"/>
                <a:ea typeface="Georgia" pitchFamily="34" charset="-122"/>
                <a:cs typeface="Georgia" pitchFamily="34" charset="-120"/>
              </a:rPr>
              <a:t>How it works</a:t>
            </a:r>
            <a:endParaRPr lang="en-US" sz="1300" dirty="0"/>
          </a:p>
        </p:txBody>
      </p:sp>
      <p:sp>
        <p:nvSpPr>
          <p:cNvPr id="11" name="Text 7"/>
          <p:cNvSpPr txBox="1"/>
          <p:nvPr/>
        </p:nvSpPr>
        <p:spPr>
          <a:xfrm>
            <a:off x="2517951" y="2514600"/>
            <a:ext cx="6168849" cy="1280160"/>
          </a:xfrm>
          <a:prstGeom prst="rect">
            <a:avLst/>
          </a:prstGeom>
          <a:noFill/>
          <a:ln/>
        </p:spPr>
        <p:txBody>
          <a:bodyPr wrap="square" lIns="0" tIns="0" rIns="0" bIns="0" rtlCol="0" anchor="t"/>
          <a:lstStyle/>
          <a:p>
            <a:pPr marL="342900" indent="-342900">
              <a:spcAft>
                <a:spcPts val="300"/>
              </a:spcAft>
              <a:buSzPct val="100000"/>
              <a:buFont typeface="+mj-lt"/>
              <a:buAutoNum type="arabicPeriod"/>
            </a:pPr>
            <a:r>
              <a:rPr lang="en-US" sz="1200" dirty="0">
                <a:solidFill>
                  <a:schemeClr val="tx1"/>
                </a:solidFill>
              </a:rPr>
              <a:t>Tap All adventures, Packages or Sessions to filter</a:t>
            </a:r>
            <a:endParaRPr lang="en-US" sz="1200" dirty="0"/>
          </a:p>
          <a:p>
            <a:pPr marL="342900" indent="-342900">
              <a:spcAft>
                <a:spcPts val="300"/>
              </a:spcAft>
              <a:buSzPct val="100000"/>
              <a:buFont typeface="+mj-lt"/>
              <a:buAutoNum type="arabicPeriod"/>
            </a:pPr>
            <a:r>
              <a:rPr lang="en-US" sz="1200" dirty="0">
                <a:solidFill>
                  <a:schemeClr val="tx1"/>
                </a:solidFill>
              </a:rPr>
              <a:t>Tap a card to open its Overview screen</a:t>
            </a:r>
            <a:endParaRPr lang="en-US" sz="1200" dirty="0"/>
          </a:p>
          <a:p>
            <a:pPr marL="342900" indent="-342900">
              <a:spcAft>
                <a:spcPts val="300"/>
              </a:spcAft>
              <a:buSzPct val="100000"/>
              <a:buFont typeface="+mj-lt"/>
              <a:buAutoNum type="arabicPeriod"/>
            </a:pPr>
            <a:r>
              <a:rPr lang="en-US" sz="1200" dirty="0">
                <a:solidFill>
                  <a:schemeClr val="tx1"/>
                </a:solidFill>
              </a:rPr>
              <a:t>Picking more than one adventure unlocks a discount</a:t>
            </a:r>
            <a:endParaRPr lang="en-US" sz="1200" dirty="0"/>
          </a:p>
        </p:txBody>
      </p:sp>
      <p:sp>
        <p:nvSpPr>
          <p:cNvPr id="12" name="Text 8"/>
          <p:cNvSpPr txBox="1"/>
          <p:nvPr/>
        </p:nvSpPr>
        <p:spPr>
          <a:xfrm>
            <a:off x="2517951" y="3840480"/>
            <a:ext cx="6168849" cy="256032"/>
          </a:xfrm>
          <a:prstGeom prst="rect">
            <a:avLst/>
          </a:prstGeom>
          <a:noFill/>
          <a:ln/>
        </p:spPr>
        <p:txBody>
          <a:bodyPr wrap="square" lIns="0" tIns="0" rIns="0" bIns="0" rtlCol="0" anchor="ctr"/>
          <a:lstStyle/>
          <a:p>
            <a:pPr marL="0" indent="0">
              <a:buNone/>
            </a:pPr>
            <a:r>
              <a:rPr lang="en-US" sz="1300" b="1" dirty="0">
                <a:solidFill>
                  <a:schemeClr val="accent2"/>
                </a:solidFill>
                <a:latin typeface="Georgia" pitchFamily="34" charset="0"/>
                <a:ea typeface="Georgia" pitchFamily="34" charset="-122"/>
                <a:cs typeface="Georgia" pitchFamily="34" charset="-120"/>
              </a:rPr>
              <a:t>Why we designed it this way</a:t>
            </a:r>
            <a:endParaRPr lang="en-US" sz="1300" dirty="0"/>
          </a:p>
        </p:txBody>
      </p:sp>
      <p:sp>
        <p:nvSpPr>
          <p:cNvPr id="13" name="Text 9"/>
          <p:cNvSpPr txBox="1"/>
          <p:nvPr/>
        </p:nvSpPr>
        <p:spPr>
          <a:xfrm>
            <a:off x="2517951" y="4114800"/>
            <a:ext cx="6168849" cy="64008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1"/>
                </a:solidFill>
              </a:rPr>
              <a:t>Same as the website Overview page, but in one column for a phone</a:t>
            </a:r>
            <a:endParaRPr lang="en-US" sz="1200" dirty="0"/>
          </a:p>
          <a:p>
            <a:pPr marL="342900" indent="-342900">
              <a:spcAft>
                <a:spcPts val="300"/>
              </a:spcAft>
              <a:buSzPct val="100000"/>
              <a:buChar char="•"/>
            </a:pPr>
            <a:r>
              <a:rPr lang="en-US" sz="1200" dirty="0">
                <a:solidFill>
                  <a:schemeClr val="tx1"/>
                </a:solidFill>
              </a:rPr>
              <a:t>Tap a card to open the adventure</a:t>
            </a:r>
            <a:endParaRPr lang="en-US" sz="1200" dirty="0"/>
          </a:p>
        </p:txBody>
      </p:sp>
      <p:sp>
        <p:nvSpPr>
          <p:cNvPr id="25" name="Slide Number Placeholder 0"/>
          <p:cNvSpPr>
            <a:spLocks noGrp="1"/>
          </p:cNvSpPr>
          <p:nvPr>
            <p:ph type="sldNum" sz="quarter" idx="4294967295"/>
          </p:nvPr>
        </p:nvSpPr>
        <p:spPr>
          <a:xfrm>
            <a:off x="841248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tx2"/>
                </a:solidFill>
              </a:defRPr>
            </a:lvl1pPr>
          </a:lstStyle>
          <a:p>
            <a:pPr algn="l"/>
            <a:fld id="{F7021451-1387-4CA6-816F-3879F97B5CBC}" type="slidenum">
              <a:rPr lang="en-US" b="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28600"/>
            <a:ext cx="6675120" cy="594360"/>
          </a:xfrm>
          <a:prstGeom prst="rect">
            <a:avLst/>
          </a:prstGeom>
          <a:noFill/>
          <a:ln/>
        </p:spPr>
        <p:txBody>
          <a:bodyPr wrap="square" lIns="0" tIns="0" rIns="0" bIns="0" rtlCol="0" anchor="ctr"/>
          <a:lstStyle/>
          <a:p>
            <a:pPr marL="0" indent="0">
              <a:buNone/>
            </a:pPr>
            <a:r>
              <a:rPr lang="en-US" sz="2600" b="1" dirty="0">
                <a:solidFill>
                  <a:schemeClr val="tx2"/>
                </a:solidFill>
                <a:latin typeface="Georgia" pitchFamily="34" charset="0"/>
                <a:ea typeface="Georgia" pitchFamily="34" charset="-122"/>
                <a:cs typeface="Georgia" pitchFamily="34" charset="-120"/>
              </a:rPr>
              <a:t>Website demonstration</a:t>
            </a:r>
            <a:endParaRPr lang="en-US" sz="2600" dirty="0"/>
          </a:p>
        </p:txBody>
      </p:sp>
      <p:sp>
        <p:nvSpPr>
          <p:cNvPr id="3" name="Presenter tag"/>
          <p:cNvSpPr/>
          <p:nvPr/>
        </p:nvSpPr>
        <p:spPr>
          <a:xfrm>
            <a:off x="7269480" y="347472"/>
            <a:ext cx="1463040" cy="329184"/>
          </a:xfrm>
          <a:prstGeom prst="roundRect">
            <a:avLst>
              <a:gd name="adj" fmla="val 50000"/>
            </a:avLst>
          </a:prstGeom>
          <a:solidFill>
            <a:schemeClr val="accent2"/>
          </a:solidFill>
          <a:ln w="12700">
            <a:solidFill>
              <a:schemeClr val="accent2"/>
            </a:solidFill>
            <a:prstDash val="solid"/>
          </a:ln>
        </p:spPr>
      </p:sp>
      <p:sp>
        <p:nvSpPr>
          <p:cNvPr id="4" name="Text 2"/>
          <p:cNvSpPr txBox="1"/>
          <p:nvPr/>
        </p:nvSpPr>
        <p:spPr>
          <a:xfrm>
            <a:off x="7269480" y="347472"/>
            <a:ext cx="1463040" cy="329184"/>
          </a:xfrm>
          <a:prstGeom prst="rect">
            <a:avLst/>
          </a:prstGeom>
          <a:noFill/>
          <a:ln/>
        </p:spPr>
        <p:txBody>
          <a:bodyPr wrap="square" lIns="0" tIns="0" rIns="0" bIns="0" rtlCol="0" anchor="ctr"/>
          <a:lstStyle/>
          <a:p>
            <a:pPr marL="0" indent="0" algn="ctr">
              <a:buNone/>
            </a:pPr>
            <a:r>
              <a:rPr lang="en-US" sz="1100" b="1" dirty="0">
                <a:solidFill>
                  <a:schemeClr val="bg1"/>
                </a:solidFill>
              </a:rPr>
              <a:t>Presenter: Rayan</a:t>
            </a:r>
            <a:endParaRPr lang="en-US" sz="1100" dirty="0"/>
          </a:p>
        </p:txBody>
      </p:sp>
      <p:sp>
        <p:nvSpPr>
          <p:cNvPr id="6" name="Card"/>
          <p:cNvSpPr/>
          <p:nvPr/>
        </p:nvSpPr>
        <p:spPr>
          <a:xfrm>
            <a:off x="914400" y="914400"/>
            <a:ext cx="3566160" cy="1600200"/>
          </a:xfrm>
          <a:prstGeom prst="roundRect">
            <a:avLst>
              <a:gd name="adj" fmla="val 4571"/>
            </a:avLst>
          </a:prstGeom>
          <a:solidFill>
            <a:schemeClr val="bg1"/>
          </a:solidFill>
          <a:ln w="12700">
            <a:solidFill>
              <a:srgbClr val="D9CBB5"/>
            </a:solidFill>
            <a:prstDash val="solid"/>
          </a:ln>
        </p:spPr>
      </p:sp>
      <p:pic>
        <p:nvPicPr>
          <p:cNvPr id="7" name="Image 0" descr="Home"/>
          <p:cNvPicPr>
            <a:picLocks noChangeAspect="1"/>
          </p:cNvPicPr>
          <p:nvPr/>
        </p:nvPicPr>
        <p:blipFill>
          <a:blip r:embed="rId3"/>
          <a:srcRect/>
          <a:stretch/>
        </p:blipFill>
        <p:spPr>
          <a:xfrm>
            <a:off x="969264" y="969264"/>
            <a:ext cx="3456432" cy="1490472"/>
          </a:xfrm>
          <a:prstGeom prst="rect">
            <a:avLst/>
          </a:prstGeom>
        </p:spPr>
      </p:pic>
      <p:sp>
        <p:nvSpPr>
          <p:cNvPr id="8" name="Text 4"/>
          <p:cNvSpPr txBox="1"/>
          <p:nvPr/>
        </p:nvSpPr>
        <p:spPr>
          <a:xfrm>
            <a:off x="914400" y="2542032"/>
            <a:ext cx="3566160" cy="228600"/>
          </a:xfrm>
          <a:prstGeom prst="rect">
            <a:avLst/>
          </a:prstGeom>
          <a:noFill/>
          <a:ln/>
        </p:spPr>
        <p:txBody>
          <a:bodyPr wrap="square" lIns="0" tIns="0" rIns="0" bIns="0" rtlCol="0" anchor="ctr"/>
          <a:lstStyle/>
          <a:p>
            <a:pPr marL="0" indent="0" algn="ctr">
              <a:buNone/>
            </a:pPr>
            <a:r>
              <a:rPr lang="en-US" sz="1200" b="1" dirty="0">
                <a:solidFill>
                  <a:schemeClr val="tx2"/>
                </a:solidFill>
              </a:rPr>
              <a:t>Home: </a:t>
            </a:r>
            <a:r>
              <a:rPr lang="en-US" sz="1200" dirty="0">
                <a:solidFill>
                  <a:schemeClr val="tx1"/>
                </a:solidFill>
              </a:rPr>
              <a:t>Featured packages</a:t>
            </a:r>
            <a:endParaRPr lang="en-US" sz="1200" dirty="0"/>
          </a:p>
        </p:txBody>
      </p:sp>
      <p:sp>
        <p:nvSpPr>
          <p:cNvPr id="9" name="Card"/>
          <p:cNvSpPr/>
          <p:nvPr/>
        </p:nvSpPr>
        <p:spPr>
          <a:xfrm>
            <a:off x="4754880" y="914400"/>
            <a:ext cx="3566160" cy="1600200"/>
          </a:xfrm>
          <a:prstGeom prst="roundRect">
            <a:avLst>
              <a:gd name="adj" fmla="val 4571"/>
            </a:avLst>
          </a:prstGeom>
          <a:solidFill>
            <a:schemeClr val="bg1"/>
          </a:solidFill>
          <a:ln w="12700">
            <a:solidFill>
              <a:srgbClr val="D9CBB5"/>
            </a:solidFill>
            <a:prstDash val="solid"/>
          </a:ln>
        </p:spPr>
      </p:sp>
      <p:pic>
        <p:nvPicPr>
          <p:cNvPr id="10" name="Image 1" descr="Overview"/>
          <p:cNvPicPr>
            <a:picLocks noChangeAspect="1"/>
          </p:cNvPicPr>
          <p:nvPr/>
        </p:nvPicPr>
        <p:blipFill>
          <a:blip r:embed="rId4"/>
          <a:srcRect/>
          <a:stretch/>
        </p:blipFill>
        <p:spPr>
          <a:xfrm>
            <a:off x="4809744" y="969264"/>
            <a:ext cx="3456432" cy="1490472"/>
          </a:xfrm>
          <a:prstGeom prst="rect">
            <a:avLst/>
          </a:prstGeom>
        </p:spPr>
      </p:pic>
      <p:sp>
        <p:nvSpPr>
          <p:cNvPr id="11" name="Text 6"/>
          <p:cNvSpPr txBox="1"/>
          <p:nvPr/>
        </p:nvSpPr>
        <p:spPr>
          <a:xfrm>
            <a:off x="4754880" y="2542032"/>
            <a:ext cx="3566160" cy="228600"/>
          </a:xfrm>
          <a:prstGeom prst="rect">
            <a:avLst/>
          </a:prstGeom>
          <a:noFill/>
          <a:ln/>
        </p:spPr>
        <p:txBody>
          <a:bodyPr wrap="square" lIns="0" tIns="0" rIns="0" bIns="0" rtlCol="0" anchor="ctr"/>
          <a:lstStyle/>
          <a:p>
            <a:pPr marL="0" indent="0" algn="ctr">
              <a:buNone/>
            </a:pPr>
            <a:r>
              <a:rPr lang="en-US" sz="1200" b="1" dirty="0">
                <a:solidFill>
                  <a:schemeClr val="tx2"/>
                </a:solidFill>
              </a:rPr>
              <a:t>Overview: </a:t>
            </a:r>
            <a:r>
              <a:rPr lang="en-US" sz="1200" dirty="0">
                <a:solidFill>
                  <a:schemeClr val="tx1"/>
                </a:solidFill>
              </a:rPr>
              <a:t>Filters and ratings</a:t>
            </a:r>
            <a:endParaRPr lang="en-US" sz="1200" dirty="0"/>
          </a:p>
        </p:txBody>
      </p:sp>
      <p:sp>
        <p:nvSpPr>
          <p:cNvPr id="12" name="Card"/>
          <p:cNvSpPr/>
          <p:nvPr/>
        </p:nvSpPr>
        <p:spPr>
          <a:xfrm>
            <a:off x="914400" y="2834640"/>
            <a:ext cx="3566160" cy="1600200"/>
          </a:xfrm>
          <a:prstGeom prst="roundRect">
            <a:avLst>
              <a:gd name="adj" fmla="val 4571"/>
            </a:avLst>
          </a:prstGeom>
          <a:solidFill>
            <a:schemeClr val="bg1"/>
          </a:solidFill>
          <a:ln w="12700">
            <a:solidFill>
              <a:srgbClr val="D9CBB5"/>
            </a:solidFill>
            <a:prstDash val="solid"/>
          </a:ln>
        </p:spPr>
      </p:sp>
      <p:pic>
        <p:nvPicPr>
          <p:cNvPr id="13" name="Image 2" descr="Package details"/>
          <p:cNvPicPr>
            <a:picLocks noChangeAspect="1"/>
          </p:cNvPicPr>
          <p:nvPr/>
        </p:nvPicPr>
        <p:blipFill>
          <a:blip r:embed="rId5"/>
          <a:srcRect/>
          <a:stretch/>
        </p:blipFill>
        <p:spPr>
          <a:xfrm>
            <a:off x="969264" y="2889504"/>
            <a:ext cx="3456432" cy="1490472"/>
          </a:xfrm>
          <a:prstGeom prst="rect">
            <a:avLst/>
          </a:prstGeom>
        </p:spPr>
      </p:pic>
      <p:sp>
        <p:nvSpPr>
          <p:cNvPr id="14" name="Text 8"/>
          <p:cNvSpPr txBox="1"/>
          <p:nvPr/>
        </p:nvSpPr>
        <p:spPr>
          <a:xfrm>
            <a:off x="914400" y="4462272"/>
            <a:ext cx="3566160" cy="228600"/>
          </a:xfrm>
          <a:prstGeom prst="rect">
            <a:avLst/>
          </a:prstGeom>
          <a:noFill/>
          <a:ln/>
        </p:spPr>
        <p:txBody>
          <a:bodyPr wrap="square" lIns="0" tIns="0" rIns="0" bIns="0" rtlCol="0" anchor="ctr"/>
          <a:lstStyle/>
          <a:p>
            <a:pPr marL="0" indent="0" algn="ctr">
              <a:buNone/>
            </a:pPr>
            <a:r>
              <a:rPr lang="en-US" sz="1200" b="1" dirty="0">
                <a:solidFill>
                  <a:schemeClr val="tx2"/>
                </a:solidFill>
              </a:rPr>
              <a:t>Package details: </a:t>
            </a:r>
            <a:r>
              <a:rPr lang="en-US" sz="1200" dirty="0">
                <a:solidFill>
                  <a:schemeClr val="tx1"/>
                </a:solidFill>
              </a:rPr>
              <a:t>Arrows, date, Book Now</a:t>
            </a:r>
            <a:endParaRPr lang="en-US" sz="1200" dirty="0"/>
          </a:p>
        </p:txBody>
      </p:sp>
      <p:sp>
        <p:nvSpPr>
          <p:cNvPr id="15" name="Card"/>
          <p:cNvSpPr/>
          <p:nvPr/>
        </p:nvSpPr>
        <p:spPr>
          <a:xfrm>
            <a:off x="4754880" y="2834640"/>
            <a:ext cx="3566160" cy="1600200"/>
          </a:xfrm>
          <a:prstGeom prst="roundRect">
            <a:avLst>
              <a:gd name="adj" fmla="val 4571"/>
            </a:avLst>
          </a:prstGeom>
          <a:solidFill>
            <a:schemeClr val="bg1"/>
          </a:solidFill>
          <a:ln w="12700">
            <a:solidFill>
              <a:srgbClr val="D9CBB5"/>
            </a:solidFill>
            <a:prstDash val="solid"/>
          </a:ln>
        </p:spPr>
      </p:sp>
      <p:pic>
        <p:nvPicPr>
          <p:cNvPr id="16" name="Image 3" descr="Fees"/>
          <p:cNvPicPr>
            <a:picLocks noChangeAspect="1"/>
          </p:cNvPicPr>
          <p:nvPr/>
        </p:nvPicPr>
        <p:blipFill>
          <a:blip r:embed="rId6"/>
          <a:srcRect/>
          <a:stretch/>
        </p:blipFill>
        <p:spPr>
          <a:xfrm>
            <a:off x="4809744" y="2889504"/>
            <a:ext cx="3456432" cy="1490472"/>
          </a:xfrm>
          <a:prstGeom prst="rect">
            <a:avLst/>
          </a:prstGeom>
        </p:spPr>
      </p:pic>
      <p:sp>
        <p:nvSpPr>
          <p:cNvPr id="17" name="Text 10"/>
          <p:cNvSpPr txBox="1"/>
          <p:nvPr/>
        </p:nvSpPr>
        <p:spPr>
          <a:xfrm>
            <a:off x="4754880" y="4462272"/>
            <a:ext cx="3566160" cy="228600"/>
          </a:xfrm>
          <a:prstGeom prst="rect">
            <a:avLst/>
          </a:prstGeom>
          <a:noFill/>
          <a:ln/>
        </p:spPr>
        <p:txBody>
          <a:bodyPr wrap="square" lIns="0" tIns="0" rIns="0" bIns="0" rtlCol="0" anchor="ctr"/>
          <a:lstStyle/>
          <a:p>
            <a:pPr marL="0" indent="0" algn="ctr">
              <a:buNone/>
            </a:pPr>
            <a:r>
              <a:rPr lang="en-US" sz="1200" b="1" dirty="0">
                <a:solidFill>
                  <a:schemeClr val="tx2"/>
                </a:solidFill>
              </a:rPr>
              <a:t>Fees: </a:t>
            </a:r>
            <a:r>
              <a:rPr lang="en-US" sz="1200" dirty="0">
                <a:solidFill>
                  <a:schemeClr val="tx1"/>
                </a:solidFill>
              </a:rPr>
              <a:t>Add items, discount and total</a:t>
            </a:r>
            <a:endParaRPr lang="en-US" sz="1200" dirty="0"/>
          </a:p>
        </p:txBody>
      </p:sp>
      <p:sp>
        <p:nvSpPr>
          <p:cNvPr id="25" name="Slide Number Placeholder 0"/>
          <p:cNvSpPr>
            <a:spLocks noGrp="1"/>
          </p:cNvSpPr>
          <p:nvPr>
            <p:ph type="sldNum" sz="quarter" idx="4294967295"/>
          </p:nvPr>
        </p:nvSpPr>
        <p:spPr>
          <a:xfrm>
            <a:off x="841248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tx2"/>
                </a:solidFill>
              </a:defRPr>
            </a:lvl1pPr>
          </a:lstStyle>
          <a:p>
            <a:pPr algn="l"/>
            <a:fld id="{F7021451-1387-4CA6-816F-3879F97B5CBC}" type="slidenum">
              <a:rPr lang="en-US" b="0"/>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28600"/>
            <a:ext cx="6675120" cy="594360"/>
          </a:xfrm>
          <a:prstGeom prst="rect">
            <a:avLst/>
          </a:prstGeom>
          <a:noFill/>
          <a:ln/>
        </p:spPr>
        <p:txBody>
          <a:bodyPr wrap="square" lIns="0" tIns="0" rIns="0" bIns="0" rtlCol="0" anchor="ctr"/>
          <a:lstStyle/>
          <a:p>
            <a:pPr marL="0" indent="0">
              <a:buNone/>
            </a:pPr>
            <a:r>
              <a:rPr lang="en-US" sz="2600" b="1" dirty="0">
                <a:solidFill>
                  <a:schemeClr val="tx2"/>
                </a:solidFill>
                <a:latin typeface="Georgia" pitchFamily="34" charset="0"/>
                <a:ea typeface="Georgia" pitchFamily="34" charset="-122"/>
                <a:cs typeface="Georgia" pitchFamily="34" charset="-120"/>
              </a:rPr>
              <a:t>Mobile app demonstration</a:t>
            </a:r>
            <a:endParaRPr lang="en-US" sz="2600" dirty="0"/>
          </a:p>
        </p:txBody>
      </p:sp>
      <p:sp>
        <p:nvSpPr>
          <p:cNvPr id="3" name="Presenter tag"/>
          <p:cNvSpPr/>
          <p:nvPr/>
        </p:nvSpPr>
        <p:spPr>
          <a:xfrm>
            <a:off x="7269480" y="347472"/>
            <a:ext cx="1463040" cy="329184"/>
          </a:xfrm>
          <a:prstGeom prst="roundRect">
            <a:avLst>
              <a:gd name="adj" fmla="val 50000"/>
            </a:avLst>
          </a:prstGeom>
          <a:solidFill>
            <a:schemeClr val="accent2"/>
          </a:solidFill>
          <a:ln w="12700">
            <a:solidFill>
              <a:schemeClr val="accent2"/>
            </a:solidFill>
            <a:prstDash val="solid"/>
          </a:ln>
        </p:spPr>
      </p:sp>
      <p:sp>
        <p:nvSpPr>
          <p:cNvPr id="4" name="Text 2"/>
          <p:cNvSpPr txBox="1"/>
          <p:nvPr/>
        </p:nvSpPr>
        <p:spPr>
          <a:xfrm>
            <a:off x="7269480" y="347472"/>
            <a:ext cx="1463040" cy="329184"/>
          </a:xfrm>
          <a:prstGeom prst="rect">
            <a:avLst/>
          </a:prstGeom>
          <a:noFill/>
          <a:ln/>
        </p:spPr>
        <p:txBody>
          <a:bodyPr wrap="square" lIns="0" tIns="0" rIns="0" bIns="0" rtlCol="0" anchor="ctr"/>
          <a:lstStyle/>
          <a:p>
            <a:pPr marL="0" indent="0" algn="ctr">
              <a:buNone/>
            </a:pPr>
            <a:r>
              <a:rPr lang="en-US" sz="1100" b="1" dirty="0">
                <a:solidFill>
                  <a:schemeClr val="bg1"/>
                </a:solidFill>
              </a:rPr>
              <a:t>Presenter: Itumeleng</a:t>
            </a:r>
            <a:endParaRPr lang="en-US" sz="1100" dirty="0"/>
          </a:p>
        </p:txBody>
      </p:sp>
      <p:sp>
        <p:nvSpPr>
          <p:cNvPr id="6" name="Flow step"/>
          <p:cNvSpPr/>
          <p:nvPr/>
        </p:nvSpPr>
        <p:spPr>
          <a:xfrm>
            <a:off x="457200" y="1188720"/>
            <a:ext cx="1188720" cy="685800"/>
          </a:xfrm>
          <a:prstGeom prst="roundRect">
            <a:avLst>
              <a:gd name="adj" fmla="val 13333"/>
            </a:avLst>
          </a:prstGeom>
          <a:solidFill>
            <a:schemeClr val="accent1"/>
          </a:solidFill>
          <a:ln w="12700">
            <a:solidFill>
              <a:schemeClr val="accent1"/>
            </a:solidFill>
            <a:prstDash val="solid"/>
          </a:ln>
        </p:spPr>
      </p:sp>
      <p:sp>
        <p:nvSpPr>
          <p:cNvPr id="7" name="Text 4"/>
          <p:cNvSpPr txBox="1"/>
          <p:nvPr/>
        </p:nvSpPr>
        <p:spPr>
          <a:xfrm>
            <a:off x="457200" y="1188720"/>
            <a:ext cx="1188720" cy="685800"/>
          </a:xfrm>
          <a:prstGeom prst="rect">
            <a:avLst/>
          </a:prstGeom>
          <a:noFill/>
          <a:ln/>
        </p:spPr>
        <p:txBody>
          <a:bodyPr wrap="square" lIns="0" tIns="0" rIns="0" bIns="0" rtlCol="0" anchor="ctr"/>
          <a:lstStyle/>
          <a:p>
            <a:pPr marL="0" indent="0" algn="ctr">
              <a:buNone/>
            </a:pPr>
            <a:r>
              <a:rPr lang="en-US" sz="1400" b="1" dirty="0">
                <a:solidFill>
                  <a:schemeClr val="bg1"/>
                </a:solidFill>
              </a:rPr>
              <a:t>Splash</a:t>
            </a:r>
            <a:endParaRPr lang="en-US" sz="1400" dirty="0"/>
          </a:p>
        </p:txBody>
      </p:sp>
      <p:sp>
        <p:nvSpPr>
          <p:cNvPr id="8" name="Text 5"/>
          <p:cNvSpPr txBox="1"/>
          <p:nvPr/>
        </p:nvSpPr>
        <p:spPr>
          <a:xfrm>
            <a:off x="1645920" y="1188720"/>
            <a:ext cx="201168" cy="685800"/>
          </a:xfrm>
          <a:prstGeom prst="rect">
            <a:avLst/>
          </a:prstGeom>
          <a:noFill/>
          <a:ln/>
        </p:spPr>
        <p:txBody>
          <a:bodyPr wrap="square" lIns="0" tIns="0" rIns="0" bIns="0" rtlCol="0" anchor="ctr"/>
          <a:lstStyle/>
          <a:p>
            <a:pPr marL="0" indent="0" algn="ctr">
              <a:buNone/>
            </a:pPr>
            <a:r>
              <a:rPr lang="en-US" sz="1800" b="1" dirty="0">
                <a:solidFill>
                  <a:schemeClr val="accent2"/>
                </a:solidFill>
              </a:rPr>
              <a:t>&gt;</a:t>
            </a:r>
            <a:endParaRPr lang="en-US" sz="1800" dirty="0"/>
          </a:p>
        </p:txBody>
      </p:sp>
      <p:sp>
        <p:nvSpPr>
          <p:cNvPr id="9" name="Flow step"/>
          <p:cNvSpPr/>
          <p:nvPr/>
        </p:nvSpPr>
        <p:spPr>
          <a:xfrm>
            <a:off x="1847088" y="1188720"/>
            <a:ext cx="1188720" cy="685800"/>
          </a:xfrm>
          <a:prstGeom prst="roundRect">
            <a:avLst>
              <a:gd name="adj" fmla="val 13333"/>
            </a:avLst>
          </a:prstGeom>
          <a:solidFill>
            <a:schemeClr val="accent1"/>
          </a:solidFill>
          <a:ln w="12700">
            <a:solidFill>
              <a:schemeClr val="accent1"/>
            </a:solidFill>
            <a:prstDash val="solid"/>
          </a:ln>
        </p:spPr>
      </p:sp>
      <p:sp>
        <p:nvSpPr>
          <p:cNvPr id="10" name="Text 7"/>
          <p:cNvSpPr txBox="1"/>
          <p:nvPr/>
        </p:nvSpPr>
        <p:spPr>
          <a:xfrm>
            <a:off x="1847088" y="1188720"/>
            <a:ext cx="1188720" cy="685800"/>
          </a:xfrm>
          <a:prstGeom prst="rect">
            <a:avLst/>
          </a:prstGeom>
          <a:noFill/>
          <a:ln/>
        </p:spPr>
        <p:txBody>
          <a:bodyPr wrap="square" lIns="0" tIns="0" rIns="0" bIns="0" rtlCol="0" anchor="ctr"/>
          <a:lstStyle/>
          <a:p>
            <a:pPr marL="0" indent="0" algn="ctr">
              <a:buNone/>
            </a:pPr>
            <a:r>
              <a:rPr lang="en-US" sz="1400" b="1" dirty="0">
                <a:solidFill>
                  <a:schemeClr val="bg1"/>
                </a:solidFill>
              </a:rPr>
              <a:t>Home</a:t>
            </a:r>
            <a:endParaRPr lang="en-US" sz="1400" dirty="0"/>
          </a:p>
        </p:txBody>
      </p:sp>
      <p:sp>
        <p:nvSpPr>
          <p:cNvPr id="11" name="Text 8"/>
          <p:cNvSpPr txBox="1"/>
          <p:nvPr/>
        </p:nvSpPr>
        <p:spPr>
          <a:xfrm>
            <a:off x="3035808" y="1188720"/>
            <a:ext cx="201168" cy="685800"/>
          </a:xfrm>
          <a:prstGeom prst="rect">
            <a:avLst/>
          </a:prstGeom>
          <a:noFill/>
          <a:ln/>
        </p:spPr>
        <p:txBody>
          <a:bodyPr wrap="square" lIns="0" tIns="0" rIns="0" bIns="0" rtlCol="0" anchor="ctr"/>
          <a:lstStyle/>
          <a:p>
            <a:pPr marL="0" indent="0" algn="ctr">
              <a:buNone/>
            </a:pPr>
            <a:r>
              <a:rPr lang="en-US" sz="1800" b="1" dirty="0">
                <a:solidFill>
                  <a:schemeClr val="accent2"/>
                </a:solidFill>
              </a:rPr>
              <a:t>&gt;</a:t>
            </a:r>
            <a:endParaRPr lang="en-US" sz="1800" dirty="0"/>
          </a:p>
        </p:txBody>
      </p:sp>
      <p:sp>
        <p:nvSpPr>
          <p:cNvPr id="12" name="Flow step"/>
          <p:cNvSpPr/>
          <p:nvPr/>
        </p:nvSpPr>
        <p:spPr>
          <a:xfrm>
            <a:off x="3236976" y="1188720"/>
            <a:ext cx="1188720" cy="685800"/>
          </a:xfrm>
          <a:prstGeom prst="roundRect">
            <a:avLst>
              <a:gd name="adj" fmla="val 13333"/>
            </a:avLst>
          </a:prstGeom>
          <a:solidFill>
            <a:schemeClr val="accent1"/>
          </a:solidFill>
          <a:ln w="12700">
            <a:solidFill>
              <a:schemeClr val="accent1"/>
            </a:solidFill>
            <a:prstDash val="solid"/>
          </a:ln>
        </p:spPr>
      </p:sp>
      <p:sp>
        <p:nvSpPr>
          <p:cNvPr id="13" name="Text 10"/>
          <p:cNvSpPr txBox="1"/>
          <p:nvPr/>
        </p:nvSpPr>
        <p:spPr>
          <a:xfrm>
            <a:off x="3236976" y="1188720"/>
            <a:ext cx="1188720" cy="685800"/>
          </a:xfrm>
          <a:prstGeom prst="rect">
            <a:avLst/>
          </a:prstGeom>
          <a:noFill/>
          <a:ln/>
        </p:spPr>
        <p:txBody>
          <a:bodyPr wrap="square" lIns="0" tIns="0" rIns="0" bIns="0" rtlCol="0" anchor="ctr"/>
          <a:lstStyle/>
          <a:p>
            <a:pPr marL="0" indent="0" algn="ctr">
              <a:buNone/>
            </a:pPr>
            <a:r>
              <a:rPr lang="en-US" sz="1400" b="1" dirty="0">
                <a:solidFill>
                  <a:schemeClr val="bg1"/>
                </a:solidFill>
              </a:rPr>
              <a:t>Adventures</a:t>
            </a:r>
            <a:endParaRPr lang="en-US" sz="1400" dirty="0"/>
          </a:p>
        </p:txBody>
      </p:sp>
      <p:sp>
        <p:nvSpPr>
          <p:cNvPr id="14" name="Text 11"/>
          <p:cNvSpPr txBox="1"/>
          <p:nvPr/>
        </p:nvSpPr>
        <p:spPr>
          <a:xfrm>
            <a:off x="4425696" y="1188720"/>
            <a:ext cx="201168" cy="685800"/>
          </a:xfrm>
          <a:prstGeom prst="rect">
            <a:avLst/>
          </a:prstGeom>
          <a:noFill/>
          <a:ln/>
        </p:spPr>
        <p:txBody>
          <a:bodyPr wrap="square" lIns="0" tIns="0" rIns="0" bIns="0" rtlCol="0" anchor="ctr"/>
          <a:lstStyle/>
          <a:p>
            <a:pPr marL="0" indent="0" algn="ctr">
              <a:buNone/>
            </a:pPr>
            <a:r>
              <a:rPr lang="en-US" sz="1800" b="1" dirty="0">
                <a:solidFill>
                  <a:schemeClr val="accent2"/>
                </a:solidFill>
              </a:rPr>
              <a:t>&gt;</a:t>
            </a:r>
            <a:endParaRPr lang="en-US" sz="1800" dirty="0"/>
          </a:p>
        </p:txBody>
      </p:sp>
      <p:sp>
        <p:nvSpPr>
          <p:cNvPr id="15" name="Flow step"/>
          <p:cNvSpPr/>
          <p:nvPr/>
        </p:nvSpPr>
        <p:spPr>
          <a:xfrm>
            <a:off x="4626864" y="1188720"/>
            <a:ext cx="1188720" cy="685800"/>
          </a:xfrm>
          <a:prstGeom prst="roundRect">
            <a:avLst>
              <a:gd name="adj" fmla="val 13333"/>
            </a:avLst>
          </a:prstGeom>
          <a:solidFill>
            <a:schemeClr val="accent1"/>
          </a:solidFill>
          <a:ln w="12700">
            <a:solidFill>
              <a:schemeClr val="accent1"/>
            </a:solidFill>
            <a:prstDash val="solid"/>
          </a:ln>
        </p:spPr>
      </p:sp>
      <p:sp>
        <p:nvSpPr>
          <p:cNvPr id="16" name="Text 13"/>
          <p:cNvSpPr txBox="1"/>
          <p:nvPr/>
        </p:nvSpPr>
        <p:spPr>
          <a:xfrm>
            <a:off x="4626864" y="1188720"/>
            <a:ext cx="1188720" cy="685800"/>
          </a:xfrm>
          <a:prstGeom prst="rect">
            <a:avLst/>
          </a:prstGeom>
          <a:noFill/>
          <a:ln/>
        </p:spPr>
        <p:txBody>
          <a:bodyPr wrap="square" lIns="0" tIns="0" rIns="0" bIns="0" rtlCol="0" anchor="ctr"/>
          <a:lstStyle/>
          <a:p>
            <a:pPr marL="0" indent="0" algn="ctr">
              <a:buNone/>
            </a:pPr>
            <a:r>
              <a:rPr lang="en-US" sz="1400" b="1" dirty="0">
                <a:solidFill>
                  <a:schemeClr val="bg1"/>
                </a:solidFill>
              </a:rPr>
              <a:t>Overview</a:t>
            </a:r>
            <a:endParaRPr lang="en-US" sz="1400" dirty="0"/>
          </a:p>
        </p:txBody>
      </p:sp>
      <p:sp>
        <p:nvSpPr>
          <p:cNvPr id="17" name="Text 14"/>
          <p:cNvSpPr txBox="1"/>
          <p:nvPr/>
        </p:nvSpPr>
        <p:spPr>
          <a:xfrm>
            <a:off x="5815584" y="1188720"/>
            <a:ext cx="201168" cy="685800"/>
          </a:xfrm>
          <a:prstGeom prst="rect">
            <a:avLst/>
          </a:prstGeom>
          <a:noFill/>
          <a:ln/>
        </p:spPr>
        <p:txBody>
          <a:bodyPr wrap="square" lIns="0" tIns="0" rIns="0" bIns="0" rtlCol="0" anchor="ctr"/>
          <a:lstStyle/>
          <a:p>
            <a:pPr marL="0" indent="0" algn="ctr">
              <a:buNone/>
            </a:pPr>
            <a:r>
              <a:rPr lang="en-US" sz="1800" b="1" dirty="0">
                <a:solidFill>
                  <a:schemeClr val="accent2"/>
                </a:solidFill>
              </a:rPr>
              <a:t>&gt;</a:t>
            </a:r>
            <a:endParaRPr lang="en-US" sz="1800" dirty="0"/>
          </a:p>
        </p:txBody>
      </p:sp>
      <p:sp>
        <p:nvSpPr>
          <p:cNvPr id="18" name="Flow step"/>
          <p:cNvSpPr/>
          <p:nvPr/>
        </p:nvSpPr>
        <p:spPr>
          <a:xfrm>
            <a:off x="6016752" y="1188720"/>
            <a:ext cx="1188720" cy="685800"/>
          </a:xfrm>
          <a:prstGeom prst="roundRect">
            <a:avLst>
              <a:gd name="adj" fmla="val 13333"/>
            </a:avLst>
          </a:prstGeom>
          <a:solidFill>
            <a:schemeClr val="accent1"/>
          </a:solidFill>
          <a:ln w="12700">
            <a:solidFill>
              <a:schemeClr val="accent1"/>
            </a:solidFill>
            <a:prstDash val="solid"/>
          </a:ln>
        </p:spPr>
      </p:sp>
      <p:sp>
        <p:nvSpPr>
          <p:cNvPr id="19" name="Text 16"/>
          <p:cNvSpPr txBox="1"/>
          <p:nvPr/>
        </p:nvSpPr>
        <p:spPr>
          <a:xfrm>
            <a:off x="6016752" y="1188720"/>
            <a:ext cx="1188720" cy="685800"/>
          </a:xfrm>
          <a:prstGeom prst="rect">
            <a:avLst/>
          </a:prstGeom>
          <a:noFill/>
          <a:ln/>
        </p:spPr>
        <p:txBody>
          <a:bodyPr wrap="square" lIns="0" tIns="0" rIns="0" bIns="0" rtlCol="0" anchor="ctr"/>
          <a:lstStyle/>
          <a:p>
            <a:pPr marL="0" indent="0" algn="ctr">
              <a:buNone/>
            </a:pPr>
            <a:r>
              <a:rPr lang="en-US" sz="1400" b="1" dirty="0">
                <a:solidFill>
                  <a:schemeClr val="bg1"/>
                </a:solidFill>
              </a:rPr>
              <a:t>Quote</a:t>
            </a:r>
            <a:endParaRPr lang="en-US" sz="1400" dirty="0"/>
          </a:p>
        </p:txBody>
      </p:sp>
      <p:sp>
        <p:nvSpPr>
          <p:cNvPr id="20" name="Text 17"/>
          <p:cNvSpPr txBox="1"/>
          <p:nvPr/>
        </p:nvSpPr>
        <p:spPr>
          <a:xfrm>
            <a:off x="7205472" y="1188720"/>
            <a:ext cx="201168" cy="685800"/>
          </a:xfrm>
          <a:prstGeom prst="rect">
            <a:avLst/>
          </a:prstGeom>
          <a:noFill/>
          <a:ln/>
        </p:spPr>
        <p:txBody>
          <a:bodyPr wrap="square" lIns="0" tIns="0" rIns="0" bIns="0" rtlCol="0" anchor="ctr"/>
          <a:lstStyle/>
          <a:p>
            <a:pPr marL="0" indent="0" algn="ctr">
              <a:buNone/>
            </a:pPr>
            <a:r>
              <a:rPr lang="en-US" sz="1800" b="1" dirty="0">
                <a:solidFill>
                  <a:schemeClr val="accent2"/>
                </a:solidFill>
              </a:rPr>
              <a:t>&gt;</a:t>
            </a:r>
            <a:endParaRPr lang="en-US" sz="1800" dirty="0"/>
          </a:p>
        </p:txBody>
      </p:sp>
      <p:sp>
        <p:nvSpPr>
          <p:cNvPr id="21" name="Flow step"/>
          <p:cNvSpPr/>
          <p:nvPr/>
        </p:nvSpPr>
        <p:spPr>
          <a:xfrm>
            <a:off x="7406640" y="1188720"/>
            <a:ext cx="1188720" cy="685800"/>
          </a:xfrm>
          <a:prstGeom prst="roundRect">
            <a:avLst>
              <a:gd name="adj" fmla="val 13333"/>
            </a:avLst>
          </a:prstGeom>
          <a:solidFill>
            <a:schemeClr val="accent2"/>
          </a:solidFill>
          <a:ln w="12700">
            <a:solidFill>
              <a:schemeClr val="accent2"/>
            </a:solidFill>
            <a:prstDash val="solid"/>
          </a:ln>
        </p:spPr>
      </p:sp>
      <p:sp>
        <p:nvSpPr>
          <p:cNvPr id="22" name="Text 19"/>
          <p:cNvSpPr txBox="1"/>
          <p:nvPr/>
        </p:nvSpPr>
        <p:spPr>
          <a:xfrm>
            <a:off x="7406640" y="1188720"/>
            <a:ext cx="1188720" cy="685800"/>
          </a:xfrm>
          <a:prstGeom prst="rect">
            <a:avLst/>
          </a:prstGeom>
          <a:noFill/>
          <a:ln/>
        </p:spPr>
        <p:txBody>
          <a:bodyPr wrap="square" lIns="0" tIns="0" rIns="0" bIns="0" rtlCol="0" anchor="ctr"/>
          <a:lstStyle/>
          <a:p>
            <a:pPr marL="0" indent="0" algn="ctr">
              <a:buNone/>
            </a:pPr>
            <a:r>
              <a:rPr lang="en-US" sz="1400" b="1" dirty="0">
                <a:solidFill>
                  <a:schemeClr val="bg1"/>
                </a:solidFill>
              </a:rPr>
              <a:t>Payment</a:t>
            </a:r>
            <a:endParaRPr lang="en-US" sz="1400" dirty="0"/>
          </a:p>
        </p:txBody>
      </p:sp>
      <p:sp>
        <p:nvSpPr>
          <p:cNvPr id="23" name="Card"/>
          <p:cNvSpPr/>
          <p:nvPr/>
        </p:nvSpPr>
        <p:spPr>
          <a:xfrm>
            <a:off x="457200" y="2194560"/>
            <a:ext cx="8229600" cy="2468880"/>
          </a:xfrm>
          <a:prstGeom prst="roundRect">
            <a:avLst>
              <a:gd name="adj" fmla="val 2963"/>
            </a:avLst>
          </a:prstGeom>
          <a:solidFill>
            <a:schemeClr val="bg1"/>
          </a:solidFill>
          <a:ln w="12700">
            <a:solidFill>
              <a:srgbClr val="D9CBB5"/>
            </a:solidFill>
            <a:prstDash val="solid"/>
          </a:ln>
        </p:spPr>
      </p:sp>
      <p:sp>
        <p:nvSpPr>
          <p:cNvPr id="24" name="Text 21"/>
          <p:cNvSpPr txBox="1"/>
          <p:nvPr/>
        </p:nvSpPr>
        <p:spPr>
          <a:xfrm>
            <a:off x="731520" y="2331720"/>
            <a:ext cx="7680960" cy="2194560"/>
          </a:xfrm>
          <a:prstGeom prst="rect">
            <a:avLst/>
          </a:prstGeom>
          <a:noFill/>
          <a:ln/>
        </p:spPr>
        <p:txBody>
          <a:bodyPr wrap="square" rtlCol="0" anchor="t"/>
          <a:lstStyle/>
          <a:p>
            <a:pPr marL="342900" indent="-342900">
              <a:spcAft>
                <a:spcPts val="900"/>
              </a:spcAft>
              <a:buSzPct val="100000"/>
              <a:buChar char="•"/>
            </a:pPr>
            <a:r>
              <a:rPr lang="en-US" sz="1500" dirty="0">
                <a:solidFill>
                  <a:schemeClr val="tx1"/>
                </a:solidFill>
              </a:rPr>
              <a:t>Choose adventures and add them to a quote</a:t>
            </a:r>
            <a:endParaRPr lang="en-US" sz="1500" dirty="0"/>
          </a:p>
          <a:p>
            <a:pPr marL="342900" indent="-342900">
              <a:spcAft>
                <a:spcPts val="900"/>
              </a:spcAft>
              <a:buSzPct val="100000"/>
              <a:buChar char="•"/>
            </a:pPr>
            <a:r>
              <a:rPr lang="en-US" sz="1500" dirty="0">
                <a:solidFill>
                  <a:schemeClr val="tx1"/>
                </a:solidFill>
              </a:rPr>
              <a:t>Discount is worked out from the number of bookings: 2 bookings 5%, 3 bookings 10%, more than 3 bookings 15%</a:t>
            </a:r>
            <a:endParaRPr lang="en-US" sz="1500" dirty="0"/>
          </a:p>
          <a:p>
            <a:pPr marL="342900" indent="-342900">
              <a:spcAft>
                <a:spcPts val="900"/>
              </a:spcAft>
              <a:buSzPct val="100000"/>
              <a:buChar char="•"/>
            </a:pPr>
            <a:r>
              <a:rPr lang="en-US" sz="1500" dirty="0">
                <a:solidFill>
                  <a:schemeClr val="tx1"/>
                </a:solidFill>
              </a:rPr>
              <a:t>Example: two R1 500 packages = R3 000, minus R150 (5%) = R2 850</a:t>
            </a:r>
            <a:endParaRPr lang="en-US" sz="1500" dirty="0"/>
          </a:p>
          <a:p>
            <a:pPr marL="342900" indent="-342900">
              <a:spcAft>
                <a:spcPts val="900"/>
              </a:spcAft>
              <a:buSzPct val="100000"/>
              <a:buChar char="•"/>
            </a:pPr>
            <a:r>
              <a:rPr lang="en-US" sz="1500" dirty="0">
                <a:solidFill>
                  <a:schemeClr val="tx1"/>
                </a:solidFill>
              </a:rPr>
              <a:t>Sample payment, reviews, map and directions, and account screens are also included</a:t>
            </a:r>
            <a:endParaRPr lang="en-US" sz="1500" dirty="0"/>
          </a:p>
        </p:txBody>
      </p:sp>
      <p:sp>
        <p:nvSpPr>
          <p:cNvPr id="25" name="Slide Number Placeholder 0"/>
          <p:cNvSpPr>
            <a:spLocks noGrp="1"/>
          </p:cNvSpPr>
          <p:nvPr>
            <p:ph type="sldNum" sz="quarter" idx="4294967295"/>
          </p:nvPr>
        </p:nvSpPr>
        <p:spPr>
          <a:xfrm>
            <a:off x="841248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tx2"/>
                </a:solidFill>
              </a:defRPr>
            </a:lvl1pPr>
          </a:lstStyle>
          <a:p>
            <a:pPr algn="l"/>
            <a:fld id="{F7021451-1387-4CA6-816F-3879F97B5CBC}" type="slidenum">
              <a:rPr lang="en-US" b="0"/>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28600"/>
            <a:ext cx="6675120" cy="594360"/>
          </a:xfrm>
          <a:prstGeom prst="rect">
            <a:avLst/>
          </a:prstGeom>
          <a:noFill/>
          <a:ln/>
        </p:spPr>
        <p:txBody>
          <a:bodyPr wrap="square" lIns="0" tIns="0" rIns="0" bIns="0" rtlCol="0" anchor="ctr"/>
          <a:lstStyle/>
          <a:p>
            <a:pPr marL="0" indent="0">
              <a:buNone/>
            </a:pPr>
            <a:r>
              <a:rPr lang="en-US" sz="2600" b="1" dirty="0">
                <a:solidFill>
                  <a:schemeClr val="tx2"/>
                </a:solidFill>
                <a:latin typeface="Georgia" pitchFamily="34" charset="0"/>
                <a:ea typeface="Georgia" pitchFamily="34" charset="-122"/>
                <a:cs typeface="Georgia" pitchFamily="34" charset="-120"/>
              </a:rPr>
              <a:t>Our team</a:t>
            </a:r>
            <a:endParaRPr lang="en-US" sz="2600" dirty="0"/>
          </a:p>
        </p:txBody>
      </p:sp>
      <p:sp>
        <p:nvSpPr>
          <p:cNvPr id="4" name="Card"/>
          <p:cNvSpPr/>
          <p:nvPr/>
        </p:nvSpPr>
        <p:spPr>
          <a:xfrm>
            <a:off x="457200" y="1051560"/>
            <a:ext cx="2651760" cy="2743200"/>
          </a:xfrm>
          <a:prstGeom prst="roundRect">
            <a:avLst>
              <a:gd name="adj" fmla="val 2759"/>
            </a:avLst>
          </a:prstGeom>
          <a:solidFill>
            <a:schemeClr val="bg1"/>
          </a:solidFill>
          <a:ln w="12700">
            <a:solidFill>
              <a:srgbClr val="D9CBB5"/>
            </a:solidFill>
            <a:prstDash val="solid"/>
          </a:ln>
        </p:spPr>
      </p:sp>
      <p:sp>
        <p:nvSpPr>
          <p:cNvPr id="5" name="Initial badge"/>
          <p:cNvSpPr/>
          <p:nvPr/>
        </p:nvSpPr>
        <p:spPr>
          <a:xfrm>
            <a:off x="594360" y="1188720"/>
            <a:ext cx="502920" cy="502920"/>
          </a:xfrm>
          <a:prstGeom prst="ellipse">
            <a:avLst/>
          </a:prstGeom>
          <a:solidFill>
            <a:schemeClr val="accent2"/>
          </a:solidFill>
          <a:ln w="12700">
            <a:solidFill>
              <a:schemeClr val="accent2"/>
            </a:solidFill>
            <a:prstDash val="solid"/>
          </a:ln>
        </p:spPr>
      </p:sp>
      <p:sp>
        <p:nvSpPr>
          <p:cNvPr id="6" name="Text 3"/>
          <p:cNvSpPr txBox="1"/>
          <p:nvPr/>
        </p:nvSpPr>
        <p:spPr>
          <a:xfrm>
            <a:off x="594360" y="1188720"/>
            <a:ext cx="502920" cy="502920"/>
          </a:xfrm>
          <a:prstGeom prst="rect">
            <a:avLst/>
          </a:prstGeom>
          <a:noFill/>
          <a:ln/>
        </p:spPr>
        <p:txBody>
          <a:bodyPr wrap="square" lIns="0" tIns="0" rIns="0" bIns="0" rtlCol="0" anchor="ctr"/>
          <a:lstStyle/>
          <a:p>
            <a:pPr marL="0" indent="0" algn="ctr">
              <a:buNone/>
            </a:pPr>
            <a:r>
              <a:rPr lang="en-US" sz="2000" b="1" dirty="0">
                <a:solidFill>
                  <a:schemeClr val="bg1"/>
                </a:solidFill>
                <a:latin typeface="Georgia" pitchFamily="34" charset="0"/>
                <a:ea typeface="Georgia" pitchFamily="34" charset="-122"/>
                <a:cs typeface="Georgia" pitchFamily="34" charset="-120"/>
              </a:rPr>
              <a:t>R</a:t>
            </a:r>
            <a:endParaRPr lang="en-US" sz="2000" dirty="0"/>
          </a:p>
        </p:txBody>
      </p:sp>
      <p:sp>
        <p:nvSpPr>
          <p:cNvPr id="7" name="Text 4"/>
          <p:cNvSpPr txBox="1"/>
          <p:nvPr/>
        </p:nvSpPr>
        <p:spPr>
          <a:xfrm>
            <a:off x="1188720" y="1188720"/>
            <a:ext cx="1828800" cy="502920"/>
          </a:xfrm>
          <a:prstGeom prst="rect">
            <a:avLst/>
          </a:prstGeom>
          <a:noFill/>
          <a:ln/>
        </p:spPr>
        <p:txBody>
          <a:bodyPr wrap="square" lIns="0" tIns="0" rIns="0" bIns="0" rtlCol="0" anchor="ctr"/>
          <a:lstStyle/>
          <a:p>
            <a:pPr marL="0" indent="0">
              <a:buNone/>
            </a:pPr>
            <a:r>
              <a:rPr lang="en-US" sz="1800" b="1" dirty="0">
                <a:solidFill>
                  <a:schemeClr val="tx2"/>
                </a:solidFill>
                <a:latin typeface="Georgia" pitchFamily="34" charset="0"/>
                <a:ea typeface="Georgia" pitchFamily="34" charset="-122"/>
                <a:cs typeface="Georgia" pitchFamily="34" charset="-120"/>
              </a:rPr>
              <a:t>Rayan</a:t>
            </a:r>
            <a:endParaRPr lang="en-US" sz="1800" dirty="0"/>
          </a:p>
        </p:txBody>
      </p:sp>
      <p:sp>
        <p:nvSpPr>
          <p:cNvPr id="8" name="Text 5"/>
          <p:cNvSpPr txBox="1"/>
          <p:nvPr/>
        </p:nvSpPr>
        <p:spPr>
          <a:xfrm>
            <a:off x="594360" y="1874520"/>
            <a:ext cx="2377440" cy="2560320"/>
          </a:xfrm>
          <a:prstGeom prst="rect">
            <a:avLst/>
          </a:prstGeom>
          <a:noFill/>
          <a:ln/>
        </p:spPr>
        <p:txBody>
          <a:bodyPr wrap="square" lIns="0" tIns="0" rIns="0" bIns="0" rtlCol="0" anchor="t"/>
          <a:lstStyle/>
          <a:p>
            <a:pPr marL="342900" indent="-342900">
              <a:spcAft>
                <a:spcPts val="800"/>
              </a:spcAft>
              <a:buSzPct val="100000"/>
              <a:buChar char="•"/>
            </a:pPr>
            <a:r>
              <a:rPr lang="en-US" sz="1350" dirty="0">
                <a:solidFill>
                  <a:schemeClr val="tx1"/>
                </a:solidFill>
              </a:rPr>
              <a:t>Researched the scenario</a:t>
            </a:r>
            <a:endParaRPr lang="en-US" sz="1350" dirty="0"/>
          </a:p>
          <a:p>
            <a:pPr marL="342900" indent="-342900">
              <a:spcAft>
                <a:spcPts val="800"/>
              </a:spcAft>
              <a:buSzPct val="100000"/>
              <a:buChar char="•"/>
            </a:pPr>
            <a:r>
              <a:rPr lang="en-US" sz="1350" dirty="0">
                <a:solidFill>
                  <a:schemeClr val="tx1"/>
                </a:solidFill>
              </a:rPr>
              <a:t>Decided on the best design</a:t>
            </a:r>
            <a:endParaRPr lang="en-US" sz="1350" dirty="0"/>
          </a:p>
          <a:p>
            <a:pPr marL="342900" indent="-342900">
              <a:spcAft>
                <a:spcPts val="800"/>
              </a:spcAft>
              <a:buSzPct val="100000"/>
              <a:buChar char="•"/>
            </a:pPr>
            <a:r>
              <a:rPr lang="en-US" sz="1350" dirty="0">
                <a:solidFill>
                  <a:schemeClr val="tx1"/>
                </a:solidFill>
              </a:rPr>
              <a:t>Wrote and managed the project documents</a:t>
            </a:r>
            <a:endParaRPr lang="en-US" sz="1350" dirty="0"/>
          </a:p>
        </p:txBody>
      </p:sp>
      <p:sp>
        <p:nvSpPr>
          <p:cNvPr id="9" name="Card"/>
          <p:cNvSpPr/>
          <p:nvPr/>
        </p:nvSpPr>
        <p:spPr>
          <a:xfrm>
            <a:off x="3264408" y="1051560"/>
            <a:ext cx="2651760" cy="2743200"/>
          </a:xfrm>
          <a:prstGeom prst="roundRect">
            <a:avLst>
              <a:gd name="adj" fmla="val 2759"/>
            </a:avLst>
          </a:prstGeom>
          <a:solidFill>
            <a:schemeClr val="bg1"/>
          </a:solidFill>
          <a:ln w="12700">
            <a:solidFill>
              <a:srgbClr val="D9CBB5"/>
            </a:solidFill>
            <a:prstDash val="solid"/>
          </a:ln>
        </p:spPr>
      </p:sp>
      <p:sp>
        <p:nvSpPr>
          <p:cNvPr id="10" name="Initial badge"/>
          <p:cNvSpPr/>
          <p:nvPr/>
        </p:nvSpPr>
        <p:spPr>
          <a:xfrm>
            <a:off x="3401568" y="1188720"/>
            <a:ext cx="502920" cy="502920"/>
          </a:xfrm>
          <a:prstGeom prst="ellipse">
            <a:avLst/>
          </a:prstGeom>
          <a:solidFill>
            <a:schemeClr val="accent2"/>
          </a:solidFill>
          <a:ln w="12700">
            <a:solidFill>
              <a:schemeClr val="accent2"/>
            </a:solidFill>
            <a:prstDash val="solid"/>
          </a:ln>
        </p:spPr>
      </p:sp>
      <p:sp>
        <p:nvSpPr>
          <p:cNvPr id="11" name="Text 8"/>
          <p:cNvSpPr txBox="1"/>
          <p:nvPr/>
        </p:nvSpPr>
        <p:spPr>
          <a:xfrm>
            <a:off x="3401568" y="1188720"/>
            <a:ext cx="502920" cy="502920"/>
          </a:xfrm>
          <a:prstGeom prst="rect">
            <a:avLst/>
          </a:prstGeom>
          <a:noFill/>
          <a:ln/>
        </p:spPr>
        <p:txBody>
          <a:bodyPr wrap="square" lIns="0" tIns="0" rIns="0" bIns="0" rtlCol="0" anchor="ctr"/>
          <a:lstStyle/>
          <a:p>
            <a:pPr marL="0" indent="0" algn="ctr">
              <a:buNone/>
            </a:pPr>
            <a:r>
              <a:rPr lang="en-US" sz="2000" b="1" dirty="0">
                <a:solidFill>
                  <a:schemeClr val="bg1"/>
                </a:solidFill>
                <a:latin typeface="Georgia" pitchFamily="34" charset="0"/>
                <a:ea typeface="Georgia" pitchFamily="34" charset="-122"/>
                <a:cs typeface="Georgia" pitchFamily="34" charset="-120"/>
              </a:rPr>
              <a:t>I</a:t>
            </a:r>
            <a:endParaRPr lang="en-US" sz="2000" dirty="0"/>
          </a:p>
        </p:txBody>
      </p:sp>
      <p:sp>
        <p:nvSpPr>
          <p:cNvPr id="12" name="Text 9"/>
          <p:cNvSpPr txBox="1"/>
          <p:nvPr/>
        </p:nvSpPr>
        <p:spPr>
          <a:xfrm>
            <a:off x="3995928" y="1188720"/>
            <a:ext cx="1828800" cy="502920"/>
          </a:xfrm>
          <a:prstGeom prst="rect">
            <a:avLst/>
          </a:prstGeom>
          <a:noFill/>
          <a:ln/>
        </p:spPr>
        <p:txBody>
          <a:bodyPr wrap="square" lIns="0" tIns="0" rIns="0" bIns="0" rtlCol="0" anchor="ctr"/>
          <a:lstStyle/>
          <a:p>
            <a:pPr marL="0" indent="0">
              <a:buNone/>
            </a:pPr>
            <a:r>
              <a:rPr lang="en-US" sz="1800" b="1" dirty="0">
                <a:solidFill>
                  <a:schemeClr val="tx2"/>
                </a:solidFill>
                <a:latin typeface="Georgia" pitchFamily="34" charset="0"/>
                <a:ea typeface="Georgia" pitchFamily="34" charset="-122"/>
                <a:cs typeface="Georgia" pitchFamily="34" charset="-120"/>
              </a:rPr>
              <a:t>Itumeleng</a:t>
            </a:r>
            <a:endParaRPr lang="en-US" sz="1800" dirty="0"/>
          </a:p>
        </p:txBody>
      </p:sp>
      <p:sp>
        <p:nvSpPr>
          <p:cNvPr id="13" name="Text 10"/>
          <p:cNvSpPr txBox="1"/>
          <p:nvPr/>
        </p:nvSpPr>
        <p:spPr>
          <a:xfrm>
            <a:off x="3401568" y="1874520"/>
            <a:ext cx="2377440" cy="2560320"/>
          </a:xfrm>
          <a:prstGeom prst="rect">
            <a:avLst/>
          </a:prstGeom>
          <a:noFill/>
          <a:ln/>
        </p:spPr>
        <p:txBody>
          <a:bodyPr wrap="square" lIns="0" tIns="0" rIns="0" bIns="0" rtlCol="0" anchor="t"/>
          <a:lstStyle/>
          <a:p>
            <a:pPr marL="342900" indent="-342900">
              <a:spcAft>
                <a:spcPts val="800"/>
              </a:spcAft>
              <a:buSzPct val="100000"/>
              <a:buChar char="•"/>
            </a:pPr>
            <a:r>
              <a:rPr lang="en-US" sz="1350" dirty="0">
                <a:solidFill>
                  <a:schemeClr val="tx1"/>
                </a:solidFill>
              </a:rPr>
              <a:t>Notes and group decisions</a:t>
            </a:r>
            <a:endParaRPr lang="en-US" sz="1350" dirty="0"/>
          </a:p>
          <a:p>
            <a:pPr marL="342900" indent="-342900">
              <a:spcAft>
                <a:spcPts val="800"/>
              </a:spcAft>
              <a:buSzPct val="100000"/>
              <a:buChar char="•"/>
            </a:pPr>
            <a:r>
              <a:rPr lang="en-US" sz="1350" dirty="0">
                <a:solidFill>
                  <a:schemeClr val="tx1"/>
                </a:solidFill>
              </a:rPr>
              <a:t>Researched navigation, layout, responsive and UI design</a:t>
            </a:r>
            <a:endParaRPr lang="en-US" sz="1350" dirty="0"/>
          </a:p>
          <a:p>
            <a:pPr marL="342900" indent="-342900">
              <a:spcAft>
                <a:spcPts val="800"/>
              </a:spcAft>
              <a:buSzPct val="100000"/>
              <a:buChar char="•"/>
            </a:pPr>
            <a:r>
              <a:rPr lang="en-US" sz="1350" dirty="0">
                <a:solidFill>
                  <a:schemeClr val="tx1"/>
                </a:solidFill>
              </a:rPr>
              <a:t>Built 6 mobile wireframes, chose the tools</a:t>
            </a:r>
            <a:endParaRPr lang="en-US" sz="1350" dirty="0"/>
          </a:p>
        </p:txBody>
      </p:sp>
      <p:sp>
        <p:nvSpPr>
          <p:cNvPr id="14" name="Card"/>
          <p:cNvSpPr/>
          <p:nvPr/>
        </p:nvSpPr>
        <p:spPr>
          <a:xfrm>
            <a:off x="6071616" y="1051560"/>
            <a:ext cx="2651760" cy="2743200"/>
          </a:xfrm>
          <a:prstGeom prst="roundRect">
            <a:avLst>
              <a:gd name="adj" fmla="val 2759"/>
            </a:avLst>
          </a:prstGeom>
          <a:solidFill>
            <a:schemeClr val="bg1"/>
          </a:solidFill>
          <a:ln w="12700">
            <a:solidFill>
              <a:srgbClr val="D9CBB5"/>
            </a:solidFill>
            <a:prstDash val="solid"/>
          </a:ln>
        </p:spPr>
      </p:sp>
      <p:sp>
        <p:nvSpPr>
          <p:cNvPr id="15" name="Initial badge"/>
          <p:cNvSpPr/>
          <p:nvPr/>
        </p:nvSpPr>
        <p:spPr>
          <a:xfrm>
            <a:off x="6208776" y="1188720"/>
            <a:ext cx="502920" cy="502920"/>
          </a:xfrm>
          <a:prstGeom prst="ellipse">
            <a:avLst/>
          </a:prstGeom>
          <a:solidFill>
            <a:schemeClr val="accent2"/>
          </a:solidFill>
          <a:ln w="12700">
            <a:solidFill>
              <a:schemeClr val="accent2"/>
            </a:solidFill>
            <a:prstDash val="solid"/>
          </a:ln>
        </p:spPr>
      </p:sp>
      <p:sp>
        <p:nvSpPr>
          <p:cNvPr id="16" name="Text 13"/>
          <p:cNvSpPr txBox="1"/>
          <p:nvPr/>
        </p:nvSpPr>
        <p:spPr>
          <a:xfrm>
            <a:off x="6208776" y="1188720"/>
            <a:ext cx="502920" cy="502920"/>
          </a:xfrm>
          <a:prstGeom prst="rect">
            <a:avLst/>
          </a:prstGeom>
          <a:noFill/>
          <a:ln/>
        </p:spPr>
        <p:txBody>
          <a:bodyPr wrap="square" lIns="0" tIns="0" rIns="0" bIns="0" rtlCol="0" anchor="ctr"/>
          <a:lstStyle/>
          <a:p>
            <a:pPr marL="0" indent="0" algn="ctr">
              <a:buNone/>
            </a:pPr>
            <a:r>
              <a:rPr lang="en-US" sz="2000" b="1" dirty="0">
                <a:solidFill>
                  <a:schemeClr val="bg1"/>
                </a:solidFill>
                <a:latin typeface="Georgia" pitchFamily="34" charset="0"/>
                <a:ea typeface="Georgia" pitchFamily="34" charset="-122"/>
                <a:cs typeface="Georgia" pitchFamily="34" charset="-120"/>
              </a:rPr>
              <a:t>A</a:t>
            </a:r>
            <a:endParaRPr lang="en-US" sz="2000" dirty="0"/>
          </a:p>
        </p:txBody>
      </p:sp>
      <p:sp>
        <p:nvSpPr>
          <p:cNvPr id="17" name="Text 14"/>
          <p:cNvSpPr txBox="1"/>
          <p:nvPr/>
        </p:nvSpPr>
        <p:spPr>
          <a:xfrm>
            <a:off x="6803136" y="1188720"/>
            <a:ext cx="1828800" cy="502920"/>
          </a:xfrm>
          <a:prstGeom prst="rect">
            <a:avLst/>
          </a:prstGeom>
          <a:noFill/>
          <a:ln/>
        </p:spPr>
        <p:txBody>
          <a:bodyPr wrap="square" lIns="0" tIns="0" rIns="0" bIns="0" rtlCol="0" anchor="ctr"/>
          <a:lstStyle/>
          <a:p>
            <a:pPr marL="0" indent="0">
              <a:buNone/>
            </a:pPr>
            <a:r>
              <a:rPr lang="en-US" sz="1800" b="1" dirty="0">
                <a:solidFill>
                  <a:schemeClr val="tx2"/>
                </a:solidFill>
                <a:latin typeface="Georgia" pitchFamily="34" charset="0"/>
                <a:ea typeface="Georgia" pitchFamily="34" charset="-122"/>
                <a:cs typeface="Georgia" pitchFamily="34" charset="-120"/>
              </a:rPr>
              <a:t>Asukia</a:t>
            </a:r>
            <a:endParaRPr lang="en-US" sz="1800" dirty="0"/>
          </a:p>
        </p:txBody>
      </p:sp>
      <p:sp>
        <p:nvSpPr>
          <p:cNvPr id="18" name="Text 15"/>
          <p:cNvSpPr txBox="1"/>
          <p:nvPr/>
        </p:nvSpPr>
        <p:spPr>
          <a:xfrm>
            <a:off x="6208776" y="1874520"/>
            <a:ext cx="2377440" cy="2560320"/>
          </a:xfrm>
          <a:prstGeom prst="rect">
            <a:avLst/>
          </a:prstGeom>
          <a:noFill/>
          <a:ln/>
        </p:spPr>
        <p:txBody>
          <a:bodyPr wrap="square" lIns="0" tIns="0" rIns="0" bIns="0" rtlCol="0" anchor="t"/>
          <a:lstStyle/>
          <a:p>
            <a:pPr marL="342900" indent="-342900">
              <a:spcAft>
                <a:spcPts val="800"/>
              </a:spcAft>
              <a:buSzPct val="100000"/>
              <a:buChar char="•"/>
            </a:pPr>
            <a:r>
              <a:rPr lang="en-US" sz="1350" dirty="0">
                <a:solidFill>
                  <a:schemeClr val="tx1"/>
                </a:solidFill>
              </a:rPr>
              <a:t>Researched website and app design ideas</a:t>
            </a:r>
            <a:endParaRPr lang="en-US" sz="1350" dirty="0"/>
          </a:p>
          <a:p>
            <a:pPr marL="342900" indent="-342900">
              <a:spcAft>
                <a:spcPts val="800"/>
              </a:spcAft>
              <a:buSzPct val="100000"/>
              <a:buChar char="•"/>
            </a:pPr>
            <a:r>
              <a:rPr lang="en-US" sz="1350" dirty="0">
                <a:solidFill>
                  <a:schemeClr val="tx1"/>
                </a:solidFill>
              </a:rPr>
              <a:t>Logo design and colour palette</a:t>
            </a:r>
            <a:endParaRPr lang="en-US" sz="1350" dirty="0"/>
          </a:p>
          <a:p>
            <a:pPr marL="342900" indent="-342900">
              <a:spcAft>
                <a:spcPts val="800"/>
              </a:spcAft>
              <a:buSzPct val="100000"/>
              <a:buChar char="•"/>
            </a:pPr>
            <a:r>
              <a:rPr lang="en-US" sz="1350" dirty="0">
                <a:solidFill>
                  <a:schemeClr val="tx1"/>
                </a:solidFill>
              </a:rPr>
              <a:t>Built 6 website wireframes, managed the Figma link</a:t>
            </a:r>
            <a:endParaRPr lang="en-US" sz="1350" dirty="0"/>
          </a:p>
        </p:txBody>
      </p:sp>
      <p:sp>
        <p:nvSpPr>
          <p:cNvPr id="25" name="Slide Number Placeholder 0"/>
          <p:cNvSpPr>
            <a:spLocks noGrp="1"/>
          </p:cNvSpPr>
          <p:nvPr>
            <p:ph type="sldNum" sz="quarter" idx="4294967295"/>
          </p:nvPr>
        </p:nvSpPr>
        <p:spPr>
          <a:xfrm>
            <a:off x="841248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tx2"/>
                </a:solidFill>
              </a:defRPr>
            </a:lvl1pPr>
          </a:lstStyle>
          <a:p>
            <a:pPr algn="l"/>
            <a:fld id="{F7021451-1387-4CA6-816F-3879F97B5CBC}" type="slidenum">
              <a:rPr lang="en-US" b="0"/>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pic>
        <p:nvPicPr>
          <p:cNvPr id="2" name="Image 0" descr="Adventure Escape SA logo"/>
          <p:cNvPicPr>
            <a:picLocks noChangeAspect="1"/>
          </p:cNvPicPr>
          <p:nvPr/>
        </p:nvPicPr>
        <p:blipFill>
          <a:blip r:embed="rId3"/>
          <a:stretch>
            <a:fillRect/>
          </a:stretch>
        </p:blipFill>
        <p:spPr>
          <a:xfrm>
            <a:off x="6675120" y="1097280"/>
            <a:ext cx="1920240" cy="1920240"/>
          </a:xfrm>
          <a:prstGeom prst="rect">
            <a:avLst/>
          </a:prstGeom>
        </p:spPr>
      </p:pic>
      <p:sp>
        <p:nvSpPr>
          <p:cNvPr id="3" name="Text 0"/>
          <p:cNvSpPr>
            <a:spLocks noGrp="1"/>
          </p:cNvSpPr>
          <p:nvPr>
            <p:ph type="title" idx="100" hasCustomPrompt="1"/>
          </p:nvPr>
        </p:nvSpPr>
        <p:spPr>
          <a:xfrm>
            <a:off x="548640" y="1097280"/>
            <a:ext cx="5760720" cy="1280160"/>
          </a:xfrm>
          <a:prstGeom prst="rect">
            <a:avLst/>
          </a:prstGeom>
          <a:noFill/>
          <a:ln/>
        </p:spPr>
        <p:txBody>
          <a:bodyPr wrap="square" lIns="0" tIns="0" rIns="0" bIns="0" rtlCol="0" anchor="t"/>
          <a:lstStyle/>
          <a:p>
            <a:pPr marL="0" indent="0">
              <a:buNone/>
            </a:pPr>
            <a:r>
              <a:rPr lang="en-US" sz="3600" b="1" dirty="0">
                <a:solidFill>
                  <a:schemeClr val="bg1"/>
                </a:solidFill>
                <a:latin typeface="Georgia" pitchFamily="34" charset="0"/>
                <a:ea typeface="Georgia" pitchFamily="34" charset="-122"/>
                <a:cs typeface="Georgia" pitchFamily="34" charset="-120"/>
              </a:rPr>
              <a:t>Thank you</a:t>
            </a:r>
            <a:endParaRPr lang="en-US" sz="3600" dirty="0"/>
          </a:p>
        </p:txBody>
      </p:sp>
      <p:sp>
        <p:nvSpPr>
          <p:cNvPr id="4" name="Text 1"/>
          <p:cNvSpPr txBox="1"/>
          <p:nvPr/>
        </p:nvSpPr>
        <p:spPr>
          <a:xfrm>
            <a:off x="548640" y="2286000"/>
            <a:ext cx="5760720" cy="457200"/>
          </a:xfrm>
          <a:prstGeom prst="rect">
            <a:avLst/>
          </a:prstGeom>
          <a:noFill/>
          <a:ln/>
        </p:spPr>
        <p:txBody>
          <a:bodyPr wrap="square" lIns="0" tIns="0" rIns="0" bIns="0" rtlCol="0" anchor="ctr"/>
          <a:lstStyle/>
          <a:p>
            <a:pPr marL="0" indent="0">
              <a:buNone/>
            </a:pPr>
            <a:r>
              <a:rPr lang="en-US" sz="2200" dirty="0">
                <a:solidFill>
                  <a:schemeClr val="bg2"/>
                </a:solidFill>
              </a:rPr>
              <a:t>Questions?</a:t>
            </a:r>
            <a:endParaRPr lang="en-US" sz="2200" dirty="0"/>
          </a:p>
        </p:txBody>
      </p:sp>
      <p:sp>
        <p:nvSpPr>
          <p:cNvPr id="5" name="Text 2"/>
          <p:cNvSpPr txBox="1"/>
          <p:nvPr/>
        </p:nvSpPr>
        <p:spPr>
          <a:xfrm>
            <a:off x="548640" y="2880360"/>
            <a:ext cx="5760720" cy="365760"/>
          </a:xfrm>
          <a:prstGeom prst="rect">
            <a:avLst/>
          </a:prstGeom>
          <a:noFill/>
          <a:ln/>
        </p:spPr>
        <p:txBody>
          <a:bodyPr wrap="square" lIns="0" tIns="0" rIns="0" bIns="0" rtlCol="0" anchor="ctr"/>
          <a:lstStyle/>
          <a:p>
            <a:pPr marL="0" indent="0">
              <a:buNone/>
            </a:pPr>
            <a:r>
              <a:rPr lang="en-US" sz="1600" i="1" dirty="0">
                <a:solidFill>
                  <a:srgbClr val="FF9D1C"/>
                </a:solidFill>
              </a:rPr>
              <a:t>Adventure Escape SA: Explore. Discover. Thrive.</a:t>
            </a:r>
            <a:endParaRPr lang="en-US" sz="1600" dirty="0"/>
          </a:p>
        </p:txBody>
      </p:sp>
    </p:spTree>
  </p:cSld>
  <p:clrMapOvr>
    <a:masterClrMapping/>
  </p:clrMapOvr>
</p:sld>
</file>

<file path=ppt/theme/theme1.xml><?xml version="1.0" encoding="utf-8"?>
<a:theme xmlns:a="http://schemas.openxmlformats.org/drawingml/2006/main" name="Adventure Escape">
  <a:themeElements>
    <a:clrScheme name="Adventure Escape">
      <a:dk1>
        <a:srgbClr val="1F2A24"/>
      </a:dk1>
      <a:lt1>
        <a:srgbClr val="FFFFFF"/>
      </a:lt1>
      <a:dk2>
        <a:srgbClr val="2D5A3D"/>
      </a:dk2>
      <a:lt2>
        <a:srgbClr val="F3EADB"/>
      </a:lt2>
      <a:accent1>
        <a:srgbClr val="2D5A3D"/>
      </a:accent1>
      <a:accent2>
        <a:srgbClr val="C0592B"/>
      </a:accent2>
      <a:accent3>
        <a:srgbClr val="7FA38B"/>
      </a:accent3>
      <a:accent4>
        <a:srgbClr val="E4D1B9"/>
      </a:accent4>
      <a:accent5>
        <a:srgbClr val="1C2A3E"/>
      </a:accent5>
      <a:accent6>
        <a:srgbClr val="FF9D1C"/>
      </a:accent6>
      <a:hlink>
        <a:srgbClr val="C0592B"/>
      </a:hlink>
      <a:folHlink>
        <a:srgbClr val="2D5A3D"/>
      </a:folHlink>
    </a:clrScheme>
    <a:fontScheme name="Adventure Escap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4823</Words>
  <Application>Microsoft Office PowerPoint</Application>
  <PresentationFormat>On-screen Show (16:9)</PresentationFormat>
  <Paragraphs>437</Paragraphs>
  <Slides>29</Slides>
  <Notes>29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29</vt:i4>
      </vt:variant>
    </vt:vector>
  </HeadingPairs>
  <TitlesOfParts>
    <vt:vector size="33" baseType="lpstr">
      <vt:lpstr>Arial</vt:lpstr>
      <vt:lpstr>Calibri</vt:lpstr>
      <vt:lpstr>Georgia</vt:lpstr>
      <vt:lpstr>Adventure Escape</vt:lpstr>
      <vt:lpstr>Adventure Escape SA</vt:lpstr>
      <vt:lpstr>The scenario we chose</vt:lpstr>
      <vt:lpstr>Design choices and why</vt:lpstr>
      <vt:lpstr>Our logo</vt:lpstr>
      <vt:lpstr>Tools we used</vt:lpstr>
      <vt:lpstr>Website wireframes</vt:lpstr>
      <vt:lpstr>Website: Home page</vt:lpstr>
      <vt:lpstr>Website: About Us page</vt:lpstr>
      <vt:lpstr>Website: Overview page</vt:lpstr>
      <vt:lpstr>Website: Package details page</vt:lpstr>
      <vt:lpstr>Website: Fees page</vt:lpstr>
      <vt:lpstr>Website: Contact page</vt:lpstr>
      <vt:lpstr>Mobile: 01 Splash</vt:lpstr>
      <vt:lpstr>Mobile: 02 Home</vt:lpstr>
      <vt:lpstr>Mobile: 03 Login</vt:lpstr>
      <vt:lpstr>Mobile: 04 About Us</vt:lpstr>
      <vt:lpstr>Mobile: 05 Payment</vt:lpstr>
      <vt:lpstr>Mobile: 06 Reviews</vt:lpstr>
      <vt:lpstr>Mobile: 07 Overview</vt:lpstr>
      <vt:lpstr>Mobile: 08 Account</vt:lpstr>
      <vt:lpstr>Mobile: 09 Quote</vt:lpstr>
      <vt:lpstr>Mobile: 10 Map and Directions</vt:lpstr>
      <vt:lpstr>Mobile: 11 Fees</vt:lpstr>
      <vt:lpstr>Mobile: 12 Contact Us</vt:lpstr>
      <vt:lpstr>Mobile: 13 Adventures</vt:lpstr>
      <vt:lpstr>Website demonstration</vt:lpstr>
      <vt:lpstr>Mobile app demonstration</vt:lpstr>
      <vt:lpstr>Our team</vt:lpstr>
      <vt:lpstr>Thank you</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Adventure Escape SA - Website and Mobile App Design</dc:title>
  <dc:subject>PptxGenJS Presentation</dc:subject>
  <dc:creator>PptxGenJS</dc:creator>
  <cp:lastModifiedBy>olivia daisy</cp:lastModifiedBy>
  <cp:revision>2</cp:revision>
  <dcterms:created xsi:type="dcterms:W3CDTF">2026-10-25T13:26:33Z</dcterms:created>
  <dcterms:modified xsi:type="dcterms:W3CDTF">2026-10-26T09:35:18Z</dcterms:modified>
</cp:coreProperties>
</file>